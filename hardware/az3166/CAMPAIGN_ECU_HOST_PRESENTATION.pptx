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7726679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01C7F"/>
                </a:solidFill>
                <a:latin typeface="Arial"/>
              </a:rPr>
              <a:t>Target ECU to Host / Linux: communication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7438"/>
            <a:ext cx="763524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222222"/>
                </a:solidFill>
                <a:latin typeface="Arial"/>
              </a:rPr>
              <a:t>One implemented path: </a:t>
            </a:r>
            <a:r>
              <a:rPr lang="en-IN" sz="1050" dirty="0" err="1">
                <a:solidFill>
                  <a:srgbClr val="222222"/>
                </a:solidFill>
                <a:latin typeface="Arial"/>
              </a:rPr>
              <a:t>ThreadX</a:t>
            </a:r>
            <a:r>
              <a:rPr sz="1050" b="0" dirty="0">
                <a:solidFill>
                  <a:srgbClr val="222222"/>
                </a:solidFill>
                <a:latin typeface="Arial"/>
              </a:rPr>
              <a:t> sensor ECU over Wi-Fi UDP to the OTA Outlaws campaign runner.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7888" y="438912"/>
            <a:ext cx="3200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Arial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53312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6F2F8"/>
          </a:solidFill>
          <a:ln w="13970">
            <a:solidFill>
              <a:srgbClr val="701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2010"/>
            <a:ext cx="2267712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400" b="1" dirty="0" err="1">
                <a:solidFill>
                  <a:srgbClr val="701C7F"/>
                </a:solidFill>
                <a:latin typeface="Arial"/>
              </a:rPr>
              <a:t>MXChip</a:t>
            </a:r>
            <a:r>
              <a:rPr lang="en-IN" sz="1400" b="1" dirty="0">
                <a:solidFill>
                  <a:srgbClr val="701C7F"/>
                </a:solidFill>
                <a:latin typeface="Arial"/>
              </a:rPr>
              <a:t> </a:t>
            </a:r>
            <a:r>
              <a:rPr lang="en-IN" sz="1400" b="1" dirty="0" err="1">
                <a:solidFill>
                  <a:srgbClr val="701C7F"/>
                </a:solidFill>
                <a:latin typeface="Arial"/>
              </a:rPr>
              <a:t>ThreadX</a:t>
            </a:r>
            <a:r>
              <a:rPr sz="1400" b="1" dirty="0">
                <a:solidFill>
                  <a:srgbClr val="701C7F"/>
                </a:solidFill>
                <a:latin typeface="Arial"/>
              </a:rPr>
              <a:t> Target ECU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56231"/>
            <a:ext cx="2267712" cy="932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dirty="0" err="1">
                <a:solidFill>
                  <a:srgbClr val="222222"/>
                </a:solidFill>
                <a:latin typeface="Arial"/>
              </a:rPr>
              <a:t>ThreadX</a:t>
            </a:r>
            <a:r>
              <a:rPr sz="1040" b="0" dirty="0">
                <a:solidFill>
                  <a:srgbClr val="222222"/>
                </a:solidFill>
                <a:latin typeface="Arial"/>
              </a:rPr>
              <a:t> + </a:t>
            </a:r>
            <a:r>
              <a:rPr sz="1040" b="0" dirty="0" err="1">
                <a:solidFill>
                  <a:srgbClr val="222222"/>
                </a:solidFill>
                <a:latin typeface="Arial"/>
              </a:rPr>
              <a:t>NetX</a:t>
            </a:r>
            <a:r>
              <a:rPr sz="1040" b="0" dirty="0">
                <a:solidFill>
                  <a:srgbClr val="222222"/>
                </a:solidFill>
                <a:latin typeface="Arial"/>
              </a:rPr>
              <a:t> Duo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dirty="0">
                <a:solidFill>
                  <a:srgbClr val="222222"/>
                </a:solidFill>
                <a:latin typeface="Arial"/>
              </a:rPr>
              <a:t>Sensor sample ~100 </a:t>
            </a:r>
            <a:r>
              <a:rPr sz="1040" b="0" dirty="0" err="1">
                <a:solidFill>
                  <a:srgbClr val="222222"/>
                </a:solidFill>
                <a:latin typeface="Arial"/>
              </a:rPr>
              <a:t>ms</a:t>
            </a:r>
            <a:endParaRPr sz="1040" b="0" dirty="0">
              <a:solidFill>
                <a:srgbClr val="222222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dirty="0">
                <a:solidFill>
                  <a:srgbClr val="222222"/>
                </a:solidFill>
                <a:latin typeface="Arial"/>
              </a:rPr>
              <a:t>Button A sends campaign request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dirty="0">
                <a:solidFill>
                  <a:srgbClr val="222222"/>
                </a:solidFill>
                <a:latin typeface="Arial"/>
              </a:rPr>
              <a:t>OLED displays scenario + verdict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0360"/>
            <a:ext cx="2240280" cy="301752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016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898648"/>
            <a:ext cx="213055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E8489"/>
                </a:solidFill>
                <a:latin typeface="Arial"/>
              </a:rPr>
              <a:t>Host destination: 192.168.104.185:30502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178308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397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938528"/>
            <a:ext cx="78638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8489"/>
                </a:solidFill>
                <a:latin typeface="Arial"/>
              </a:rPr>
              <a:t>Wi-Fi 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304288"/>
            <a:ext cx="74980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DHCP + IP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routing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353312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6F2F8"/>
          </a:solidFill>
          <a:ln w="1397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490472"/>
            <a:ext cx="294436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8489"/>
                </a:solidFill>
                <a:latin typeface="Arial"/>
              </a:rPr>
              <a:t>Host PC: Windows + WSL2 Linux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901952"/>
            <a:ext cx="2852928" cy="10607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Arial"/>
              </a:rPr>
              <a:t>Windows PowerShell relay: Wi-Fi UDP :30502 &lt;-&gt; WSL2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Arial"/>
              </a:rPr>
              <a:t>WSL2 Python bridge: listens :30502; runs Rust campaign CLI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Arial"/>
              </a:rPr>
              <a:t>OTA Outlaws: campaign run --all; Docker Compose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971800"/>
            <a:ext cx="2852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E8489"/>
                </a:solidFill>
                <a:latin typeface="Arial"/>
              </a:rPr>
              <a:t>Windows Wi-Fi example: 192.168.104.185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74136" y="2002536"/>
            <a:ext cx="356616" cy="256032"/>
          </a:xfrm>
          <a:prstGeom prst="rightArrow">
            <a:avLst/>
          </a:prstGeom>
          <a:solidFill>
            <a:srgbClr val="2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4681728" y="2002536"/>
            <a:ext cx="365760" cy="256032"/>
          </a:xfrm>
          <a:prstGeom prst="rightArrow">
            <a:avLst/>
          </a:prstGeom>
          <a:solidFill>
            <a:srgbClr val="2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4690872"/>
            <a:ext cx="8686800" cy="10972"/>
          </a:xfrm>
          <a:prstGeom prst="rect">
            <a:avLst/>
          </a:prstGeom>
          <a:solidFill>
            <a:srgbClr val="D5CED9"/>
          </a:solidFill>
          <a:ln>
            <a:solidFill>
              <a:srgbClr val="D5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54880"/>
            <a:ext cx="685800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69264" y="4736592"/>
            <a:ext cx="781812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dirty="0">
                <a:solidFill>
                  <a:srgbClr val="595959"/>
                </a:solidFill>
                <a:latin typeface="Arial"/>
              </a:rPr>
              <a:t>Template: Eclipse SDV Hackathon 2026 Pitching Session (CC BY-SA 4.0)  |  Project: AZ3166 / OTA Outlaws</a:t>
            </a:r>
          </a:p>
        </p:txBody>
      </p:sp>
      <p:sp>
        <p:nvSpPr>
          <p:cNvPr id="20" name="Right Arrow 16">
            <a:extLst>
              <a:ext uri="{FF2B5EF4-FFF2-40B4-BE49-F238E27FC236}">
                <a16:creationId xmlns:a16="http://schemas.microsoft.com/office/drawing/2014/main" id="{13E09E6B-BEE1-ECFC-5840-1D67DA5FDBD3}"/>
              </a:ext>
            </a:extLst>
          </p:cNvPr>
          <p:cNvSpPr/>
          <p:nvPr/>
        </p:nvSpPr>
        <p:spPr>
          <a:xfrm rot="10800000">
            <a:off x="3419856" y="2958084"/>
            <a:ext cx="1682496" cy="256032"/>
          </a:xfrm>
          <a:prstGeom prst="rightArrow">
            <a:avLst/>
          </a:prstGeom>
          <a:solidFill>
            <a:srgbClr val="2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D14B82-C3DE-964F-8C98-C871B4B7CF55}"/>
              </a:ext>
            </a:extLst>
          </p:cNvPr>
          <p:cNvSpPr txBox="1"/>
          <p:nvPr/>
        </p:nvSpPr>
        <p:spPr>
          <a:xfrm>
            <a:off x="3182112" y="3442716"/>
            <a:ext cx="215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RETURN UDP: campaign results</a:t>
            </a:r>
          </a:p>
          <a:p>
            <a:endParaRPr lang="LID4096" sz="1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7726679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01C7F"/>
                </a:solidFill>
                <a:latin typeface="Arial"/>
              </a:rPr>
              <a:t>Button A -&gt; live campaign verdicts on the OLED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76352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The host streams results per scenario; the board returns to sensor pages when the run completes.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7888" y="438912"/>
            <a:ext cx="3200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Arial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53312"/>
            <a:ext cx="4315968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5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9536" y="145389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762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63040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489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26464"/>
            <a:ext cx="1124712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1C7F"/>
                </a:solidFill>
                <a:latin typeface="Arial"/>
              </a:rPr>
              <a:t>Button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1399032"/>
            <a:ext cx="2395728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ThreadX sends a campaign request + ID to host UDP :30502.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02536"/>
            <a:ext cx="4315968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5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9536" y="210312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762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112264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489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075688"/>
            <a:ext cx="1124712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1C7F"/>
                </a:solidFill>
                <a:latin typeface="Arial"/>
              </a:rPr>
              <a:t>Campaign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048255"/>
            <a:ext cx="2395728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WSL2 bridge starts campaign run --all on OTA Outlaws.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51760"/>
            <a:ext cx="4315968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5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9536" y="275234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762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761488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48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2724912"/>
            <a:ext cx="1124712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1C7F"/>
                </a:solidFill>
                <a:latin typeface="Arial"/>
              </a:rPr>
              <a:t>Verdicts 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" y="2697479"/>
            <a:ext cx="2395728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Each CLI scenario verdict is sent as campaign_result UDP.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00984"/>
            <a:ext cx="4315968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5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6" y="34015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762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410712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8489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3374136"/>
            <a:ext cx="1124712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1C7F"/>
                </a:solidFill>
                <a:latin typeface="Arial"/>
              </a:rPr>
              <a:t>OLED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346703"/>
            <a:ext cx="2395728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222222"/>
                </a:solidFill>
                <a:latin typeface="Arial"/>
              </a:rPr>
              <a:t>Board matches the request ID, shows scenario + PASS/FAIL, then resumes sensors.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57215" y="1299865"/>
            <a:ext cx="3282696" cy="25480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E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85232" y="1479621"/>
            <a:ext cx="3154680" cy="1954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030" b="1" dirty="0" err="1">
                <a:solidFill>
                  <a:srgbClr val="701C7F"/>
                </a:solidFill>
                <a:latin typeface="Arial"/>
              </a:rPr>
              <a:t>MXChip</a:t>
            </a:r>
            <a:r>
              <a:rPr sz="1030" b="1" dirty="0">
                <a:solidFill>
                  <a:srgbClr val="701C7F"/>
                </a:solidFill>
                <a:latin typeface="Arial"/>
              </a:rPr>
              <a:t> OLED: campaign </a:t>
            </a:r>
            <a:r>
              <a:rPr lang="en-IN" sz="1030" b="1" dirty="0">
                <a:solidFill>
                  <a:srgbClr val="701C7F"/>
                </a:solidFill>
                <a:latin typeface="Arial"/>
              </a:rPr>
              <a:t>test result on displayed</a:t>
            </a:r>
            <a:r>
              <a:rPr sz="1030" b="1" dirty="0">
                <a:solidFill>
                  <a:srgbClr val="701C7F"/>
                </a:solidFill>
                <a:latin typeface="Arial"/>
              </a:rPr>
              <a:t>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690872"/>
            <a:ext cx="8686800" cy="10972"/>
          </a:xfrm>
          <a:prstGeom prst="rect">
            <a:avLst/>
          </a:prstGeom>
          <a:solidFill>
            <a:srgbClr val="D5CED9"/>
          </a:solidFill>
          <a:ln>
            <a:solidFill>
              <a:srgbClr val="D5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54880"/>
            <a:ext cx="685800" cy="25603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F7E8E40-1365-614E-162C-DF835BDDAC85}"/>
              </a:ext>
            </a:extLst>
          </p:cNvPr>
          <p:cNvSpPr txBox="1"/>
          <p:nvPr/>
        </p:nvSpPr>
        <p:spPr>
          <a:xfrm>
            <a:off x="969264" y="4736592"/>
            <a:ext cx="781812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 dirty="0">
                <a:solidFill>
                  <a:srgbClr val="595959"/>
                </a:solidFill>
                <a:latin typeface="Arial"/>
              </a:rPr>
              <a:t>Template: Eclipse SDV Hackathon 2026 Pitching Session (CC BY-SA 4.0)  |  Project: AZ3166 / OTA Outlaws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34280CA-EECA-2C3C-10B6-006997FC1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31" y="1745387"/>
            <a:ext cx="2764064" cy="18676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On-screen Show (16:9)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Uttarkar Sopan HNV TDTSM</cp:lastModifiedBy>
  <cp:revision>7</cp:revision>
  <dcterms:created xsi:type="dcterms:W3CDTF">2013-01-27T09:14:16Z</dcterms:created>
  <dcterms:modified xsi:type="dcterms:W3CDTF">2026-10-08T07:59:51Z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SetDate">
    <vt:lpwstr>2026-10-07T19:43:48Z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Name">
    <vt:lpwstr>Internal sub2 (no marking)</vt:lpwstr>
  </property>
  <property fmtid="{D5CDD505-2E9C-101B-9397-08002B2CF9AE}" pid="6" name="MSIP_Label_7294a1c8-9899-41e7-8f6e-8b1b3c79592a_SiteId">
    <vt:lpwstr>eb70b763-b6d7-4486-8555-8831709a784e</vt:lpwstr>
  </property>
  <property fmtid="{D5CDD505-2E9C-101B-9397-08002B2CF9AE}" pid="7" name="MSIP_Label_7294a1c8-9899-41e7-8f6e-8b1b3c79592a_ActionId">
    <vt:lpwstr>12b39e93-bcfa-4acf-9991-7cc183a2a8aa</vt:lpwstr>
  </property>
  <property fmtid="{D5CDD505-2E9C-101B-9397-08002B2CF9AE}" pid="8" name="MSIP_Label_7294a1c8-9899-41e7-8f6e-8b1b3c79592a_ContentBits">
    <vt:lpwstr>0</vt:lpwstr>
  </property>
  <property fmtid="{D5CDD505-2E9C-101B-9397-08002B2CF9AE}" pid="9" name="MSIP_Label_7294a1c8-9899-41e7-8f6e-8b1b3c79592a_Tag">
    <vt:lpwstr>10, 0, 1, 1</vt:lpwstr>
  </property>
</Properties>
</file>