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60" r:id="rId11"/>
    <p:sldId id="261" r:id="rId12"/>
    <p:sldId id="259" r:id="rId10"/>
    <p:sldId id="262" r:id="rId13"/>
    <p:sldId id="263" r:id="rId14"/>
    <p:sldId id="264" r:id="rId15"/>
    <p:sldId id="265" r:id="rId16"/>
    <p:sldId id="266" r:id="rId17"/>
    <p:sldId id="268" r:id="rId31"/>
    <p:sldId id="269" r:id="rId32"/>
    <p:sldId id="270" r:id="rId33"/>
    <p:sldId id="271" r:id="rId34"/>
    <p:sldId id="267" r:id="rId18"/>
  </p:sldIdLst>
  <p:sldSz cy="5143500" cx="9144000"/>
  <p:notesSz cx="6858000" cy="9144000"/>
  <p:embeddedFontLst>
    <p:embeddedFont>
      <p:font typeface="Roboto"/>
      <p:regular r:id="rId19"/>
      <p:bold r:id="rId20"/>
      <p:italic r:id="rId21"/>
      <p:boldItalic r:id="rId22"/>
    </p:embeddedFont>
    <p:embeddedFont>
      <p:font typeface="Inter"/>
      <p:regular r:id="rId23"/>
      <p:bold r:id="rId24"/>
      <p:italic r:id="rId25"/>
      <p:boldItalic r:id="rId26"/>
    </p:embeddedFont>
    <p:embeddedFont>
      <p:font typeface="Inter ExtraBold"/>
      <p:bold r:id="rId27"/>
      <p:boldItalic r:id="rId28"/>
    </p:embeddedFont>
    <p:embeddedFont>
      <p:font typeface="Sora"/>
      <p:regular r:id="rId29"/>
      <p:bold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E075AC8-06DD-4E05-85B8-DC95C6266F99}">
  <a:tblStyle styleId="{DE075AC8-06DD-4E05-85B8-DC95C6266F9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6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6.xml"/><Relationship Id="rId19" Type="http://schemas.openxmlformats.org/officeDocument/2006/relationships/font" Target="fonts/Roboto-regular.fntdata"/><Relationship Id="rId20" Type="http://schemas.openxmlformats.org/officeDocument/2006/relationships/font" Target="fonts/Roboto-bold.fntdata"/><Relationship Id="rId21" Type="http://schemas.openxmlformats.org/officeDocument/2006/relationships/font" Target="fonts/Roboto-italic.fntdata"/><Relationship Id="rId22" Type="http://schemas.openxmlformats.org/officeDocument/2006/relationships/font" Target="fonts/Roboto-boldItalic.fntdata"/><Relationship Id="rId23" Type="http://schemas.openxmlformats.org/officeDocument/2006/relationships/font" Target="fonts/Inter-regular.fntdata"/><Relationship Id="rId24" Type="http://schemas.openxmlformats.org/officeDocument/2006/relationships/font" Target="fonts/Inter-bold.fntdata"/><Relationship Id="rId25" Type="http://schemas.openxmlformats.org/officeDocument/2006/relationships/font" Target="fonts/Inter-italic.fntdata"/><Relationship Id="rId26" Type="http://schemas.openxmlformats.org/officeDocument/2006/relationships/font" Target="fonts/Inter-boldItalic.fntdata"/><Relationship Id="rId27" Type="http://schemas.openxmlformats.org/officeDocument/2006/relationships/font" Target="fonts/InterExtraBold-bold.fntdata"/><Relationship Id="rId28" Type="http://schemas.openxmlformats.org/officeDocument/2006/relationships/font" Target="fonts/InterExtraBold-boldItalic.fntdata"/><Relationship Id="rId29" Type="http://schemas.openxmlformats.org/officeDocument/2006/relationships/font" Target="fonts/Sora-regular.fntdata"/><Relationship Id="rId30" Type="http://schemas.openxmlformats.org/officeDocument/2006/relationships/font" Target="fonts/Sora-bold.fntdata"/><Relationship Id="rId31" Type="http://schemas.openxmlformats.org/officeDocument/2006/relationships/slide" Target="slides/slide12.xml"/><Relationship Id="rId32" Type="http://schemas.openxmlformats.org/officeDocument/2006/relationships/slide" Target="slides/slide13.xml"/><Relationship Id="rId33" Type="http://schemas.openxmlformats.org/officeDocument/2006/relationships/slide" Target="slides/slide14.xml"/><Relationship Id="rId34" Type="http://schemas.openxmlformats.org/officeDocument/2006/relationships/slide" Target="slides/slide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Verdicts</c:v>
                </c:pt>
              </c:strCache>
            </c:strRef>
          </c:tx>
          <c:dPt>
            <c:idx val="0"/>
            <c:spPr>
              <a:solidFill>
                <a:srgbClr val="701C7F"/>
              </a:solidFill>
              <a:ln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DB521D"/>
              </a:solidFill>
              <a:ln>
                <a:solidFill>
                  <a:srgbClr val="FFFFFF"/>
                </a:solidFill>
              </a:ln>
            </c:spPr>
          </c:dPt>
          <c:cat>
            <c:strRef>
              <c:f>Sheet1!$A$2:$A$3</c:f>
              <c:strCache>
                <c:ptCount val="2"/>
                <c:pt idx="0">
                  <c:v>PASS</c:v>
                </c:pt>
                <c:pt idx="1">
                  <c:v>FAIL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14</c:v>
                </c:pt>
                <c:pt idx="1">
                  <c:v>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8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000" b="1">
                <a:solidFill>
                  <a:srgbClr val="262626"/>
                </a:solidFill>
                <a:latin typeface="Inter"/>
              </a:rPr>
              <a:t>Annual cost in k€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Manual today</c:v>
                </c:pt>
              </c:strCache>
            </c:strRef>
          </c:tx>
          <c:spPr>
            <a:solidFill>
              <a:srgbClr val="9A9AA5"/>
            </a:solidFill>
          </c:spPr>
          <c:cat>
            <c:strRef>
              <c:f>Sheet1!$A$2:$A$3</c:f>
              <c:strCache>
                <c:ptCount val="2"/>
                <c:pt idx="0">
                  <c:v>Year 1</c:v>
                </c:pt>
                <c:pt idx="1">
                  <c:v>Year 2+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124.8</c:v>
                </c:pt>
                <c:pt idx="1">
                  <c:v>124.8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With Evidence Factory</c:v>
                </c:pt>
              </c:strCache>
            </c:strRef>
          </c:tx>
          <c:spPr>
            <a:solidFill>
              <a:srgbClr val="701C7F"/>
            </a:solidFill>
          </c:spPr>
          <c:cat>
            <c:strRef>
              <c:f>Sheet1!$A$2:$A$3</c:f>
              <c:strCache>
                <c:ptCount val="2"/>
                <c:pt idx="0">
                  <c:v>Year 1</c:v>
                </c:pt>
                <c:pt idx="1">
                  <c:v>Year 2+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82.0</c:v>
                </c:pt>
                <c:pt idx="1">
                  <c:v>42.0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900">
                  <a:solidFill>
                    <a:srgbClr val="262626"/>
                  </a:solidFill>
                  <a:latin typeface="Inter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CCCCC"/>
            </a:solidFill>
          </a:ln>
        </c:spPr>
        <c:txPr>
          <a:bodyPr/>
          <a:lstStyle/>
          <a:p>
            <a:pPr>
              <a:defRPr sz="950">
                <a:solidFill>
                  <a:srgbClr val="5F5F6B"/>
                </a:solidFill>
                <a:latin typeface="Inter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5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>
              <a:solidFill>
                <a:srgbClr val="5F5F6B"/>
              </a:solidFill>
              <a:latin typeface="Inter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h6b2788cdbe65c0ea_1_0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Hi, we are the OTA Outlaws. In the Doctor Whodunit challenge we built a Safety Evidence Factory: it injects faults into a safety function and proves - automatically and traceably - that the fault was caught.</a:t>
            </a:r>
          </a:p>
        </p:txBody>
      </p:sp>
      <p:sp>
        <p:nvSpPr>
          <p:cNvPr id="56" name="Google Shape;56;h6b2788cdbe65c0ea_1_0:notes"/>
          <p:cNvSpPr/>
          <p:nvPr>
            <p:ph idx="2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h6b2788cdbe65c0ea_1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h6b2788cdbe65c0ea_1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If a cell-temperature signal freezes, the safety monitor sees a stable value and stays silent - exactly when it should warn. Regulation is tightening: UN R100 requires an early occupant warning, UN R156 requires a controlled process for every software update, and China's GB 38031-2025 demands no fire and no explosion from July 2026. Today, proving that monitors still work is manual lab work, repeated per release.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h6b2788cdbe65c0ea_1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h6b2788cdbe65c0ea_1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Our answer is a Safety Evidence Factory. It starts from the HARA: six hazardous events, four safety goals. For each requirement we inject faults, observe detection and mitigation, read the diagnostics from OpenSOVD and produce a verdict. Three properties matter: traceable, portable, repeatable.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h6b2788cdbe65c0ea_1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h6b2788cdbe65c0ea_1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Live demo (about 90 seconds): 1) baseline from the AZ3166 board through KUKSA and uProtocol; 2) we freeze the temperature; 3) the Guardian detects the stuck signal, goes degraded and requests the warning; 4) the DTC shows up in OpenSOVD; 5) the evidence report links it all back to the hazard. Fallback if live fails: show the campaign report PDF.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h267c6918933f4a47_1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h267c6918933f4a47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Product one runs in the cloud or CI. The customer brings the communication chain and the component under test; we bring the campaign runner and the OpenSOVD-based evidence collection.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h267c6918933f4a47_1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h267c6918933f4a47_1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Product two runs the same campaign runner on the vehicle HPC, injecting faults at the MCU boundary. Same campaigns, same verdict format - now on real hardware.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h6b2788cdbe65c0ea_1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h6b2788cdbe65c0ea_1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This is not a slideware concept. In three days we ran a 19-scenario campaign end to end. 14 scenarios pass. The five failures are genuine findings in our own Guardian - for example a late reaction to heating and to out-of-range values. That is exactly what the factory is for: it found problems we would otherwise have shipped, and it reports them instead of hiding them.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h6b2788cdbe65c0ea_1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h6b2788cdbe65c0ea_1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Compared with today's practice: fault injection moves from scarce HIL benches into pipelines; traceability is generated, not hand-maintained; results are reproducible; and the core is open source on the Eclipse SDV stack, so there is no lock-in.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h267c6918933f4a47_1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h267c6918933f4a47_1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Automotive software testing alone is a nine-billion-dollar market. More than 20 million EVs were sold last year, and every one needs battery safety evidence. UN R156 makes a controlled update process mandatory, so evidence is needed for every release. We start where the pain is sharpest - battery thermal safety - and expand to other SDV safety monitors.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h6b2788cdbe65c0ea_1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h6b2788cdbe65c0ea_1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HIL vendors are strong at fault injection but lab-bound and proprietary. Safety and ALM tools hold the traceability but no live test evidence. We close the gap between them - and we integrate with both rather than replacing them.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h6b2788cdbe65c0ea_1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h6b2788cdbe65c0ea_1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Four concrete customers: OEMs need a release gate for OTA updates; Tier-1 BMS suppliers must deliver ISO 26262 evidence with each software drop; fleet operators want periodic health checks in the field; and assessors want evidence they can reproduce themselves.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h6b2788cdbe65c0ea_1_65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Thank you - happy to take questions.</a:t>
            </a:r>
          </a:p>
        </p:txBody>
      </p:sp>
      <p:sp>
        <p:nvSpPr>
          <p:cNvPr id="156" name="Google Shape;156;h6b2788cdbe65c0ea_1_65:notes"/>
          <p:cNvSpPr/>
          <p:nvPr>
            <p:ph idx="2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Open core: the core stays open source to drive adoption in the Eclipse SDV ecosystem. We earn money with the managed cloud factory, the in-vehicle agent licence, and safety engineering services that onboard each new safety function.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conservative example for one safety function: 12 OTA releases a year, each needing about 8 engineer days plus 3 HIL days of manual regression - roughly 125k euros per year. With the factory: one review day per release plus the cloud subscription - 42k euros from year two, 82k in year one including onboarding. That is two thirds less cost, a payback of about six months, and full evidence on every release. A real platform has dozens of such monitors.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Next steps: harden the prototype - remote reruns, Ankaios orchestration, durable diagnostics. Then two paid pilots with an OEM and a Tier-1, and finally tool qualification and SaaS launch. We ask for 1.2 million euros seed for 18 months, 60 percent of it for the engineering team.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Six people, one evidence chain - from the sensor ECU to the safety case. Everything is open source on GitHub. We are looking for pilot partners, assessors and contributors.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3">
  <p:cSld name="TITLE_AND_BODY_4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9.png"/><Relationship Id="rId7" Type="http://schemas.openxmlformats.org/officeDocument/2006/relationships/image" Target="../media/image1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7.png"/><Relationship Id="rId3" Type="http://schemas.openxmlformats.org/officeDocument/2006/relationships/image" Target="../media/image3.png"/><Relationship Id="rId4" Type="http://schemas.openxmlformats.org/officeDocument/2006/relationships/image" Target="../media/image18.png"/><Relationship Id="rId5" Type="http://schemas.openxmlformats.org/officeDocument/2006/relationships/image" Target="../media/image15.png"/><Relationship Id="rId6" Type="http://schemas.openxmlformats.org/officeDocument/2006/relationships/image" Target="../media/image19.png"/><Relationship Id="rId7" Type="http://schemas.openxmlformats.org/officeDocument/2006/relationships/notesSlide" Target="../notesSlides/notesSlide1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chart" Target="../charts/chart2.xml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1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0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1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531B4C"/>
            </a:gs>
            <a:gs pos="100000">
              <a:srgbClr val="AB0761"/>
            </a:gs>
          </a:gsLst>
          <a:lin ang="2700006" scaled="0"/>
        </a:gra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oogle Shape;58;p14"/>
          <p:cNvGrpSpPr/>
          <p:nvPr/>
        </p:nvGrpSpPr>
        <p:grpSpPr>
          <a:xfrm>
            <a:off x="597450" y="4235100"/>
            <a:ext cx="2423155" cy="456311"/>
            <a:chOff x="0" y="-9525"/>
            <a:chExt cx="1344032" cy="415925"/>
          </a:xfrm>
        </p:grpSpPr>
        <p:sp>
          <p:nvSpPr>
            <p:cNvPr id="59" name="Google Shape;59;p14"/>
            <p:cNvSpPr/>
            <p:nvPr/>
          </p:nvSpPr>
          <p:spPr>
            <a:xfrm>
              <a:off x="0" y="0"/>
              <a:ext cx="1344032" cy="406400"/>
            </a:xfrm>
            <a:custGeom>
              <a:rect b="b" l="l" r="r" t="t"/>
              <a:pathLst>
                <a:path extrusionOk="0" h="406400" w="1344032">
                  <a:moveTo>
                    <a:pt x="1140832" y="0"/>
                  </a:moveTo>
                  <a:cubicBezTo>
                    <a:pt x="1253056" y="0"/>
                    <a:pt x="1344032" y="90976"/>
                    <a:pt x="1344032" y="203200"/>
                  </a:cubicBezTo>
                  <a:cubicBezTo>
                    <a:pt x="1344032" y="315424"/>
                    <a:pt x="1253056" y="406400"/>
                    <a:pt x="114083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noFill/>
            <a:ln cap="sq" cmpd="sng" w="1385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66450" lIns="66450" spcFirstLastPara="1" rIns="66450" wrap="square" tIns="66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14"/>
            <p:cNvSpPr txBox="1"/>
            <p:nvPr/>
          </p:nvSpPr>
          <p:spPr>
            <a:xfrm>
              <a:off x="0" y="-9525"/>
              <a:ext cx="1344000" cy="41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6900" lIns="36900" spcFirstLastPara="1" rIns="36900" wrap="square" tIns="369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0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1" name="Google Shape;61;p14"/>
          <p:cNvSpPr txBox="1"/>
          <p:nvPr/>
        </p:nvSpPr>
        <p:spPr>
          <a:xfrm>
            <a:off x="531150" y="1979650"/>
            <a:ext cx="5610600" cy="4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Eclipse SDV Hackathon</a:t>
            </a:r>
            <a:r>
              <a:rPr lang="en" sz="2800">
                <a:solidFill>
                  <a:srgbClr val="FFFFFF"/>
                </a:solidFill>
              </a:rPr>
              <a:t> </a:t>
            </a:r>
            <a:r>
              <a:rPr b="1" lang="en" sz="2800">
                <a:solidFill>
                  <a:srgbClr val="DB521D"/>
                </a:solidFill>
              </a:rPr>
              <a:t>Chapter 4</a:t>
            </a:r>
            <a:endParaRPr b="1" sz="2800">
              <a:solidFill>
                <a:srgbClr val="DB521D"/>
              </a:solidFill>
            </a:endParaRPr>
          </a:p>
          <a:p>
            <a:pPr indent="0" lvl="0" marL="0" marR="0" rtl="0" algn="l">
              <a:lnSpc>
                <a:spcPct val="9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</p:txBody>
      </p:sp>
      <p:grpSp>
        <p:nvGrpSpPr>
          <p:cNvPr id="62" name="Google Shape;62;p14"/>
          <p:cNvGrpSpPr/>
          <p:nvPr/>
        </p:nvGrpSpPr>
        <p:grpSpPr>
          <a:xfrm>
            <a:off x="560650" y="2571750"/>
            <a:ext cx="4855381" cy="958407"/>
            <a:chOff x="0" y="-9525"/>
            <a:chExt cx="935400" cy="374100"/>
          </a:xfrm>
        </p:grpSpPr>
        <p:sp>
          <p:nvSpPr>
            <p:cNvPr id="63" name="Google Shape;63;p14"/>
            <p:cNvSpPr/>
            <p:nvPr/>
          </p:nvSpPr>
          <p:spPr>
            <a:xfrm>
              <a:off x="0" y="0"/>
              <a:ext cx="935371" cy="364517"/>
            </a:xfrm>
            <a:custGeom>
              <a:rect b="b" l="l" r="r" t="t"/>
              <a:pathLst>
                <a:path extrusionOk="0" h="364517" w="935371">
                  <a:moveTo>
                    <a:pt x="732171" y="0"/>
                  </a:moveTo>
                  <a:cubicBezTo>
                    <a:pt x="844395" y="0"/>
                    <a:pt x="935371" y="81600"/>
                    <a:pt x="935371" y="182258"/>
                  </a:cubicBezTo>
                  <a:cubicBezTo>
                    <a:pt x="935371" y="282917"/>
                    <a:pt x="844395" y="364517"/>
                    <a:pt x="732171" y="364517"/>
                  </a:cubicBezTo>
                  <a:lnTo>
                    <a:pt x="203200" y="364517"/>
                  </a:lnTo>
                  <a:cubicBezTo>
                    <a:pt x="90976" y="364517"/>
                    <a:pt x="0" y="282917"/>
                    <a:pt x="0" y="182258"/>
                  </a:cubicBezTo>
                  <a:cubicBezTo>
                    <a:pt x="0" y="81600"/>
                    <a:pt x="90976" y="0"/>
                    <a:pt x="203200" y="0"/>
                  </a:cubicBezTo>
                  <a:close/>
                </a:path>
              </a:pathLst>
            </a:custGeom>
            <a:noFill/>
            <a:ln cap="sq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14"/>
            <p:cNvSpPr txBox="1"/>
            <p:nvPr/>
          </p:nvSpPr>
          <p:spPr>
            <a:xfrm>
              <a:off x="0" y="-9525"/>
              <a:ext cx="935400" cy="37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5" name="Google Shape;65;p14"/>
          <p:cNvSpPr txBox="1"/>
          <p:nvPr/>
        </p:nvSpPr>
        <p:spPr>
          <a:xfrm>
            <a:off x="928825" y="4362650"/>
            <a:ext cx="17604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October 6-8 </a:t>
            </a:r>
            <a:r>
              <a:rPr b="1" i="0" lang="en" sz="1100" u="none" cap="none" strike="noStrike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 2026</a:t>
            </a:r>
            <a:endParaRPr b="1" sz="700">
              <a:latin typeface="Sora"/>
              <a:ea typeface="Sora"/>
              <a:cs typeface="Sora"/>
              <a:sym typeface="Sora"/>
            </a:endParaRPr>
          </a:p>
        </p:txBody>
      </p:sp>
      <p:cxnSp>
        <p:nvCxnSpPr>
          <p:cNvPr id="66" name="Google Shape;66;p14"/>
          <p:cNvCxnSpPr/>
          <p:nvPr/>
        </p:nvCxnSpPr>
        <p:spPr>
          <a:xfrm>
            <a:off x="656394" y="3946404"/>
            <a:ext cx="21483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7" name="Google Shape;67;p14"/>
          <p:cNvSpPr/>
          <p:nvPr/>
        </p:nvSpPr>
        <p:spPr>
          <a:xfrm>
            <a:off x="2395624" y="512011"/>
            <a:ext cx="1376366" cy="702594"/>
          </a:xfrm>
          <a:custGeom>
            <a:rect b="b" l="l" r="r" t="t"/>
            <a:pathLst>
              <a:path extrusionOk="0" h="2284857" w="4475988">
                <a:moveTo>
                  <a:pt x="0" y="0"/>
                </a:moveTo>
                <a:lnTo>
                  <a:pt x="4475988" y="0"/>
                </a:lnTo>
                <a:lnTo>
                  <a:pt x="4475988" y="2284857"/>
                </a:lnTo>
                <a:lnTo>
                  <a:pt x="0" y="228485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200" l="-6430" r="-6420" t="0"/>
            </a:stretch>
          </a:blipFill>
          <a:ln>
            <a:noFill/>
          </a:ln>
        </p:spPr>
      </p:sp>
      <p:sp>
        <p:nvSpPr>
          <p:cNvPr id="68" name="Google Shape;68;p14"/>
          <p:cNvSpPr/>
          <p:nvPr/>
        </p:nvSpPr>
        <p:spPr>
          <a:xfrm>
            <a:off x="168246" y="329995"/>
            <a:ext cx="2423160" cy="1066609"/>
          </a:xfrm>
          <a:custGeom>
            <a:rect b="b" l="l" r="r" t="t"/>
            <a:pathLst>
              <a:path extrusionOk="0" h="2844292" w="6461760">
                <a:moveTo>
                  <a:pt x="0" y="0"/>
                </a:moveTo>
                <a:lnTo>
                  <a:pt x="6461760" y="0"/>
                </a:lnTo>
                <a:lnTo>
                  <a:pt x="6461760" y="2844292"/>
                </a:lnTo>
                <a:lnTo>
                  <a:pt x="0" y="28442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-60" t="0"/>
            </a:stretch>
          </a:blipFill>
          <a:ln>
            <a:noFill/>
          </a:ln>
        </p:spPr>
      </p:sp>
      <p:pic>
        <p:nvPicPr>
          <p:cNvPr id="69" name="Google Shape;69;p14" title="2026_SDV_hackathon_logo_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32150" y="600425"/>
            <a:ext cx="3375951" cy="34960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4"/>
          <p:cNvSpPr txBox="1"/>
          <p:nvPr/>
        </p:nvSpPr>
        <p:spPr>
          <a:xfrm>
            <a:off x="658368" y="2693325"/>
            <a:ext cx="4663440" cy="7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OTA Outlaws: Safety Evidence Factory</a:t>
            </a:r>
            <a:endParaRPr b="1" sz="1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Doctor Whodunit · Every fault leaves evidence</a:t>
            </a:r>
            <a:endParaRPr b="1" sz="1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1" name="Google Shape;71;p14"/>
          <p:cNvSpPr txBox="1"/>
          <p:nvPr/>
        </p:nvSpPr>
        <p:spPr>
          <a:xfrm>
            <a:off x="3227575" y="4779825"/>
            <a:ext cx="3000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COPYRIGHT (C) 2026, ECLIPSE FOUNDATION</a:t>
            </a:r>
            <a:endParaRPr sz="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/>
          <p:nvPr/>
        </p:nvSpPr>
        <p:spPr>
          <a:xfrm>
            <a:off x="971300" y="4808250"/>
            <a:ext cx="5334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Copyright© Eclipse Foundation AISBL and contributors. Made available under CC-BY-SA 4.0 International.</a:t>
            </a:r>
            <a:endParaRPr sz="700">
              <a:solidFill>
                <a:srgbClr val="59595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77" name="Google Shape;77;p15" title="SDV_logo-color01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475" y="4757277"/>
            <a:ext cx="684027" cy="25550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5"/>
          <p:cNvSpPr txBox="1"/>
          <p:nvPr/>
        </p:nvSpPr>
        <p:spPr>
          <a:xfrm>
            <a:off x="712125" y="628750"/>
            <a:ext cx="73602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" sz="1820">
                <a:solidFill>
                  <a:srgbClr val="701C7F"/>
                </a:solidFill>
                <a:latin typeface="Inter"/>
                <a:ea typeface="Inter"/>
                <a:cs typeface="Inter"/>
                <a:sym typeface="Inter"/>
              </a:rPr>
              <a:t>The Problem: A Stuck Sensor Silently Disarms the Warning</a:t>
            </a:r>
            <a:endParaRPr sz="400"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80" name="Rounded Rectangle 79"/>
          <p:cNvSpPr/>
          <p:nvPr/>
        </p:nvSpPr>
        <p:spPr>
          <a:xfrm>
            <a:off x="548640" y="1280160"/>
            <a:ext cx="1243584" cy="960120"/>
          </a:xfrm>
          <a:prstGeom prst="roundRect">
            <a:avLst>
              <a:gd name="adj" fmla="val 8000"/>
            </a:avLst>
          </a:prstGeom>
          <a:solidFill>
            <a:srgbClr val="F4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1" name="Picture 80" descr="FaThermometerHalf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1389888"/>
            <a:ext cx="237744" cy="237744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960120" y="1371600"/>
            <a:ext cx="786384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950" b="1" i="0">
                <a:solidFill>
                  <a:srgbClr val="262626"/>
                </a:solidFill>
                <a:latin typeface="Inter"/>
              </a:rPr>
              <a:t>Cell temperature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58368" y="1709928"/>
            <a:ext cx="1060704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0" i="0">
                <a:solidFill>
                  <a:srgbClr val="262626"/>
                </a:solidFill>
                <a:latin typeface="Inter"/>
              </a:rPr>
              <a:t>42 · 42 · 42 °C
(signal stuck)</a:t>
            </a:r>
          </a:p>
        </p:txBody>
      </p:sp>
      <p:sp>
        <p:nvSpPr>
          <p:cNvPr id="84" name="Right Arrow 83"/>
          <p:cNvSpPr/>
          <p:nvPr/>
        </p:nvSpPr>
        <p:spPr>
          <a:xfrm>
            <a:off x="1828800" y="1677923"/>
            <a:ext cx="164592" cy="164592"/>
          </a:xfrm>
          <a:prstGeom prst="rightArrow">
            <a:avLst/>
          </a:prstGeom>
          <a:solidFill>
            <a:srgbClr val="5F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" name="Rounded Rectangle 84"/>
          <p:cNvSpPr/>
          <p:nvPr/>
        </p:nvSpPr>
        <p:spPr>
          <a:xfrm>
            <a:off x="2029968" y="1280160"/>
            <a:ext cx="1243584" cy="960120"/>
          </a:xfrm>
          <a:prstGeom prst="roundRect">
            <a:avLst>
              <a:gd name="adj" fmla="val 8000"/>
            </a:avLst>
          </a:prstGeom>
          <a:solidFill>
            <a:srgbClr val="F4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6" name="Picture 85" descr="FaShieldAlt_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39696" y="1389888"/>
            <a:ext cx="237744" cy="237744"/>
          </a:xfrm>
          <a:prstGeom prst="rect">
            <a:avLst/>
          </a:prstGeom>
        </p:spPr>
      </p:pic>
      <p:sp>
        <p:nvSpPr>
          <p:cNvPr id="87" name="TextBox 86"/>
          <p:cNvSpPr txBox="1"/>
          <p:nvPr/>
        </p:nvSpPr>
        <p:spPr>
          <a:xfrm>
            <a:off x="2441448" y="1371600"/>
            <a:ext cx="786384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950" b="1" i="0">
                <a:solidFill>
                  <a:srgbClr val="262626"/>
                </a:solidFill>
                <a:latin typeface="Inter"/>
              </a:rPr>
              <a:t>Safety monitor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139696" y="1709928"/>
            <a:ext cx="1060704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0" i="0">
                <a:solidFill>
                  <a:srgbClr val="262626"/>
                </a:solidFill>
                <a:latin typeface="Inter"/>
              </a:rPr>
              <a:t>“Looks stable –
all clear”</a:t>
            </a:r>
          </a:p>
        </p:txBody>
      </p:sp>
      <p:sp>
        <p:nvSpPr>
          <p:cNvPr id="89" name="Right Arrow 88"/>
          <p:cNvSpPr/>
          <p:nvPr/>
        </p:nvSpPr>
        <p:spPr>
          <a:xfrm>
            <a:off x="3310128" y="1677923"/>
            <a:ext cx="164592" cy="164592"/>
          </a:xfrm>
          <a:prstGeom prst="rightArrow">
            <a:avLst/>
          </a:prstGeom>
          <a:solidFill>
            <a:srgbClr val="5F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" name="Rounded Rectangle 89"/>
          <p:cNvSpPr/>
          <p:nvPr/>
        </p:nvSpPr>
        <p:spPr>
          <a:xfrm>
            <a:off x="3511296" y="1280160"/>
            <a:ext cx="1243584" cy="960120"/>
          </a:xfrm>
          <a:prstGeom prst="roundRect">
            <a:avLst>
              <a:gd name="adj" fmla="val 8000"/>
            </a:avLst>
          </a:prstGeom>
          <a:solidFill>
            <a:srgbClr val="DB52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1" name="Picture 90" descr="FaBus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21024" y="1389888"/>
            <a:ext cx="237744" cy="237744"/>
          </a:xfrm>
          <a:prstGeom prst="rect">
            <a:avLst/>
          </a:prstGeom>
        </p:spPr>
      </p:pic>
      <p:sp>
        <p:nvSpPr>
          <p:cNvPr id="92" name="TextBox 91"/>
          <p:cNvSpPr txBox="1"/>
          <p:nvPr/>
        </p:nvSpPr>
        <p:spPr>
          <a:xfrm>
            <a:off x="3922776" y="1371600"/>
            <a:ext cx="786384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950" b="1" i="0">
                <a:solidFill>
                  <a:srgbClr val="FFFFFF"/>
                </a:solidFill>
                <a:latin typeface="Inter"/>
              </a:rPr>
              <a:t>Occupants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621024" y="1709928"/>
            <a:ext cx="1060704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0" i="0">
                <a:solidFill>
                  <a:srgbClr val="FFFFFF"/>
                </a:solidFill>
                <a:latin typeface="Inter"/>
              </a:rPr>
              <a:t>No warning while
the battery heats up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48640" y="2468880"/>
            <a:ext cx="411480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50" b="0" i="0">
                <a:solidFill>
                  <a:srgbClr val="262626"/>
                </a:solidFill>
                <a:latin typeface="Inter"/>
              </a:rPr>
              <a:t>Stale, stuck or implausible sensor data can make a safety monitor report “all clear” while the battery overheats.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48640" y="3154680"/>
            <a:ext cx="411480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5F5F6B"/>
                </a:solidFill>
                <a:latin typeface="Inter"/>
              </a:rPr>
              <a:t>Proving that monitors catch these faults is manual today, tied to HIL labs – and has to be repeated for every software release.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48640" y="3886200"/>
            <a:ext cx="411480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50" b="1" i="0">
                <a:solidFill>
                  <a:srgbClr val="701C7F"/>
                </a:solidFill>
                <a:latin typeface="Inter"/>
              </a:rPr>
              <a:t>How do you prove – on every OTA release – that the warning still works?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4983480" y="1280160"/>
            <a:ext cx="3611880" cy="960120"/>
          </a:xfrm>
          <a:prstGeom prst="roundRect">
            <a:avLst>
              <a:gd name="adj" fmla="val 8000"/>
            </a:avLst>
          </a:prstGeom>
          <a:solidFill>
            <a:srgbClr val="F1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8" name="TextBox 97"/>
          <p:cNvSpPr txBox="1"/>
          <p:nvPr/>
        </p:nvSpPr>
        <p:spPr>
          <a:xfrm>
            <a:off x="5120640" y="1280160"/>
            <a:ext cx="1463040" cy="9601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800" b="1" i="0">
                <a:solidFill>
                  <a:srgbClr val="701C7F"/>
                </a:solidFill>
                <a:latin typeface="Inter"/>
              </a:rPr>
              <a:t>≥ 5 min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629400" y="1353312"/>
            <a:ext cx="1874519" cy="8229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900" b="0" i="0">
                <a:solidFill>
                  <a:srgbClr val="262626"/>
                </a:solidFill>
                <a:latin typeface="Inter"/>
              </a:rPr>
              <a:t>UN R100.03 / GTR 20: occupants must be warned before a thermal event in the battery becomes hazardous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4983480" y="2377439"/>
            <a:ext cx="3611880" cy="960120"/>
          </a:xfrm>
          <a:prstGeom prst="roundRect">
            <a:avLst>
              <a:gd name="adj" fmla="val 8000"/>
            </a:avLst>
          </a:prstGeom>
          <a:solidFill>
            <a:srgbClr val="F1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1" name="TextBox 100"/>
          <p:cNvSpPr txBox="1"/>
          <p:nvPr/>
        </p:nvSpPr>
        <p:spPr>
          <a:xfrm>
            <a:off x="5120640" y="2377439"/>
            <a:ext cx="1463040" cy="9601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800" b="1" i="0">
                <a:solidFill>
                  <a:srgbClr val="701C7F"/>
                </a:solidFill>
                <a:latin typeface="Inter"/>
              </a:rPr>
              <a:t>Every OTA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629400" y="2450591"/>
            <a:ext cx="1874519" cy="8229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900" b="0" i="0">
                <a:solidFill>
                  <a:srgbClr val="262626"/>
                </a:solidFill>
                <a:latin typeface="Inter"/>
              </a:rPr>
              <a:t>UN R156: each software update needs a managed, documented process – mandatory for new EU vehicles since 07/2024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4983480" y="3474720"/>
            <a:ext cx="3611880" cy="960120"/>
          </a:xfrm>
          <a:prstGeom prst="roundRect">
            <a:avLst>
              <a:gd name="adj" fmla="val 8000"/>
            </a:avLst>
          </a:prstGeom>
          <a:solidFill>
            <a:srgbClr val="F1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4" name="TextBox 103"/>
          <p:cNvSpPr txBox="1"/>
          <p:nvPr/>
        </p:nvSpPr>
        <p:spPr>
          <a:xfrm>
            <a:off x="5120640" y="3474720"/>
            <a:ext cx="1463040" cy="9601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800" b="1" i="0">
                <a:solidFill>
                  <a:srgbClr val="701C7F"/>
                </a:solidFill>
                <a:latin typeface="Inter"/>
              </a:rPr>
              <a:t>07/2026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629400" y="3547872"/>
            <a:ext cx="1874519" cy="8229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900" b="0" i="0">
                <a:solidFill>
                  <a:srgbClr val="262626"/>
                </a:solidFill>
                <a:latin typeface="Inter"/>
              </a:rPr>
              <a:t>China GB 38031-2025: “no fire, no explosion” for EV traction batteries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/>
          <p:nvPr/>
        </p:nvSpPr>
        <p:spPr>
          <a:xfrm>
            <a:off x="971300" y="4808250"/>
            <a:ext cx="5334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Copyright© Eclipse Foundation AISBL and contributors. Made available under CC-BY-SA 4.0 International.</a:t>
            </a:r>
            <a:endParaRPr sz="700">
              <a:solidFill>
                <a:srgbClr val="59595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85" name="Google Shape;85;p16" title="SDV_logo-color01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475" y="4757277"/>
            <a:ext cx="684027" cy="2555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6"/>
          <p:cNvSpPr txBox="1"/>
          <p:nvPr/>
        </p:nvSpPr>
        <p:spPr>
          <a:xfrm>
            <a:off x="712125" y="628750"/>
            <a:ext cx="73602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" sz="1820">
                <a:solidFill>
                  <a:srgbClr val="701C7F"/>
                </a:solidFill>
                <a:latin typeface="Inter"/>
                <a:ea typeface="Inter"/>
                <a:cs typeface="Inter"/>
                <a:sym typeface="Inter"/>
              </a:rPr>
              <a:t>Our Solution: A Portable Safety Evidence Factory</a:t>
            </a:r>
            <a:endParaRPr sz="400"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88" name="Pentagon 87"/>
          <p:cNvSpPr/>
          <p:nvPr/>
        </p:nvSpPr>
        <p:spPr>
          <a:xfrm>
            <a:off x="548640" y="1325880"/>
            <a:ext cx="1417320" cy="566928"/>
          </a:xfrm>
          <a:prstGeom prst="homePlate">
            <a:avLst/>
          </a:prstGeom>
          <a:solidFill>
            <a:srgbClr val="2D1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000" b="1" i="0">
                <a:solidFill>
                  <a:srgbClr val="FFFFFF"/>
                </a:solidFill>
                <a:latin typeface="Inter"/>
              </a:rPr>
              <a:t>Hazard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0080" y="1938528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850" b="0" i="0">
                <a:solidFill>
                  <a:srgbClr val="5F5F6B"/>
                </a:solidFill>
                <a:latin typeface="Inter"/>
              </a:rPr>
              <a:t>HE-1 … HE-6 (HARA)</a:t>
            </a:r>
          </a:p>
        </p:txBody>
      </p:sp>
      <p:sp>
        <p:nvSpPr>
          <p:cNvPr id="90" name="Chevron 89"/>
          <p:cNvSpPr/>
          <p:nvPr/>
        </p:nvSpPr>
        <p:spPr>
          <a:xfrm>
            <a:off x="1874519" y="1325880"/>
            <a:ext cx="1417320" cy="566928"/>
          </a:xfrm>
          <a:prstGeom prst="chevron">
            <a:avLst/>
          </a:prstGeom>
          <a:solidFill>
            <a:srgbClr val="2D1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000" b="1" i="0">
                <a:solidFill>
                  <a:srgbClr val="FFFFFF"/>
                </a:solidFill>
                <a:latin typeface="Inter"/>
              </a:rPr>
              <a:t>Safety goal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965960" y="1938528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850" b="0" i="0">
                <a:solidFill>
                  <a:srgbClr val="5F5F6B"/>
                </a:solidFill>
                <a:latin typeface="Inter"/>
              </a:rPr>
              <a:t>SG-1 … SG-4</a:t>
            </a:r>
          </a:p>
        </p:txBody>
      </p:sp>
      <p:sp>
        <p:nvSpPr>
          <p:cNvPr id="92" name="Chevron 91"/>
          <p:cNvSpPr/>
          <p:nvPr/>
        </p:nvSpPr>
        <p:spPr>
          <a:xfrm>
            <a:off x="3200400" y="1325880"/>
            <a:ext cx="1417320" cy="566928"/>
          </a:xfrm>
          <a:prstGeom prst="chevron">
            <a:avLst/>
          </a:prstGeom>
          <a:solidFill>
            <a:srgbClr val="701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000" b="1" i="0">
                <a:solidFill>
                  <a:srgbClr val="FFFFFF"/>
                </a:solidFill>
                <a:latin typeface="Inter"/>
              </a:rPr>
              <a:t>Injected fault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291840" y="1938528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850" b="0" i="0">
                <a:solidFill>
                  <a:srgbClr val="5F5F6B"/>
                </a:solidFill>
                <a:latin typeface="Inter"/>
              </a:rPr>
              <a:t>19 scenarios</a:t>
            </a:r>
          </a:p>
        </p:txBody>
      </p:sp>
      <p:sp>
        <p:nvSpPr>
          <p:cNvPr id="94" name="Chevron 93"/>
          <p:cNvSpPr/>
          <p:nvPr/>
        </p:nvSpPr>
        <p:spPr>
          <a:xfrm>
            <a:off x="4526279" y="1325880"/>
            <a:ext cx="1417320" cy="566928"/>
          </a:xfrm>
          <a:prstGeom prst="chevron">
            <a:avLst/>
          </a:prstGeom>
          <a:solidFill>
            <a:srgbClr val="701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000" b="1" i="0">
                <a:solidFill>
                  <a:srgbClr val="FFFFFF"/>
                </a:solidFill>
                <a:latin typeface="Inter"/>
              </a:rPr>
              <a:t>Detection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617719" y="1938528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850" b="0" i="0">
                <a:solidFill>
                  <a:srgbClr val="5F5F6B"/>
                </a:solidFill>
                <a:latin typeface="Inter"/>
              </a:rPr>
              <a:t>Guardian + DTC</a:t>
            </a:r>
          </a:p>
        </p:txBody>
      </p:sp>
      <p:sp>
        <p:nvSpPr>
          <p:cNvPr id="96" name="Chevron 95"/>
          <p:cNvSpPr/>
          <p:nvPr/>
        </p:nvSpPr>
        <p:spPr>
          <a:xfrm>
            <a:off x="5852159" y="1325880"/>
            <a:ext cx="1417320" cy="566928"/>
          </a:xfrm>
          <a:prstGeom prst="chevron">
            <a:avLst/>
          </a:prstGeom>
          <a:solidFill>
            <a:srgbClr val="AB0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000" b="1" i="0">
                <a:solidFill>
                  <a:srgbClr val="FFFFFF"/>
                </a:solidFill>
                <a:latin typeface="Inter"/>
              </a:rPr>
              <a:t>Mitigation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943599" y="1938528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850" b="0" i="0">
                <a:solidFill>
                  <a:srgbClr val="5F5F6B"/>
                </a:solidFill>
                <a:latin typeface="Inter"/>
              </a:rPr>
              <a:t>uProtocol request</a:t>
            </a:r>
          </a:p>
        </p:txBody>
      </p:sp>
      <p:sp>
        <p:nvSpPr>
          <p:cNvPr id="98" name="Chevron 97"/>
          <p:cNvSpPr/>
          <p:nvPr/>
        </p:nvSpPr>
        <p:spPr>
          <a:xfrm>
            <a:off x="7178040" y="1325880"/>
            <a:ext cx="1417320" cy="566928"/>
          </a:xfrm>
          <a:prstGeom prst="chevron">
            <a:avLst/>
          </a:prstGeom>
          <a:solidFill>
            <a:srgbClr val="DB52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000" b="1" i="0">
                <a:solidFill>
                  <a:srgbClr val="FFFFFF"/>
                </a:solidFill>
                <a:latin typeface="Inter"/>
              </a:rPr>
              <a:t>Verdict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69479" y="1938528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850" b="0" i="0">
                <a:solidFill>
                  <a:srgbClr val="5F5F6B"/>
                </a:solidFill>
                <a:latin typeface="Inter"/>
              </a:rPr>
              <a:t>PASS · FAIL · INCONCL.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48640" y="2331720"/>
            <a:ext cx="804672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200" b="1" i="1">
                <a:solidFill>
                  <a:srgbClr val="701C7F"/>
                </a:solidFill>
                <a:latin typeface="Inter"/>
              </a:rPr>
              <a:t>Every test verdict is linked back to the hazard it protects against – automatically.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548640" y="2834640"/>
            <a:ext cx="2560320" cy="1691640"/>
          </a:xfrm>
          <a:prstGeom prst="roundRect">
            <a:avLst>
              <a:gd name="adj" fmla="val 8000"/>
            </a:avLst>
          </a:prstGeom>
          <a:solidFill>
            <a:srgbClr val="F4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" name="Oval 101"/>
          <p:cNvSpPr/>
          <p:nvPr/>
        </p:nvSpPr>
        <p:spPr>
          <a:xfrm>
            <a:off x="731520" y="2999232"/>
            <a:ext cx="457200" cy="457200"/>
          </a:xfrm>
          <a:prstGeom prst="ellipse">
            <a:avLst/>
          </a:prstGeom>
          <a:solidFill>
            <a:srgbClr val="701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3" name="Picture 102" descr="FaLink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" y="3113532"/>
            <a:ext cx="228600" cy="228600"/>
          </a:xfrm>
          <a:prstGeom prst="rect">
            <a:avLst/>
          </a:prstGeom>
        </p:spPr>
      </p:pic>
      <p:sp>
        <p:nvSpPr>
          <p:cNvPr id="104" name="TextBox 103"/>
          <p:cNvSpPr txBox="1"/>
          <p:nvPr/>
        </p:nvSpPr>
        <p:spPr>
          <a:xfrm>
            <a:off x="1325880" y="2999232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300" b="1" i="0">
                <a:solidFill>
                  <a:srgbClr val="701C7F"/>
                </a:solidFill>
                <a:latin typeface="Inter"/>
              </a:rPr>
              <a:t>Traceable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731520" y="3584448"/>
            <a:ext cx="2240280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0">
                <a:solidFill>
                  <a:srgbClr val="262626"/>
                </a:solidFill>
                <a:latin typeface="Inter"/>
              </a:rPr>
              <a:t>Hazard → safety goal → requirement → injected fault → DTC in OpenSOVD → verdict, for every test.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3291840" y="2834640"/>
            <a:ext cx="2560320" cy="1691640"/>
          </a:xfrm>
          <a:prstGeom prst="roundRect">
            <a:avLst>
              <a:gd name="adj" fmla="val 8000"/>
            </a:avLst>
          </a:prstGeom>
          <a:solidFill>
            <a:srgbClr val="F4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Oval 106"/>
          <p:cNvSpPr/>
          <p:nvPr/>
        </p:nvSpPr>
        <p:spPr>
          <a:xfrm>
            <a:off x="3474720" y="2999232"/>
            <a:ext cx="457200" cy="457200"/>
          </a:xfrm>
          <a:prstGeom prst="ellipse">
            <a:avLst/>
          </a:prstGeom>
          <a:solidFill>
            <a:srgbClr val="701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8" name="Picture 107" descr="FaExchangeAlt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9020" y="3113532"/>
            <a:ext cx="228600" cy="228600"/>
          </a:xfrm>
          <a:prstGeom prst="rect">
            <a:avLst/>
          </a:prstGeom>
        </p:spPr>
      </p:pic>
      <p:sp>
        <p:nvSpPr>
          <p:cNvPr id="109" name="TextBox 108"/>
          <p:cNvSpPr txBox="1"/>
          <p:nvPr/>
        </p:nvSpPr>
        <p:spPr>
          <a:xfrm>
            <a:off x="4069080" y="2999232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300" b="1" i="0">
                <a:solidFill>
                  <a:srgbClr val="701C7F"/>
                </a:solidFill>
                <a:latin typeface="Inter"/>
              </a:rPr>
              <a:t>Portable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3474720" y="3584448"/>
            <a:ext cx="2240280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0">
                <a:solidFill>
                  <a:srgbClr val="262626"/>
                </a:solidFill>
                <a:latin typeface="Inter"/>
              </a:rPr>
              <a:t>The same campaigns run in CI, in the cloud and on an in-vehicle HPC – built on KUKSA, uProtocol and OpenSOVD.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6035040" y="2834640"/>
            <a:ext cx="2560320" cy="1691640"/>
          </a:xfrm>
          <a:prstGeom prst="roundRect">
            <a:avLst>
              <a:gd name="adj" fmla="val 8000"/>
            </a:avLst>
          </a:prstGeom>
          <a:solidFill>
            <a:srgbClr val="F4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2" name="Oval 111"/>
          <p:cNvSpPr/>
          <p:nvPr/>
        </p:nvSpPr>
        <p:spPr>
          <a:xfrm>
            <a:off x="6217920" y="2999232"/>
            <a:ext cx="457200" cy="457200"/>
          </a:xfrm>
          <a:prstGeom prst="ellipse">
            <a:avLst/>
          </a:prstGeom>
          <a:solidFill>
            <a:srgbClr val="701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3" name="Picture 112" descr="FaRedo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2220" y="3113532"/>
            <a:ext cx="228600" cy="228600"/>
          </a:xfrm>
          <a:prstGeom prst="rect">
            <a:avLst/>
          </a:prstGeom>
        </p:spPr>
      </p:pic>
      <p:sp>
        <p:nvSpPr>
          <p:cNvPr id="114" name="TextBox 113"/>
          <p:cNvSpPr txBox="1"/>
          <p:nvPr/>
        </p:nvSpPr>
        <p:spPr>
          <a:xfrm>
            <a:off x="6812279" y="2999232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300" b="1" i="0">
                <a:solidFill>
                  <a:srgbClr val="701C7F"/>
                </a:solidFill>
                <a:latin typeface="Inter"/>
              </a:rPr>
              <a:t>Repeatable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217920" y="3584448"/>
            <a:ext cx="2240280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0">
                <a:solidFill>
                  <a:srgbClr val="262626"/>
                </a:solidFill>
                <a:latin typeface="Inter"/>
              </a:rPr>
              <a:t>Deterministic, replayable campaigns with measured detection timing. Failures are reported, never hidden.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8"/>
          <p:cNvSpPr txBox="1"/>
          <p:nvPr/>
        </p:nvSpPr>
        <p:spPr>
          <a:xfrm>
            <a:off x="971300" y="4808250"/>
            <a:ext cx="5334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Copyright© Eclipse Foundation AISBL and contributors. Made available under CC-BY-SA 4.0 International.</a:t>
            </a:r>
            <a:endParaRPr sz="700">
              <a:solidFill>
                <a:srgbClr val="59595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01" name="Google Shape;101;p18" title="SDV_logo-color01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475" y="4757277"/>
            <a:ext cx="684027" cy="255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8"/>
          <p:cNvSpPr txBox="1"/>
          <p:nvPr/>
        </p:nvSpPr>
        <p:spPr>
          <a:xfrm>
            <a:off x="712125" y="628750"/>
            <a:ext cx="73602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" sz="1820">
                <a:solidFill>
                  <a:srgbClr val="701C7F"/>
                </a:solidFill>
                <a:latin typeface="Inter"/>
                <a:ea typeface="Inter"/>
                <a:cs typeface="Inter"/>
                <a:sym typeface="Inter"/>
              </a:rPr>
              <a:t>Product 1: Cloud Safety Evidence Factory</a:t>
            </a:r>
            <a:endParaRPr sz="400"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pic>
        <p:nvPicPr>
          <p:cNvPr id="104" name="Google Shape;104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0286" y="1313837"/>
            <a:ext cx="6116625" cy="322307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Rounded Rectangle 104"/>
          <p:cNvSpPr/>
          <p:nvPr/>
        </p:nvSpPr>
        <p:spPr>
          <a:xfrm>
            <a:off x="6858000" y="1325880"/>
            <a:ext cx="1737360" cy="3200400"/>
          </a:xfrm>
          <a:prstGeom prst="roundRect">
            <a:avLst>
              <a:gd name="adj" fmla="val 8000"/>
            </a:avLst>
          </a:prstGeom>
          <a:solidFill>
            <a:srgbClr val="F4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6" name="TextBox 105"/>
          <p:cNvSpPr txBox="1"/>
          <p:nvPr/>
        </p:nvSpPr>
        <p:spPr>
          <a:xfrm>
            <a:off x="6995160" y="1463040"/>
            <a:ext cx="150876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850" b="1" i="0">
                <a:solidFill>
                  <a:srgbClr val="701C7F"/>
                </a:solidFill>
                <a:latin typeface="Inter"/>
              </a:rPr>
              <a:t>WHERE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995160" y="1691640"/>
            <a:ext cx="150876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50" b="0" i="0">
                <a:solidFill>
                  <a:srgbClr val="262626"/>
                </a:solidFill>
                <a:latin typeface="Inter"/>
              </a:rPr>
              <a:t>CI pipelines and cloud runners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995160" y="2468880"/>
            <a:ext cx="150876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850" b="1" i="0">
                <a:solidFill>
                  <a:srgbClr val="701C7F"/>
                </a:solidFill>
                <a:latin typeface="Inter"/>
              </a:rPr>
              <a:t>FOR WHOM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995160" y="2697480"/>
            <a:ext cx="150876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50" b="0" i="0">
                <a:solidFill>
                  <a:srgbClr val="262626"/>
                </a:solidFill>
                <a:latin typeface="Inter"/>
              </a:rPr>
              <a:t>Software &amp; safety teams at OEMs and Tier-1s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995160" y="3474720"/>
            <a:ext cx="150876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850" b="1" i="0">
                <a:solidFill>
                  <a:srgbClr val="701C7F"/>
                </a:solidFill>
                <a:latin typeface="Inter"/>
              </a:rPr>
              <a:t>VALUE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995160" y="3703320"/>
            <a:ext cx="150876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50" b="0" i="0">
                <a:solidFill>
                  <a:srgbClr val="262626"/>
                </a:solidFill>
                <a:latin typeface="Inter"/>
              </a:rPr>
              <a:t>Evidence on every commit and release – no lab time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 txBox="1"/>
          <p:nvPr/>
        </p:nvSpPr>
        <p:spPr>
          <a:xfrm>
            <a:off x="971300" y="4808250"/>
            <a:ext cx="5334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Copyright© Eclipse Foundation AISBL and contributors. Made available under CC-BY-SA 4.0 International.</a:t>
            </a:r>
            <a:endParaRPr sz="700">
              <a:solidFill>
                <a:srgbClr val="59595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10" name="Google Shape;110;p19" title="SDV_logo-color01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475" y="4757277"/>
            <a:ext cx="684027" cy="255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9"/>
          <p:cNvSpPr txBox="1"/>
          <p:nvPr/>
        </p:nvSpPr>
        <p:spPr>
          <a:xfrm>
            <a:off x="712125" y="628750"/>
            <a:ext cx="73602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" sz="1820">
                <a:solidFill>
                  <a:srgbClr val="701C7F"/>
                </a:solidFill>
                <a:latin typeface="Inter"/>
                <a:ea typeface="Inter"/>
                <a:cs typeface="Inter"/>
                <a:sym typeface="Inter"/>
              </a:rPr>
              <a:t>Product 2: In-Vehicle Safety Evidence Factory</a:t>
            </a:r>
            <a:endParaRPr sz="400"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pic>
        <p:nvPicPr>
          <p:cNvPr id="113" name="Google Shape;113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8640" y="1188720"/>
            <a:ext cx="5567651" cy="3429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Rounded Rectangle 113"/>
          <p:cNvSpPr/>
          <p:nvPr/>
        </p:nvSpPr>
        <p:spPr>
          <a:xfrm>
            <a:off x="6858000" y="1325880"/>
            <a:ext cx="1737360" cy="3200400"/>
          </a:xfrm>
          <a:prstGeom prst="roundRect">
            <a:avLst>
              <a:gd name="adj" fmla="val 8000"/>
            </a:avLst>
          </a:prstGeom>
          <a:solidFill>
            <a:srgbClr val="F4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5" name="TextBox 114"/>
          <p:cNvSpPr txBox="1"/>
          <p:nvPr/>
        </p:nvSpPr>
        <p:spPr>
          <a:xfrm>
            <a:off x="6995160" y="1463040"/>
            <a:ext cx="150876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850" b="1" i="0">
                <a:solidFill>
                  <a:srgbClr val="701C7F"/>
                </a:solidFill>
                <a:latin typeface="Inter"/>
              </a:rPr>
              <a:t>WHERE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995160" y="1691640"/>
            <a:ext cx="150876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50" b="0" i="0">
                <a:solidFill>
                  <a:srgbClr val="262626"/>
                </a:solidFill>
                <a:latin typeface="Inter"/>
              </a:rPr>
              <a:t>Vehicle HPC (AutoSD, Ankaios) plus sensor MCU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995160" y="2468880"/>
            <a:ext cx="150876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850" b="1" i="0">
                <a:solidFill>
                  <a:srgbClr val="701C7F"/>
                </a:solidFill>
                <a:latin typeface="Inter"/>
              </a:rPr>
              <a:t>FOR WHOM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995160" y="2697480"/>
            <a:ext cx="150876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50" b="0" i="0">
                <a:solidFill>
                  <a:srgbClr val="262626"/>
                </a:solidFill>
                <a:latin typeface="Inter"/>
              </a:rPr>
              <a:t>Validation fleets, prototypes, field operation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995160" y="3474720"/>
            <a:ext cx="150876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850" b="1" i="0">
                <a:solidFill>
                  <a:srgbClr val="701C7F"/>
                </a:solidFill>
                <a:latin typeface="Inter"/>
              </a:rPr>
              <a:t>VALUE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995160" y="3703320"/>
            <a:ext cx="150876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50" b="0" i="0">
                <a:solidFill>
                  <a:srgbClr val="262626"/>
                </a:solidFill>
                <a:latin typeface="Inter"/>
              </a:rPr>
              <a:t>Same campaigns on real hardware – evidence from the road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/>
          <p:nvPr/>
        </p:nvSpPr>
        <p:spPr>
          <a:xfrm>
            <a:off x="971300" y="4808250"/>
            <a:ext cx="5334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Copyright© Eclipse Foundation AISBL and contributors. Made available under CC-BY-SA 4.0 International.</a:t>
            </a:r>
            <a:endParaRPr sz="700">
              <a:solidFill>
                <a:srgbClr val="59595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93" name="Google Shape;93;p17" title="SDV_logo-color01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475" y="4757277"/>
            <a:ext cx="684027" cy="2555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7"/>
          <p:cNvSpPr txBox="1"/>
          <p:nvPr/>
        </p:nvSpPr>
        <p:spPr>
          <a:xfrm>
            <a:off x="712125" y="628750"/>
            <a:ext cx="73602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" sz="1820">
                <a:solidFill>
                  <a:srgbClr val="701C7F"/>
                </a:solidFill>
                <a:latin typeface="Inter"/>
                <a:ea typeface="Inter"/>
                <a:cs typeface="Inter"/>
                <a:sym typeface="Inter"/>
              </a:rPr>
              <a:t>Live Demo: Catching a Stuck Temperature Sensor</a:t>
            </a:r>
            <a:endParaRPr sz="400"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cxnSp>
        <p:nvCxnSpPr>
          <p:cNvPr id="96" name="Connector 95"/>
          <p:cNvCxnSpPr/>
          <p:nvPr/>
        </p:nvCxnSpPr>
        <p:spPr>
          <a:xfrm>
            <a:off x="1353312" y="1600200"/>
            <a:ext cx="6437376" cy="0"/>
          </a:xfrm>
          <a:prstGeom prst="line">
            <a:avLst/>
          </a:prstGeom>
          <a:ln w="25400">
            <a:solidFill>
              <a:srgbClr val="C9A5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Oval 96"/>
          <p:cNvSpPr/>
          <p:nvPr/>
        </p:nvSpPr>
        <p:spPr>
          <a:xfrm>
            <a:off x="1097280" y="1344168"/>
            <a:ext cx="512064" cy="512064"/>
          </a:xfrm>
          <a:prstGeom prst="ellipse">
            <a:avLst/>
          </a:prstGeom>
          <a:solidFill>
            <a:srgbClr val="701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21792" y="196596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150" b="1" i="0">
                <a:solidFill>
                  <a:srgbClr val="701C7F"/>
                </a:solidFill>
                <a:latin typeface="Inter"/>
              </a:rPr>
              <a:t>Baseline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21792" y="2286000"/>
            <a:ext cx="146304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262626"/>
                </a:solidFill>
                <a:latin typeface="Inter"/>
              </a:rPr>
              <a:t>AZ3166 sensor ECU → KUKSA → uProtocol → Guardian: nominal</a:t>
            </a:r>
          </a:p>
        </p:txBody>
      </p:sp>
      <p:sp>
        <p:nvSpPr>
          <p:cNvPr id="100" name="Oval 99"/>
          <p:cNvSpPr/>
          <p:nvPr/>
        </p:nvSpPr>
        <p:spPr>
          <a:xfrm>
            <a:off x="2706624" y="1344168"/>
            <a:ext cx="512064" cy="512064"/>
          </a:xfrm>
          <a:prstGeom prst="ellipse">
            <a:avLst/>
          </a:prstGeom>
          <a:solidFill>
            <a:srgbClr val="701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2231136" y="196596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150" b="1" i="0">
                <a:solidFill>
                  <a:srgbClr val="701C7F"/>
                </a:solidFill>
                <a:latin typeface="Inter"/>
              </a:rPr>
              <a:t>Inject fault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231136" y="2286000"/>
            <a:ext cx="146304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262626"/>
                </a:solidFill>
                <a:latin typeface="Inter"/>
              </a:rPr>
              <a:t>Campaign runner freezes the cell temperature (temp_stuck)</a:t>
            </a:r>
          </a:p>
        </p:txBody>
      </p:sp>
      <p:sp>
        <p:nvSpPr>
          <p:cNvPr id="103" name="Oval 102"/>
          <p:cNvSpPr/>
          <p:nvPr/>
        </p:nvSpPr>
        <p:spPr>
          <a:xfrm>
            <a:off x="4315968" y="1344168"/>
            <a:ext cx="512064" cy="512064"/>
          </a:xfrm>
          <a:prstGeom prst="ellipse">
            <a:avLst/>
          </a:prstGeom>
          <a:solidFill>
            <a:srgbClr val="701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840480" y="196596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150" b="1" i="0">
                <a:solidFill>
                  <a:srgbClr val="701C7F"/>
                </a:solidFill>
                <a:latin typeface="Inter"/>
              </a:rPr>
              <a:t>Detect &amp; mitigate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840480" y="2286000"/>
            <a:ext cx="146304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262626"/>
                </a:solidFill>
                <a:latin typeface="Inter"/>
              </a:rPr>
              <a:t>Guardian raises BTG_TempSignalStuck, goes degraded, requests a driver warning</a:t>
            </a:r>
          </a:p>
        </p:txBody>
      </p:sp>
      <p:sp>
        <p:nvSpPr>
          <p:cNvPr id="106" name="Oval 105"/>
          <p:cNvSpPr/>
          <p:nvPr/>
        </p:nvSpPr>
        <p:spPr>
          <a:xfrm>
            <a:off x="5925312" y="1344168"/>
            <a:ext cx="512064" cy="512064"/>
          </a:xfrm>
          <a:prstGeom prst="ellipse">
            <a:avLst/>
          </a:prstGeom>
          <a:solidFill>
            <a:srgbClr val="701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449824" y="196596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150" b="1" i="0">
                <a:solidFill>
                  <a:srgbClr val="701C7F"/>
                </a:solidFill>
                <a:latin typeface="Inter"/>
              </a:rPr>
              <a:t>Diagnose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449824" y="2286000"/>
            <a:ext cx="146304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262626"/>
                </a:solidFill>
                <a:latin typeface="Inter"/>
              </a:rPr>
              <a:t>DTC with session and event ID visible in OpenSOVD</a:t>
            </a:r>
          </a:p>
        </p:txBody>
      </p:sp>
      <p:sp>
        <p:nvSpPr>
          <p:cNvPr id="109" name="Oval 108"/>
          <p:cNvSpPr/>
          <p:nvPr/>
        </p:nvSpPr>
        <p:spPr>
          <a:xfrm>
            <a:off x="7534656" y="1344168"/>
            <a:ext cx="512064" cy="512064"/>
          </a:xfrm>
          <a:prstGeom prst="ellipse">
            <a:avLst/>
          </a:prstGeom>
          <a:solidFill>
            <a:srgbClr val="DB52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Inter"/>
              </a:rPr>
              <a:t>5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7059168" y="196596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150" b="1" i="0">
                <a:solidFill>
                  <a:srgbClr val="701C7F"/>
                </a:solidFill>
                <a:latin typeface="Inter"/>
              </a:rPr>
              <a:t>Verdict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7059168" y="2286000"/>
            <a:ext cx="146304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262626"/>
                </a:solidFill>
                <a:latin typeface="Inter"/>
              </a:rPr>
              <a:t>Report links the fault to FSR-2.4 → SG-2 → HE-1: PASS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548640" y="3429000"/>
            <a:ext cx="8046720" cy="1005840"/>
          </a:xfrm>
          <a:prstGeom prst="roundRect">
            <a:avLst>
              <a:gd name="adj" fmla="val 8000"/>
            </a:avLst>
          </a:prstGeom>
          <a:solidFill>
            <a:srgbClr val="F1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3" name="Picture 112" descr="FaClock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703320"/>
            <a:ext cx="411480" cy="411480"/>
          </a:xfrm>
          <a:prstGeom prst="rect">
            <a:avLst/>
          </a:prstGeom>
        </p:spPr>
      </p:pic>
      <p:sp>
        <p:nvSpPr>
          <p:cNvPr id="114" name="TextBox 113"/>
          <p:cNvSpPr txBox="1"/>
          <p:nvPr/>
        </p:nvSpPr>
        <p:spPr>
          <a:xfrm>
            <a:off x="1417320" y="3520440"/>
            <a:ext cx="7040880" cy="8229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50" b="1" i="0">
                <a:solidFill>
                  <a:srgbClr val="701C7F"/>
                </a:solidFill>
                <a:latin typeface="Inter"/>
              </a:rPr>
              <a:t>Measured, not claimed: </a:t>
            </a:r>
            <a:r>
              <a:rPr sz="1050" b="0" i="0">
                <a:solidFill>
                  <a:srgbClr val="262626"/>
                </a:solidFill>
                <a:latin typeface="Inter"/>
              </a:rPr>
              <a:t>detection latency, mitigation timing and diagnostic visibility are recorded for every run (OpenSOVD visibility budget: 2 s). The Guardian dashboard shows the live state and the campaign report.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0"/>
          <p:cNvSpPr txBox="1"/>
          <p:nvPr/>
        </p:nvSpPr>
        <p:spPr>
          <a:xfrm>
            <a:off x="971300" y="4808250"/>
            <a:ext cx="5334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Copyright© Eclipse Foundation AISBL and contributors. Made available under CC-BY-SA 4.0 International.</a:t>
            </a:r>
            <a:endParaRPr sz="700">
              <a:solidFill>
                <a:srgbClr val="59595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19" name="Google Shape;119;p20" title="SDV_logo-color01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475" y="4757277"/>
            <a:ext cx="684027" cy="255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0"/>
          <p:cNvSpPr txBox="1"/>
          <p:nvPr/>
        </p:nvSpPr>
        <p:spPr>
          <a:xfrm>
            <a:off x="712125" y="628750"/>
            <a:ext cx="73602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" sz="1820">
                <a:solidFill>
                  <a:srgbClr val="701C7F"/>
                </a:solidFill>
                <a:latin typeface="Inter"/>
                <a:ea typeface="Inter"/>
                <a:cs typeface="Inter"/>
                <a:sym typeface="Inter"/>
              </a:rPr>
              <a:t>Proof: Built and Run During the Hackathon</a:t>
            </a:r>
            <a:endParaRPr sz="400"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22" name="Rounded Rectangle 121"/>
          <p:cNvSpPr/>
          <p:nvPr/>
        </p:nvSpPr>
        <p:spPr>
          <a:xfrm>
            <a:off x="548640" y="1280160"/>
            <a:ext cx="1828800" cy="1417320"/>
          </a:xfrm>
          <a:prstGeom prst="roundRect">
            <a:avLst>
              <a:gd name="adj" fmla="val 8000"/>
            </a:avLst>
          </a:prstGeom>
          <a:solidFill>
            <a:srgbClr val="F4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3" name="TextBox 122"/>
          <p:cNvSpPr txBox="1"/>
          <p:nvPr/>
        </p:nvSpPr>
        <p:spPr>
          <a:xfrm>
            <a:off x="713232" y="1417319"/>
            <a:ext cx="1554480" cy="5943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000" b="1" i="0">
                <a:solidFill>
                  <a:srgbClr val="701C7F"/>
                </a:solidFill>
                <a:latin typeface="Inter"/>
              </a:rPr>
              <a:t>19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713232" y="2057400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50" b="0" i="0">
                <a:solidFill>
                  <a:srgbClr val="262626"/>
                </a:solidFill>
                <a:latin typeface="Inter"/>
              </a:rPr>
              <a:t>fault scenarios in one automated campaign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2560320" y="1280160"/>
            <a:ext cx="1828800" cy="1417320"/>
          </a:xfrm>
          <a:prstGeom prst="roundRect">
            <a:avLst>
              <a:gd name="adj" fmla="val 8000"/>
            </a:avLst>
          </a:prstGeom>
          <a:solidFill>
            <a:srgbClr val="F4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6" name="TextBox 125"/>
          <p:cNvSpPr txBox="1"/>
          <p:nvPr/>
        </p:nvSpPr>
        <p:spPr>
          <a:xfrm>
            <a:off x="2724912" y="1417319"/>
            <a:ext cx="1554480" cy="5943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000" b="1" i="0">
                <a:solidFill>
                  <a:srgbClr val="701C7F"/>
                </a:solidFill>
                <a:latin typeface="Inter"/>
              </a:rPr>
              <a:t>10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2724912" y="2057400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50" b="0" i="0">
                <a:solidFill>
                  <a:srgbClr val="262626"/>
                </a:solidFill>
                <a:latin typeface="Inter"/>
              </a:rPr>
              <a:t>diagnostic trouble codes reported to OpenSOVD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548640" y="2880360"/>
            <a:ext cx="1828800" cy="1417320"/>
          </a:xfrm>
          <a:prstGeom prst="roundRect">
            <a:avLst>
              <a:gd name="adj" fmla="val 8000"/>
            </a:avLst>
          </a:prstGeom>
          <a:solidFill>
            <a:srgbClr val="F4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9" name="TextBox 128"/>
          <p:cNvSpPr txBox="1"/>
          <p:nvPr/>
        </p:nvSpPr>
        <p:spPr>
          <a:xfrm>
            <a:off x="713232" y="3017520"/>
            <a:ext cx="1554480" cy="5943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000" b="1" i="0">
                <a:solidFill>
                  <a:srgbClr val="701C7F"/>
                </a:solidFill>
                <a:latin typeface="Inter"/>
              </a:rPr>
              <a:t>49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13232" y="3657600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50" b="0" i="0">
                <a:solidFill>
                  <a:srgbClr val="262626"/>
                </a:solidFill>
                <a:latin typeface="Inter"/>
              </a:rPr>
              <a:t>automated tests in the Rust workspace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2560320" y="2880360"/>
            <a:ext cx="1828800" cy="1417320"/>
          </a:xfrm>
          <a:prstGeom prst="roundRect">
            <a:avLst>
              <a:gd name="adj" fmla="val 8000"/>
            </a:avLst>
          </a:prstGeom>
          <a:solidFill>
            <a:srgbClr val="F4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2" name="TextBox 131"/>
          <p:cNvSpPr txBox="1"/>
          <p:nvPr/>
        </p:nvSpPr>
        <p:spPr>
          <a:xfrm>
            <a:off x="2724912" y="3017520"/>
            <a:ext cx="1554480" cy="5943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000" b="1" i="0">
                <a:solidFill>
                  <a:srgbClr val="701C7F"/>
                </a:solidFill>
                <a:latin typeface="Inter"/>
              </a:rPr>
              <a:t>6 → 4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2724912" y="3657600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50" b="0" i="0">
                <a:solidFill>
                  <a:srgbClr val="262626"/>
                </a:solidFill>
                <a:latin typeface="Inter"/>
              </a:rPr>
              <a:t>hazardous events traced to safety goals</a:t>
            </a:r>
          </a:p>
        </p:txBody>
      </p:sp>
      <p:graphicFrame>
        <p:nvGraphicFramePr>
          <p:cNvPr id="134" name="Chart 133"/>
          <p:cNvGraphicFramePr>
            <a:graphicFrameLocks noGrp="1"/>
          </p:cNvGraphicFramePr>
          <p:nvPr/>
        </p:nvGraphicFramePr>
        <p:xfrm>
          <a:off x="4572000" y="1188720"/>
          <a:ext cx="2194560" cy="2194560"/>
        </p:xfrm>
        <a:graphic>
          <a:graphicData uri="http://schemas.openxmlformats.org/drawingml/2006/chart">
            <c:chart r:id="rId4"/>
          </a:graphicData>
        </a:graphic>
      </p:graphicFrame>
      <p:sp>
        <p:nvSpPr>
          <p:cNvPr id="135" name="TextBox 134"/>
          <p:cNvSpPr txBox="1"/>
          <p:nvPr/>
        </p:nvSpPr>
        <p:spPr>
          <a:xfrm>
            <a:off x="4572000" y="1965960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2000" b="1" i="0">
                <a:solidFill>
                  <a:srgbClr val="701C7F"/>
                </a:solidFill>
                <a:latin typeface="Inter"/>
              </a:rPr>
              <a:t>14 / 19</a:t>
            </a:r>
          </a:p>
          <a:p>
            <a:pPr algn="ctr"/>
            <a:r>
              <a:rPr sz="1000" b="0" i="0">
                <a:solidFill>
                  <a:srgbClr val="5F5F6B"/>
                </a:solidFill>
                <a:latin typeface="Inter"/>
              </a:rPr>
              <a:t>PASS</a:t>
            </a:r>
          </a:p>
        </p:txBody>
      </p:sp>
      <p:sp>
        <p:nvSpPr>
          <p:cNvPr id="136" name="Oval 135"/>
          <p:cNvSpPr/>
          <p:nvPr/>
        </p:nvSpPr>
        <p:spPr>
          <a:xfrm>
            <a:off x="6995160" y="1783080"/>
            <a:ext cx="164592" cy="164592"/>
          </a:xfrm>
          <a:prstGeom prst="ellipse">
            <a:avLst/>
          </a:prstGeom>
          <a:solidFill>
            <a:srgbClr val="701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7" name="TextBox 136"/>
          <p:cNvSpPr txBox="1"/>
          <p:nvPr/>
        </p:nvSpPr>
        <p:spPr>
          <a:xfrm>
            <a:off x="7242048" y="1737360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50" b="1" i="0">
                <a:solidFill>
                  <a:srgbClr val="262626"/>
                </a:solidFill>
                <a:latin typeface="Inter"/>
              </a:rPr>
              <a:t>14 PASS</a:t>
            </a:r>
          </a:p>
        </p:txBody>
      </p:sp>
      <p:sp>
        <p:nvSpPr>
          <p:cNvPr id="138" name="Oval 137"/>
          <p:cNvSpPr/>
          <p:nvPr/>
        </p:nvSpPr>
        <p:spPr>
          <a:xfrm>
            <a:off x="6995160" y="2148840"/>
            <a:ext cx="164592" cy="164592"/>
          </a:xfrm>
          <a:prstGeom prst="ellipse">
            <a:avLst/>
          </a:prstGeom>
          <a:solidFill>
            <a:srgbClr val="DB52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9" name="TextBox 138"/>
          <p:cNvSpPr txBox="1"/>
          <p:nvPr/>
        </p:nvSpPr>
        <p:spPr>
          <a:xfrm>
            <a:off x="7242048" y="2103120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50" b="1" i="0">
                <a:solidFill>
                  <a:srgbClr val="262626"/>
                </a:solidFill>
                <a:latin typeface="Inter"/>
              </a:rPr>
              <a:t>5 FAIL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4572000" y="3520440"/>
            <a:ext cx="402336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DB521D"/>
                </a:solidFill>
                <a:latin typeface="Inter"/>
              </a:rPr>
              <a:t>The 5 FAILs are real findings in our own Guardian </a:t>
            </a:r>
            <a:r>
              <a:rPr sz="1000" b="0" i="0">
                <a:solidFill>
                  <a:srgbClr val="262626"/>
                </a:solidFill>
                <a:latin typeface="Inter"/>
              </a:rPr>
              <a:t>(heating, timeout, out-of-range, spike, counter error) – the factory did its job. 17 of 19 scenarios carry a complete evidence chain.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4572000" y="4315968"/>
            <a:ext cx="402336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750" b="0" i="0">
                <a:solidFill>
                  <a:srgbClr val="5F5F6B"/>
                </a:solidFill>
                <a:latin typeface="Inter"/>
              </a:rPr>
              <a:t>Campaign run 7 Oct 2026, 19:28 · github.com/Eclipse-SDV-Hackathon-Chapter-Four/ota-outlaws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1"/>
          <p:cNvSpPr txBox="1"/>
          <p:nvPr/>
        </p:nvSpPr>
        <p:spPr>
          <a:xfrm>
            <a:off x="971300" y="4808250"/>
            <a:ext cx="5334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Copyright© Eclipse Foundation AISBL and contributors. Made available under CC-BY-SA 4.0 International.</a:t>
            </a:r>
            <a:endParaRPr sz="700">
              <a:solidFill>
                <a:srgbClr val="59595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27" name="Google Shape;127;p21" title="SDV_logo-color01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475" y="4757277"/>
            <a:ext cx="684027" cy="255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1"/>
          <p:cNvSpPr txBox="1"/>
          <p:nvPr/>
        </p:nvSpPr>
        <p:spPr>
          <a:xfrm>
            <a:off x="712125" y="628750"/>
            <a:ext cx="73602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" sz="1820">
                <a:solidFill>
                  <a:srgbClr val="701C7F"/>
                </a:solidFill>
                <a:latin typeface="Inter"/>
                <a:ea typeface="Inter"/>
                <a:cs typeface="Inter"/>
                <a:sym typeface="Inter"/>
              </a:rPr>
              <a:t>Why Us: From Manual Lab Work to Evidence on Every Release</a:t>
            </a:r>
            <a:endParaRPr sz="400"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30" name="Rounded Rectangle 129"/>
          <p:cNvSpPr/>
          <p:nvPr/>
        </p:nvSpPr>
        <p:spPr>
          <a:xfrm>
            <a:off x="2194560" y="1234440"/>
            <a:ext cx="2743200" cy="384048"/>
          </a:xfrm>
          <a:prstGeom prst="roundRect">
            <a:avLst>
              <a:gd name="adj" fmla="val 8000"/>
            </a:avLst>
          </a:prstGeom>
          <a:solidFill>
            <a:srgbClr val="DAD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262626"/>
                </a:solidFill>
                <a:latin typeface="Inter"/>
              </a:rPr>
              <a:t>Today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5349240" y="1234440"/>
            <a:ext cx="3246120" cy="384048"/>
          </a:xfrm>
          <a:prstGeom prst="roundRect">
            <a:avLst>
              <a:gd name="adj" fmla="val 8000"/>
            </a:avLst>
          </a:prstGeom>
          <a:solidFill>
            <a:srgbClr val="701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Inter"/>
              </a:rPr>
              <a:t>With OTA Outlaws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548640" y="1737360"/>
            <a:ext cx="1508760" cy="60350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00" b="1" i="0">
                <a:solidFill>
                  <a:srgbClr val="701C7F"/>
                </a:solidFill>
                <a:latin typeface="Inter"/>
              </a:rPr>
              <a:t>Fault injection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2194560" y="1737360"/>
            <a:ext cx="2743200" cy="603504"/>
          </a:xfrm>
          <a:prstGeom prst="roundRect">
            <a:avLst>
              <a:gd name="adj" fmla="val 8000"/>
            </a:avLst>
          </a:prstGeom>
          <a:solidFill>
            <a:srgbClr val="F1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l"/>
            <a:r>
              <a:rPr sz="1050" b="0" i="0">
                <a:solidFill>
                  <a:srgbClr val="5F5F6B"/>
                </a:solidFill>
                <a:latin typeface="Inter"/>
              </a:rPr>
              <a:t>Manual, on scarce HIL benches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5349240" y="1737360"/>
            <a:ext cx="3246120" cy="603504"/>
          </a:xfrm>
          <a:prstGeom prst="roundRect">
            <a:avLst>
              <a:gd name="adj" fmla="val 8000"/>
            </a:avLst>
          </a:prstGeom>
          <a:solidFill>
            <a:srgbClr val="F4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l"/>
            <a:r>
              <a:rPr sz="1050" b="1" i="0">
                <a:solidFill>
                  <a:srgbClr val="262626"/>
                </a:solidFill>
                <a:latin typeface="Inter"/>
              </a:rPr>
              <a:t>Scripted campaigns in CI, cloud and vehicle</a:t>
            </a:r>
          </a:p>
        </p:txBody>
      </p:sp>
      <p:sp>
        <p:nvSpPr>
          <p:cNvPr id="135" name="Right Arrow 134"/>
          <p:cNvSpPr/>
          <p:nvPr/>
        </p:nvSpPr>
        <p:spPr>
          <a:xfrm>
            <a:off x="5010912" y="1956815"/>
            <a:ext cx="274320" cy="164592"/>
          </a:xfrm>
          <a:prstGeom prst="rightArrow">
            <a:avLst/>
          </a:prstGeom>
          <a:solidFill>
            <a:srgbClr val="C9A5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6" name="TextBox 135"/>
          <p:cNvSpPr txBox="1"/>
          <p:nvPr/>
        </p:nvSpPr>
        <p:spPr>
          <a:xfrm>
            <a:off x="548640" y="2441448"/>
            <a:ext cx="1508760" cy="60350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00" b="1" i="0">
                <a:solidFill>
                  <a:srgbClr val="701C7F"/>
                </a:solidFill>
                <a:latin typeface="Inter"/>
              </a:rPr>
              <a:t>Traceability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2194560" y="2441448"/>
            <a:ext cx="2743200" cy="603504"/>
          </a:xfrm>
          <a:prstGeom prst="roundRect">
            <a:avLst>
              <a:gd name="adj" fmla="val 8000"/>
            </a:avLst>
          </a:prstGeom>
          <a:solidFill>
            <a:srgbClr val="F1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l"/>
            <a:r>
              <a:rPr sz="1050" b="0" i="0">
                <a:solidFill>
                  <a:srgbClr val="5F5F6B"/>
                </a:solidFill>
                <a:latin typeface="Inter"/>
              </a:rPr>
              <a:t>Spreadsheets maintained by hand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5349240" y="2441448"/>
            <a:ext cx="3246120" cy="603504"/>
          </a:xfrm>
          <a:prstGeom prst="roundRect">
            <a:avLst>
              <a:gd name="adj" fmla="val 8000"/>
            </a:avLst>
          </a:prstGeom>
          <a:solidFill>
            <a:srgbClr val="F4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l"/>
            <a:r>
              <a:rPr sz="1050" b="1" i="0">
                <a:solidFill>
                  <a:srgbClr val="262626"/>
                </a:solidFill>
                <a:latin typeface="Inter"/>
              </a:rPr>
              <a:t>Auto-linked HE → SG → FSR → DTC → verdict</a:t>
            </a:r>
          </a:p>
        </p:txBody>
      </p:sp>
      <p:sp>
        <p:nvSpPr>
          <p:cNvPr id="139" name="Right Arrow 138"/>
          <p:cNvSpPr/>
          <p:nvPr/>
        </p:nvSpPr>
        <p:spPr>
          <a:xfrm>
            <a:off x="5010912" y="2660904"/>
            <a:ext cx="274320" cy="164592"/>
          </a:xfrm>
          <a:prstGeom prst="rightArrow">
            <a:avLst/>
          </a:prstGeom>
          <a:solidFill>
            <a:srgbClr val="C9A5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0" name="TextBox 139"/>
          <p:cNvSpPr txBox="1"/>
          <p:nvPr/>
        </p:nvSpPr>
        <p:spPr>
          <a:xfrm>
            <a:off x="548640" y="3145536"/>
            <a:ext cx="1508760" cy="60350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00" b="1" i="0">
                <a:solidFill>
                  <a:srgbClr val="701C7F"/>
                </a:solidFill>
                <a:latin typeface="Inter"/>
              </a:rPr>
              <a:t>Repeatability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2194560" y="3145536"/>
            <a:ext cx="2743200" cy="603504"/>
          </a:xfrm>
          <a:prstGeom prst="roundRect">
            <a:avLst>
              <a:gd name="adj" fmla="val 8000"/>
            </a:avLst>
          </a:prstGeom>
          <a:solidFill>
            <a:srgbClr val="F1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l"/>
            <a:r>
              <a:rPr sz="1050" b="0" i="0">
                <a:solidFill>
                  <a:srgbClr val="5F5F6B"/>
                </a:solidFill>
                <a:latin typeface="Inter"/>
              </a:rPr>
              <a:t>One-off runs, hard to reproduce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5349240" y="3145536"/>
            <a:ext cx="3246120" cy="603504"/>
          </a:xfrm>
          <a:prstGeom prst="roundRect">
            <a:avLst>
              <a:gd name="adj" fmla="val 8000"/>
            </a:avLst>
          </a:prstGeom>
          <a:solidFill>
            <a:srgbClr val="F4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l"/>
            <a:r>
              <a:rPr sz="1050" b="1" i="0">
                <a:solidFill>
                  <a:srgbClr val="262626"/>
                </a:solidFill>
                <a:latin typeface="Inter"/>
              </a:rPr>
              <a:t>Deterministic replays, same verdict on rerun</a:t>
            </a:r>
          </a:p>
        </p:txBody>
      </p:sp>
      <p:sp>
        <p:nvSpPr>
          <p:cNvPr id="143" name="Right Arrow 142"/>
          <p:cNvSpPr/>
          <p:nvPr/>
        </p:nvSpPr>
        <p:spPr>
          <a:xfrm>
            <a:off x="5010912" y="3364991"/>
            <a:ext cx="274320" cy="164592"/>
          </a:xfrm>
          <a:prstGeom prst="rightArrow">
            <a:avLst/>
          </a:prstGeom>
          <a:solidFill>
            <a:srgbClr val="C9A5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4" name="TextBox 143"/>
          <p:cNvSpPr txBox="1"/>
          <p:nvPr/>
        </p:nvSpPr>
        <p:spPr>
          <a:xfrm>
            <a:off x="548640" y="3849624"/>
            <a:ext cx="1508760" cy="60350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00" b="1" i="0">
                <a:solidFill>
                  <a:srgbClr val="701C7F"/>
                </a:solidFill>
                <a:latin typeface="Inter"/>
              </a:rPr>
              <a:t>Cost &amp; lock-in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2194560" y="3849624"/>
            <a:ext cx="2743200" cy="603504"/>
          </a:xfrm>
          <a:prstGeom prst="roundRect">
            <a:avLst>
              <a:gd name="adj" fmla="val 8000"/>
            </a:avLst>
          </a:prstGeom>
          <a:solidFill>
            <a:srgbClr val="F1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l"/>
            <a:r>
              <a:rPr sz="1050" b="0" i="0">
                <a:solidFill>
                  <a:srgbClr val="5F5F6B"/>
                </a:solidFill>
                <a:latin typeface="Inter"/>
              </a:rPr>
              <a:t>Proprietary licences plus lab time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5349240" y="3849624"/>
            <a:ext cx="3246120" cy="603504"/>
          </a:xfrm>
          <a:prstGeom prst="roundRect">
            <a:avLst>
              <a:gd name="adj" fmla="val 8000"/>
            </a:avLst>
          </a:prstGeom>
          <a:solidFill>
            <a:srgbClr val="F4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l"/>
            <a:r>
              <a:rPr sz="1050" b="1" i="0">
                <a:solidFill>
                  <a:srgbClr val="262626"/>
                </a:solidFill>
                <a:latin typeface="Inter"/>
              </a:rPr>
              <a:t>Open-source core on the Eclipse SDV stack</a:t>
            </a:r>
          </a:p>
        </p:txBody>
      </p:sp>
      <p:sp>
        <p:nvSpPr>
          <p:cNvPr id="147" name="Right Arrow 146"/>
          <p:cNvSpPr/>
          <p:nvPr/>
        </p:nvSpPr>
        <p:spPr>
          <a:xfrm>
            <a:off x="5010912" y="4069080"/>
            <a:ext cx="274320" cy="164592"/>
          </a:xfrm>
          <a:prstGeom prst="rightArrow">
            <a:avLst/>
          </a:prstGeom>
          <a:solidFill>
            <a:srgbClr val="C9A5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2"/>
          <p:cNvSpPr txBox="1"/>
          <p:nvPr/>
        </p:nvSpPr>
        <p:spPr>
          <a:xfrm>
            <a:off x="971300" y="4808250"/>
            <a:ext cx="5334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Copyright© Eclipse Foundation AISBL and contributors. Made available under CC-BY-SA 4.0 International.</a:t>
            </a:r>
            <a:endParaRPr sz="700">
              <a:solidFill>
                <a:srgbClr val="59595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35" name="Google Shape;135;p22" title="SDV_logo-color01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475" y="4757277"/>
            <a:ext cx="684027" cy="255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2"/>
          <p:cNvSpPr txBox="1"/>
          <p:nvPr/>
        </p:nvSpPr>
        <p:spPr>
          <a:xfrm>
            <a:off x="712125" y="628750"/>
            <a:ext cx="73602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" sz="1820">
                <a:solidFill>
                  <a:srgbClr val="701C7F"/>
                </a:solidFill>
                <a:latin typeface="Inter"/>
                <a:ea typeface="Inter"/>
                <a:cs typeface="Inter"/>
                <a:sym typeface="Inter"/>
              </a:rPr>
              <a:t>The Market: Regulation Makes Safety Evidence Mandatory</a:t>
            </a:r>
            <a:endParaRPr sz="400"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37" name="Rounded Rectangle 136"/>
          <p:cNvSpPr/>
          <p:nvPr/>
        </p:nvSpPr>
        <p:spPr>
          <a:xfrm>
            <a:off x="548640" y="1234440"/>
            <a:ext cx="2560320" cy="1463040"/>
          </a:xfrm>
          <a:prstGeom prst="roundRect">
            <a:avLst>
              <a:gd name="adj" fmla="val 8000"/>
            </a:avLst>
          </a:prstGeom>
          <a:solidFill>
            <a:srgbClr val="F1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8" name="TextBox 137"/>
          <p:cNvSpPr txBox="1"/>
          <p:nvPr/>
        </p:nvSpPr>
        <p:spPr>
          <a:xfrm>
            <a:off x="731520" y="132588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800" b="1" i="0">
                <a:solidFill>
                  <a:srgbClr val="701C7F"/>
                </a:solidFill>
                <a:latin typeface="Inter"/>
              </a:rPr>
              <a:t>$9.1 bn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731520" y="1892807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0">
                <a:solidFill>
                  <a:srgbClr val="262626"/>
                </a:solidFill>
                <a:latin typeface="Inter"/>
              </a:rPr>
              <a:t>automotive software testing market in 2025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731520" y="2395728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750" b="0" i="0">
                <a:solidFill>
                  <a:srgbClr val="5F5F6B"/>
                </a:solidFill>
                <a:latin typeface="Inter"/>
              </a:rPr>
              <a:t>MarketsandMarkets 2025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3291840" y="1234440"/>
            <a:ext cx="2560320" cy="1463040"/>
          </a:xfrm>
          <a:prstGeom prst="roundRect">
            <a:avLst>
              <a:gd name="adj" fmla="val 8000"/>
            </a:avLst>
          </a:prstGeom>
          <a:solidFill>
            <a:srgbClr val="F1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2" name="TextBox 141"/>
          <p:cNvSpPr txBox="1"/>
          <p:nvPr/>
        </p:nvSpPr>
        <p:spPr>
          <a:xfrm>
            <a:off x="3474720" y="132588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800" b="1" i="0">
                <a:solidFill>
                  <a:srgbClr val="701C7F"/>
                </a:solidFill>
                <a:latin typeface="Inter"/>
              </a:rPr>
              <a:t>20 M+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3474720" y="1892807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0">
                <a:solidFill>
                  <a:srgbClr val="262626"/>
                </a:solidFill>
                <a:latin typeface="Inter"/>
              </a:rPr>
              <a:t>electric cars sold in 2025 – one in four new cars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3474720" y="2395728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750" b="0" i="0">
                <a:solidFill>
                  <a:srgbClr val="5F5F6B"/>
                </a:solidFill>
                <a:latin typeface="Inter"/>
              </a:rPr>
              <a:t>IEA Global EV Outlook 2026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6035040" y="1234440"/>
            <a:ext cx="2560320" cy="1463040"/>
          </a:xfrm>
          <a:prstGeom prst="roundRect">
            <a:avLst>
              <a:gd name="adj" fmla="val 8000"/>
            </a:avLst>
          </a:prstGeom>
          <a:solidFill>
            <a:srgbClr val="F1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6" name="TextBox 145"/>
          <p:cNvSpPr txBox="1"/>
          <p:nvPr/>
        </p:nvSpPr>
        <p:spPr>
          <a:xfrm>
            <a:off x="6217920" y="132588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800" b="1" i="0">
                <a:solidFill>
                  <a:srgbClr val="701C7F"/>
                </a:solidFill>
                <a:latin typeface="Inter"/>
              </a:rPr>
              <a:t>100 %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6217920" y="1892807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0">
                <a:solidFill>
                  <a:srgbClr val="262626"/>
                </a:solidFill>
                <a:latin typeface="Inter"/>
              </a:rPr>
              <a:t>of new EU vehicles need a certified software update process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6217920" y="2395728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750" b="0" i="0">
                <a:solidFill>
                  <a:srgbClr val="5F5F6B"/>
                </a:solidFill>
                <a:latin typeface="Inter"/>
              </a:rPr>
              <a:t>UN R156, since July 2024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548640" y="2926080"/>
            <a:ext cx="2423160" cy="1508760"/>
          </a:xfrm>
          <a:prstGeom prst="roundRect">
            <a:avLst>
              <a:gd name="adj" fmla="val 8000"/>
            </a:avLst>
          </a:prstGeom>
          <a:solidFill>
            <a:srgbClr val="701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0" name="TextBox 149"/>
          <p:cNvSpPr txBox="1"/>
          <p:nvPr/>
        </p:nvSpPr>
        <p:spPr>
          <a:xfrm>
            <a:off x="713232" y="3017520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850" b="1" i="0">
                <a:solidFill>
                  <a:srgbClr val="FFFFFF"/>
                </a:solidFill>
                <a:latin typeface="Inter"/>
              </a:rPr>
              <a:t>BEACHHEAD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713232" y="3273552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50" b="1" i="0">
                <a:solidFill>
                  <a:srgbClr val="FFFFFF"/>
                </a:solidFill>
                <a:latin typeface="Inter"/>
              </a:rPr>
              <a:t>Battery &amp; thermal safety (BMS)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713232" y="3749039"/>
            <a:ext cx="210312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50" b="0" i="0">
                <a:solidFill>
                  <a:srgbClr val="FFFFFF"/>
                </a:solidFill>
                <a:latin typeface="Inter"/>
              </a:rPr>
              <a:t>ASIL-D hazards, frequent OTA updates, hard regulatory deadlines</a:t>
            </a:r>
          </a:p>
        </p:txBody>
      </p:sp>
      <p:sp>
        <p:nvSpPr>
          <p:cNvPr id="153" name="Right Arrow 152"/>
          <p:cNvSpPr/>
          <p:nvPr/>
        </p:nvSpPr>
        <p:spPr>
          <a:xfrm>
            <a:off x="3017520" y="3593592"/>
            <a:ext cx="228600" cy="182880"/>
          </a:xfrm>
          <a:prstGeom prst="rightArrow">
            <a:avLst/>
          </a:prstGeom>
          <a:solidFill>
            <a:srgbClr val="C9A5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" name="Rounded Rectangle 153"/>
          <p:cNvSpPr/>
          <p:nvPr/>
        </p:nvSpPr>
        <p:spPr>
          <a:xfrm>
            <a:off x="3291840" y="2926080"/>
            <a:ext cx="2423160" cy="1508760"/>
          </a:xfrm>
          <a:prstGeom prst="roundRect">
            <a:avLst>
              <a:gd name="adj" fmla="val 8000"/>
            </a:avLst>
          </a:prstGeom>
          <a:solidFill>
            <a:srgbClr val="F4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5" name="TextBox 154"/>
          <p:cNvSpPr txBox="1"/>
          <p:nvPr/>
        </p:nvSpPr>
        <p:spPr>
          <a:xfrm>
            <a:off x="3456432" y="3017520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850" b="1" i="0">
                <a:solidFill>
                  <a:srgbClr val="701C7F"/>
                </a:solidFill>
                <a:latin typeface="Inter"/>
              </a:rPr>
              <a:t>NEXT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3456432" y="3273552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50" b="1" i="0">
                <a:solidFill>
                  <a:srgbClr val="262626"/>
                </a:solidFill>
                <a:latin typeface="Inter"/>
              </a:rPr>
              <a:t>Other SDV safety monitors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3456432" y="3749039"/>
            <a:ext cx="210312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50" b="0" i="0">
                <a:solidFill>
                  <a:srgbClr val="262626"/>
                </a:solidFill>
                <a:latin typeface="Inter"/>
              </a:rPr>
              <a:t>Sensor plausibility, ADAS input monitoring, watchdogs</a:t>
            </a:r>
          </a:p>
        </p:txBody>
      </p:sp>
      <p:sp>
        <p:nvSpPr>
          <p:cNvPr id="158" name="Right Arrow 157"/>
          <p:cNvSpPr/>
          <p:nvPr/>
        </p:nvSpPr>
        <p:spPr>
          <a:xfrm>
            <a:off x="5760720" y="3593592"/>
            <a:ext cx="228600" cy="182880"/>
          </a:xfrm>
          <a:prstGeom prst="rightArrow">
            <a:avLst/>
          </a:prstGeom>
          <a:solidFill>
            <a:srgbClr val="C9A5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9" name="Rounded Rectangle 158"/>
          <p:cNvSpPr/>
          <p:nvPr/>
        </p:nvSpPr>
        <p:spPr>
          <a:xfrm>
            <a:off x="6035040" y="2926080"/>
            <a:ext cx="2423160" cy="1508760"/>
          </a:xfrm>
          <a:prstGeom prst="roundRect">
            <a:avLst>
              <a:gd name="adj" fmla="val 8000"/>
            </a:avLst>
          </a:prstGeom>
          <a:solidFill>
            <a:srgbClr val="F1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0" name="TextBox 159"/>
          <p:cNvSpPr txBox="1"/>
          <p:nvPr/>
        </p:nvSpPr>
        <p:spPr>
          <a:xfrm>
            <a:off x="6199631" y="3017520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850" b="1" i="0">
                <a:solidFill>
                  <a:srgbClr val="701C7F"/>
                </a:solidFill>
                <a:latin typeface="Inter"/>
              </a:rPr>
              <a:t>VISION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6199631" y="3273552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50" b="1" i="0">
                <a:solidFill>
                  <a:srgbClr val="262626"/>
                </a:solidFill>
                <a:latin typeface="Inter"/>
              </a:rPr>
              <a:t>Evidence-as-a-Service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199631" y="3749039"/>
            <a:ext cx="210312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50" b="0" i="0">
                <a:solidFill>
                  <a:srgbClr val="262626"/>
                </a:solidFill>
                <a:latin typeface="Inter"/>
              </a:rPr>
              <a:t>Any safety-relevant SDV service, verified on every release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3"/>
          <p:cNvSpPr txBox="1"/>
          <p:nvPr/>
        </p:nvSpPr>
        <p:spPr>
          <a:xfrm>
            <a:off x="971300" y="4808250"/>
            <a:ext cx="5334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Copyright© Eclipse Foundation AISBL and contributors. Made available under CC-BY-SA 4.0 International.</a:t>
            </a:r>
            <a:endParaRPr sz="700">
              <a:solidFill>
                <a:srgbClr val="59595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43" name="Google Shape;143;p23" title="SDV_logo-color01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475" y="4757277"/>
            <a:ext cx="684027" cy="255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3"/>
          <p:cNvSpPr txBox="1"/>
          <p:nvPr/>
        </p:nvSpPr>
        <p:spPr>
          <a:xfrm>
            <a:off x="712125" y="628750"/>
            <a:ext cx="73602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" sz="1820">
                <a:solidFill>
                  <a:srgbClr val="701C7F"/>
                </a:solidFill>
                <a:latin typeface="Inter"/>
                <a:ea typeface="Inter"/>
                <a:cs typeface="Inter"/>
                <a:sym typeface="Inter"/>
              </a:rPr>
              <a:t>Competition: We Connect What Others Keep Separate</a:t>
            </a:r>
            <a:endParaRPr sz="400"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46" name="TextBox 145"/>
          <p:cNvSpPr txBox="1"/>
          <p:nvPr/>
        </p:nvSpPr>
        <p:spPr>
          <a:xfrm>
            <a:off x="3291840" y="1234440"/>
            <a:ext cx="1051560" cy="45720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ctr"/>
            <a:r>
              <a:rPr sz="950" b="1" i="0">
                <a:solidFill>
                  <a:srgbClr val="701C7F"/>
                </a:solidFill>
                <a:latin typeface="Inter"/>
              </a:rPr>
              <a:t>Live fault injection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4343400" y="1234440"/>
            <a:ext cx="1051560" cy="45720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ctr"/>
            <a:r>
              <a:rPr sz="950" b="1" i="0">
                <a:solidFill>
                  <a:srgbClr val="701C7F"/>
                </a:solidFill>
                <a:latin typeface="Inter"/>
              </a:rPr>
              <a:t>Safety traceability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5394960" y="1234440"/>
            <a:ext cx="1051560" cy="45720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ctr"/>
            <a:r>
              <a:rPr sz="950" b="1" i="0">
                <a:solidFill>
                  <a:srgbClr val="701C7F"/>
                </a:solidFill>
                <a:latin typeface="Inter"/>
              </a:rPr>
              <a:t>CI / cloud native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6446520" y="1234440"/>
            <a:ext cx="1051560" cy="45720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ctr"/>
            <a:r>
              <a:rPr sz="950" b="1" i="0">
                <a:solidFill>
                  <a:srgbClr val="701C7F"/>
                </a:solidFill>
                <a:latin typeface="Inter"/>
              </a:rPr>
              <a:t>Runs in vehicle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7498079" y="1234440"/>
            <a:ext cx="1051560" cy="45720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ctr"/>
            <a:r>
              <a:rPr sz="950" b="1" i="0">
                <a:solidFill>
                  <a:srgbClr val="701C7F"/>
                </a:solidFill>
                <a:latin typeface="Inter"/>
              </a:rPr>
              <a:t>Open source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548640" y="1810512"/>
            <a:ext cx="8046720" cy="594360"/>
          </a:xfrm>
          <a:prstGeom prst="roundRect">
            <a:avLst>
              <a:gd name="adj" fmla="val 8000"/>
            </a:avLst>
          </a:prstGeom>
          <a:solidFill>
            <a:srgbClr val="F1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2" name="TextBox 151"/>
          <p:cNvSpPr txBox="1"/>
          <p:nvPr/>
        </p:nvSpPr>
        <p:spPr>
          <a:xfrm>
            <a:off x="685800" y="1865376"/>
            <a:ext cx="2560320" cy="5029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00" b="1" i="0">
                <a:solidFill>
                  <a:srgbClr val="262626"/>
                </a:solidFill>
                <a:latin typeface="Inter"/>
              </a:rPr>
              <a:t>HIL test automation</a:t>
            </a:r>
          </a:p>
          <a:p>
            <a:pPr algn="l"/>
            <a:r>
              <a:rPr sz="850" b="0" i="0">
                <a:solidFill>
                  <a:srgbClr val="5F5F6B"/>
                </a:solidFill>
                <a:latin typeface="Inter"/>
              </a:rPr>
              <a:t>Vector · dSPACE · tracetronic</a:t>
            </a:r>
          </a:p>
        </p:txBody>
      </p:sp>
      <p:sp>
        <p:nvSpPr>
          <p:cNvPr id="153" name="Oval 152"/>
          <p:cNvSpPr/>
          <p:nvPr/>
        </p:nvSpPr>
        <p:spPr>
          <a:xfrm>
            <a:off x="3707891" y="1997964"/>
            <a:ext cx="219456" cy="219456"/>
          </a:xfrm>
          <a:prstGeom prst="ellipse">
            <a:avLst/>
          </a:prstGeom>
          <a:solidFill>
            <a:srgbClr val="701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" name="Oval 153"/>
          <p:cNvSpPr/>
          <p:nvPr/>
        </p:nvSpPr>
        <p:spPr>
          <a:xfrm>
            <a:off x="4759452" y="1997964"/>
            <a:ext cx="219456" cy="219456"/>
          </a:xfrm>
          <a:prstGeom prst="ellipse">
            <a:avLst/>
          </a:prstGeom>
          <a:solidFill>
            <a:srgbClr val="C9A5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5" name="Oval 154"/>
          <p:cNvSpPr/>
          <p:nvPr/>
        </p:nvSpPr>
        <p:spPr>
          <a:xfrm>
            <a:off x="5811012" y="1997964"/>
            <a:ext cx="219456" cy="219456"/>
          </a:xfrm>
          <a:prstGeom prst="ellipse">
            <a:avLst/>
          </a:prstGeom>
          <a:solidFill>
            <a:srgbClr val="C9A5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6" name="Oval 155"/>
          <p:cNvSpPr/>
          <p:nvPr/>
        </p:nvSpPr>
        <p:spPr>
          <a:xfrm>
            <a:off x="6862572" y="1997964"/>
            <a:ext cx="219456" cy="219456"/>
          </a:xfrm>
          <a:prstGeom prst="ellipse">
            <a:avLst/>
          </a:prstGeom>
          <a:noFill/>
          <a:ln w="12700">
            <a:solidFill>
              <a:srgbClr val="9A9A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7" name="Oval 156"/>
          <p:cNvSpPr/>
          <p:nvPr/>
        </p:nvSpPr>
        <p:spPr>
          <a:xfrm>
            <a:off x="7914131" y="1997964"/>
            <a:ext cx="219456" cy="219456"/>
          </a:xfrm>
          <a:prstGeom prst="ellipse">
            <a:avLst/>
          </a:prstGeom>
          <a:noFill/>
          <a:ln w="12700">
            <a:solidFill>
              <a:srgbClr val="9A9A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8" name="Rounded Rectangle 157"/>
          <p:cNvSpPr/>
          <p:nvPr/>
        </p:nvSpPr>
        <p:spPr>
          <a:xfrm>
            <a:off x="548640" y="2496312"/>
            <a:ext cx="8046720" cy="594360"/>
          </a:xfrm>
          <a:prstGeom prst="roundRect">
            <a:avLst>
              <a:gd name="adj" fmla="val 8000"/>
            </a:avLst>
          </a:prstGeom>
          <a:solidFill>
            <a:srgbClr val="F1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9" name="TextBox 158"/>
          <p:cNvSpPr txBox="1"/>
          <p:nvPr/>
        </p:nvSpPr>
        <p:spPr>
          <a:xfrm>
            <a:off x="685800" y="2551176"/>
            <a:ext cx="2560320" cy="5029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00" b="1" i="0">
                <a:solidFill>
                  <a:srgbClr val="262626"/>
                </a:solidFill>
                <a:latin typeface="Inter"/>
              </a:rPr>
              <a:t>Safety &amp; ALM tools</a:t>
            </a:r>
          </a:p>
          <a:p>
            <a:pPr algn="l"/>
            <a:r>
              <a:rPr sz="850" b="0" i="0">
                <a:solidFill>
                  <a:srgbClr val="5F5F6B"/>
                </a:solidFill>
                <a:latin typeface="Inter"/>
              </a:rPr>
              <a:t>Ansys medini · Polarion · Codebeamer</a:t>
            </a:r>
          </a:p>
        </p:txBody>
      </p:sp>
      <p:sp>
        <p:nvSpPr>
          <p:cNvPr id="160" name="Oval 159"/>
          <p:cNvSpPr/>
          <p:nvPr/>
        </p:nvSpPr>
        <p:spPr>
          <a:xfrm>
            <a:off x="3707891" y="2683764"/>
            <a:ext cx="219456" cy="219456"/>
          </a:xfrm>
          <a:prstGeom prst="ellipse">
            <a:avLst/>
          </a:prstGeom>
          <a:noFill/>
          <a:ln w="12700">
            <a:solidFill>
              <a:srgbClr val="9A9A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1" name="Oval 160"/>
          <p:cNvSpPr/>
          <p:nvPr/>
        </p:nvSpPr>
        <p:spPr>
          <a:xfrm>
            <a:off x="4759452" y="2683764"/>
            <a:ext cx="219456" cy="219456"/>
          </a:xfrm>
          <a:prstGeom prst="ellipse">
            <a:avLst/>
          </a:prstGeom>
          <a:solidFill>
            <a:srgbClr val="701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2" name="Oval 161"/>
          <p:cNvSpPr/>
          <p:nvPr/>
        </p:nvSpPr>
        <p:spPr>
          <a:xfrm>
            <a:off x="5811012" y="2683764"/>
            <a:ext cx="219456" cy="219456"/>
          </a:xfrm>
          <a:prstGeom prst="ellipse">
            <a:avLst/>
          </a:prstGeom>
          <a:solidFill>
            <a:srgbClr val="C9A5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3" name="Oval 162"/>
          <p:cNvSpPr/>
          <p:nvPr/>
        </p:nvSpPr>
        <p:spPr>
          <a:xfrm>
            <a:off x="6862572" y="2683764"/>
            <a:ext cx="219456" cy="219456"/>
          </a:xfrm>
          <a:prstGeom prst="ellipse">
            <a:avLst/>
          </a:prstGeom>
          <a:noFill/>
          <a:ln w="12700">
            <a:solidFill>
              <a:srgbClr val="9A9A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4" name="Oval 163"/>
          <p:cNvSpPr/>
          <p:nvPr/>
        </p:nvSpPr>
        <p:spPr>
          <a:xfrm>
            <a:off x="7914131" y="2683764"/>
            <a:ext cx="219456" cy="219456"/>
          </a:xfrm>
          <a:prstGeom prst="ellipse">
            <a:avLst/>
          </a:prstGeom>
          <a:noFill/>
          <a:ln w="12700">
            <a:solidFill>
              <a:srgbClr val="9A9A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5" name="Rounded Rectangle 164"/>
          <p:cNvSpPr/>
          <p:nvPr/>
        </p:nvSpPr>
        <p:spPr>
          <a:xfrm>
            <a:off x="548640" y="3182112"/>
            <a:ext cx="8046720" cy="594360"/>
          </a:xfrm>
          <a:prstGeom prst="roundRect">
            <a:avLst>
              <a:gd name="adj" fmla="val 8000"/>
            </a:avLst>
          </a:prstGeom>
          <a:solidFill>
            <a:srgbClr val="F4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6" name="TextBox 165"/>
          <p:cNvSpPr txBox="1"/>
          <p:nvPr/>
        </p:nvSpPr>
        <p:spPr>
          <a:xfrm>
            <a:off x="685800" y="3236976"/>
            <a:ext cx="2560320" cy="5029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00" b="1" i="0">
                <a:solidFill>
                  <a:srgbClr val="701C7F"/>
                </a:solidFill>
                <a:latin typeface="Inter"/>
              </a:rPr>
              <a:t>OTA Outlaws</a:t>
            </a:r>
          </a:p>
          <a:p>
            <a:pPr algn="l"/>
            <a:r>
              <a:rPr sz="850" b="0" i="0">
                <a:solidFill>
                  <a:srgbClr val="5F5F6B"/>
                </a:solidFill>
                <a:latin typeface="Inter"/>
              </a:rPr>
              <a:t>Safety Evidence Factory</a:t>
            </a:r>
          </a:p>
        </p:txBody>
      </p:sp>
      <p:sp>
        <p:nvSpPr>
          <p:cNvPr id="167" name="Oval 166"/>
          <p:cNvSpPr/>
          <p:nvPr/>
        </p:nvSpPr>
        <p:spPr>
          <a:xfrm>
            <a:off x="3707891" y="3369564"/>
            <a:ext cx="219456" cy="219456"/>
          </a:xfrm>
          <a:prstGeom prst="ellipse">
            <a:avLst/>
          </a:prstGeom>
          <a:solidFill>
            <a:srgbClr val="701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8" name="Oval 167"/>
          <p:cNvSpPr/>
          <p:nvPr/>
        </p:nvSpPr>
        <p:spPr>
          <a:xfrm>
            <a:off x="4759452" y="3369564"/>
            <a:ext cx="219456" cy="219456"/>
          </a:xfrm>
          <a:prstGeom prst="ellipse">
            <a:avLst/>
          </a:prstGeom>
          <a:solidFill>
            <a:srgbClr val="701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9" name="Oval 168"/>
          <p:cNvSpPr/>
          <p:nvPr/>
        </p:nvSpPr>
        <p:spPr>
          <a:xfrm>
            <a:off x="5811012" y="3369564"/>
            <a:ext cx="219456" cy="219456"/>
          </a:xfrm>
          <a:prstGeom prst="ellipse">
            <a:avLst/>
          </a:prstGeom>
          <a:solidFill>
            <a:srgbClr val="701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0" name="Oval 169"/>
          <p:cNvSpPr/>
          <p:nvPr/>
        </p:nvSpPr>
        <p:spPr>
          <a:xfrm>
            <a:off x="6862572" y="3369564"/>
            <a:ext cx="219456" cy="219456"/>
          </a:xfrm>
          <a:prstGeom prst="ellipse">
            <a:avLst/>
          </a:prstGeom>
          <a:solidFill>
            <a:srgbClr val="C9A5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1" name="Oval 170"/>
          <p:cNvSpPr/>
          <p:nvPr/>
        </p:nvSpPr>
        <p:spPr>
          <a:xfrm>
            <a:off x="7914131" y="3369564"/>
            <a:ext cx="219456" cy="219456"/>
          </a:xfrm>
          <a:prstGeom prst="ellipse">
            <a:avLst/>
          </a:prstGeom>
          <a:solidFill>
            <a:srgbClr val="701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2" name="Oval 171"/>
          <p:cNvSpPr/>
          <p:nvPr/>
        </p:nvSpPr>
        <p:spPr>
          <a:xfrm>
            <a:off x="557784" y="3886200"/>
            <a:ext cx="146304" cy="146304"/>
          </a:xfrm>
          <a:prstGeom prst="ellipse">
            <a:avLst/>
          </a:prstGeom>
          <a:solidFill>
            <a:srgbClr val="701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3" name="TextBox 172"/>
          <p:cNvSpPr txBox="1"/>
          <p:nvPr/>
        </p:nvSpPr>
        <p:spPr>
          <a:xfrm>
            <a:off x="777240" y="384048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850" b="0" i="0">
                <a:solidFill>
                  <a:srgbClr val="5F5F6B"/>
                </a:solidFill>
                <a:latin typeface="Inter"/>
              </a:rPr>
              <a:t>strong</a:t>
            </a:r>
          </a:p>
        </p:txBody>
      </p:sp>
      <p:sp>
        <p:nvSpPr>
          <p:cNvPr id="174" name="Oval 173"/>
          <p:cNvSpPr/>
          <p:nvPr/>
        </p:nvSpPr>
        <p:spPr>
          <a:xfrm>
            <a:off x="1700784" y="3886200"/>
            <a:ext cx="146304" cy="146304"/>
          </a:xfrm>
          <a:prstGeom prst="ellipse">
            <a:avLst/>
          </a:prstGeom>
          <a:solidFill>
            <a:srgbClr val="C9A5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" name="TextBox 174"/>
          <p:cNvSpPr txBox="1"/>
          <p:nvPr/>
        </p:nvSpPr>
        <p:spPr>
          <a:xfrm>
            <a:off x="1920240" y="384048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850" b="0" i="0">
                <a:solidFill>
                  <a:srgbClr val="5F5F6B"/>
                </a:solidFill>
                <a:latin typeface="Inter"/>
              </a:rPr>
              <a:t>partial</a:t>
            </a:r>
          </a:p>
        </p:txBody>
      </p:sp>
      <p:sp>
        <p:nvSpPr>
          <p:cNvPr id="176" name="Oval 175"/>
          <p:cNvSpPr/>
          <p:nvPr/>
        </p:nvSpPr>
        <p:spPr>
          <a:xfrm>
            <a:off x="2843784" y="3886200"/>
            <a:ext cx="146304" cy="146304"/>
          </a:xfrm>
          <a:prstGeom prst="ellipse">
            <a:avLst/>
          </a:prstGeom>
          <a:noFill/>
          <a:ln w="12700">
            <a:solidFill>
              <a:srgbClr val="9A9A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7" name="TextBox 176"/>
          <p:cNvSpPr txBox="1"/>
          <p:nvPr/>
        </p:nvSpPr>
        <p:spPr>
          <a:xfrm>
            <a:off x="3063240" y="384048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850" b="0" i="0">
                <a:solidFill>
                  <a:srgbClr val="5F5F6B"/>
                </a:solidFill>
                <a:latin typeface="Inter"/>
              </a:rPr>
              <a:t>not core focus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4023360" y="3840480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850" b="0" i="0">
                <a:solidFill>
                  <a:srgbClr val="5F5F6B"/>
                </a:solidFill>
                <a:latin typeface="Inter"/>
              </a:rPr>
              <a:t>Team assessment based on public product positioning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548640" y="4160520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1" i="0">
                <a:solidFill>
                  <a:srgbClr val="701C7F"/>
                </a:solidFill>
                <a:latin typeface="Inter"/>
              </a:rPr>
              <a:t>We complement HIL benches and ALM tools – and feed them live, traceable evidence.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4"/>
          <p:cNvSpPr txBox="1"/>
          <p:nvPr/>
        </p:nvSpPr>
        <p:spPr>
          <a:xfrm>
            <a:off x="971300" y="4808250"/>
            <a:ext cx="5334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Copyright© Eclipse Foundation AISBL and contributors. Made available under CC-BY-SA 4.0 International.</a:t>
            </a:r>
            <a:endParaRPr sz="700">
              <a:solidFill>
                <a:srgbClr val="59595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51" name="Google Shape;151;p24" title="SDV_logo-color01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475" y="4757277"/>
            <a:ext cx="684027" cy="255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4"/>
          <p:cNvSpPr txBox="1"/>
          <p:nvPr/>
        </p:nvSpPr>
        <p:spPr>
          <a:xfrm>
            <a:off x="712125" y="628750"/>
            <a:ext cx="73602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" sz="1820">
                <a:solidFill>
                  <a:srgbClr val="701C7F"/>
                </a:solidFill>
                <a:latin typeface="Inter"/>
                <a:ea typeface="Inter"/>
                <a:cs typeface="Inter"/>
                <a:sym typeface="Inter"/>
              </a:rPr>
              <a:t>Real Business Cases: Who Pays and Why</a:t>
            </a:r>
            <a:endParaRPr sz="400"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54" name="Rounded Rectangle 153"/>
          <p:cNvSpPr/>
          <p:nvPr/>
        </p:nvSpPr>
        <p:spPr>
          <a:xfrm>
            <a:off x="548640" y="1234440"/>
            <a:ext cx="3931920" cy="1554480"/>
          </a:xfrm>
          <a:prstGeom prst="roundRect">
            <a:avLst>
              <a:gd name="adj" fmla="val 8000"/>
            </a:avLst>
          </a:prstGeom>
          <a:solidFill>
            <a:srgbClr val="F1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5" name="Oval 154"/>
          <p:cNvSpPr/>
          <p:nvPr/>
        </p:nvSpPr>
        <p:spPr>
          <a:xfrm>
            <a:off x="731520" y="1399032"/>
            <a:ext cx="457200" cy="457200"/>
          </a:xfrm>
          <a:prstGeom prst="ellipse">
            <a:avLst/>
          </a:prstGeom>
          <a:solidFill>
            <a:srgbClr val="701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6" name="Picture 155" descr="FaCar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" y="1513332"/>
            <a:ext cx="228600" cy="228600"/>
          </a:xfrm>
          <a:prstGeom prst="rect">
            <a:avLst/>
          </a:prstGeom>
        </p:spPr>
      </p:pic>
      <p:sp>
        <p:nvSpPr>
          <p:cNvPr id="157" name="TextBox 156"/>
          <p:cNvSpPr txBox="1"/>
          <p:nvPr/>
        </p:nvSpPr>
        <p:spPr>
          <a:xfrm>
            <a:off x="1325880" y="1399032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00" b="1" i="0">
                <a:solidFill>
                  <a:srgbClr val="701C7F"/>
                </a:solidFill>
                <a:latin typeface="Inter"/>
              </a:rPr>
              <a:t>OEM – OTA release gate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731520" y="1965960"/>
            <a:ext cx="361188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262626"/>
                </a:solidFill>
                <a:latin typeface="Inter"/>
              </a:rPr>
              <a:t>Pain: </a:t>
            </a:r>
            <a:r>
              <a:rPr sz="950" b="0" i="0">
                <a:solidFill>
                  <a:srgbClr val="262626"/>
                </a:solidFill>
                <a:latin typeface="Inter"/>
              </a:rPr>
              <a:t>Every BMS software update must be re-verified and documented before rollout (UN R156).</a:t>
            </a:r>
          </a:p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701C7F"/>
                </a:solidFill>
                <a:latin typeface="Inter"/>
              </a:rPr>
              <a:t>We deliver: </a:t>
            </a:r>
            <a:r>
              <a:rPr sz="950" b="0" i="0">
                <a:solidFill>
                  <a:srgbClr val="262626"/>
                </a:solidFill>
                <a:latin typeface="Inter"/>
              </a:rPr>
              <a:t>Campaign runs in the release pipeline; evidence package attached to every release.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4663440" y="1234440"/>
            <a:ext cx="3931920" cy="1554480"/>
          </a:xfrm>
          <a:prstGeom prst="roundRect">
            <a:avLst>
              <a:gd name="adj" fmla="val 8000"/>
            </a:avLst>
          </a:prstGeom>
          <a:solidFill>
            <a:srgbClr val="F1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0" name="Oval 159"/>
          <p:cNvSpPr/>
          <p:nvPr/>
        </p:nvSpPr>
        <p:spPr>
          <a:xfrm>
            <a:off x="4846320" y="1399032"/>
            <a:ext cx="457200" cy="457200"/>
          </a:xfrm>
          <a:prstGeom prst="ellipse">
            <a:avLst/>
          </a:prstGeom>
          <a:solidFill>
            <a:srgbClr val="701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1" name="Picture 160" descr="FaMicrochip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0620" y="1513332"/>
            <a:ext cx="228600" cy="228600"/>
          </a:xfrm>
          <a:prstGeom prst="rect">
            <a:avLst/>
          </a:prstGeom>
        </p:spPr>
      </p:pic>
      <p:sp>
        <p:nvSpPr>
          <p:cNvPr id="162" name="TextBox 161"/>
          <p:cNvSpPr txBox="1"/>
          <p:nvPr/>
        </p:nvSpPr>
        <p:spPr>
          <a:xfrm>
            <a:off x="5440679" y="1399032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00" b="1" i="0">
                <a:solidFill>
                  <a:srgbClr val="701C7F"/>
                </a:solidFill>
                <a:latin typeface="Inter"/>
              </a:rPr>
              <a:t>Tier-1 BMS supplier – safety case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846320" y="1965960"/>
            <a:ext cx="361188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262626"/>
                </a:solidFill>
                <a:latin typeface="Inter"/>
              </a:rPr>
              <a:t>Pain: </a:t>
            </a:r>
            <a:r>
              <a:rPr sz="950" b="0" i="0">
                <a:solidFill>
                  <a:srgbClr val="262626"/>
                </a:solidFill>
                <a:latin typeface="Inter"/>
              </a:rPr>
              <a:t>OEMs demand ISO 26262 verification evidence for every software drop.</a:t>
            </a:r>
          </a:p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701C7F"/>
                </a:solidFill>
                <a:latin typeface="Inter"/>
              </a:rPr>
              <a:t>We deliver: </a:t>
            </a:r>
            <a:r>
              <a:rPr sz="950" b="0" i="0">
                <a:solidFill>
                  <a:srgbClr val="262626"/>
                </a:solidFill>
                <a:latin typeface="Inter"/>
              </a:rPr>
              <a:t>Traceable HE → SG → FSR → verdict reports, generated per delivery.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548640" y="2926080"/>
            <a:ext cx="3931920" cy="1554480"/>
          </a:xfrm>
          <a:prstGeom prst="roundRect">
            <a:avLst>
              <a:gd name="adj" fmla="val 8000"/>
            </a:avLst>
          </a:prstGeom>
          <a:solidFill>
            <a:srgbClr val="F1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5" name="Oval 164"/>
          <p:cNvSpPr/>
          <p:nvPr/>
        </p:nvSpPr>
        <p:spPr>
          <a:xfrm>
            <a:off x="731520" y="3090672"/>
            <a:ext cx="457200" cy="457200"/>
          </a:xfrm>
          <a:prstGeom prst="ellipse">
            <a:avLst/>
          </a:prstGeom>
          <a:solidFill>
            <a:srgbClr val="701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6" name="Picture 165" descr="FaBus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820" y="3204972"/>
            <a:ext cx="228600" cy="228600"/>
          </a:xfrm>
          <a:prstGeom prst="rect">
            <a:avLst/>
          </a:prstGeom>
        </p:spPr>
      </p:pic>
      <p:sp>
        <p:nvSpPr>
          <p:cNvPr id="167" name="TextBox 166"/>
          <p:cNvSpPr txBox="1"/>
          <p:nvPr/>
        </p:nvSpPr>
        <p:spPr>
          <a:xfrm>
            <a:off x="1325880" y="3090672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00" b="1" i="0">
                <a:solidFill>
                  <a:srgbClr val="701C7F"/>
                </a:solidFill>
                <a:latin typeface="Inter"/>
              </a:rPr>
              <a:t>E-bus &amp; e-truck fleets – field check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731520" y="3657600"/>
            <a:ext cx="361188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262626"/>
                </a:solidFill>
                <a:latin typeface="Inter"/>
              </a:rPr>
              <a:t>Pain: </a:t>
            </a:r>
            <a:r>
              <a:rPr sz="950" b="0" i="0">
                <a:solidFill>
                  <a:srgbClr val="262626"/>
                </a:solidFill>
                <a:latin typeface="Inter"/>
              </a:rPr>
              <a:t>Ageing sensors drift or stick; a silent monitor is a fire risk in the depot.</a:t>
            </a:r>
          </a:p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701C7F"/>
                </a:solidFill>
                <a:latin typeface="Inter"/>
              </a:rPr>
              <a:t>We deliver: </a:t>
            </a:r>
            <a:r>
              <a:rPr sz="950" b="0" i="0">
                <a:solidFill>
                  <a:srgbClr val="262626"/>
                </a:solidFill>
                <a:latin typeface="Inter"/>
              </a:rPr>
              <a:t>In-vehicle agent runs periodic self-tests; results exposed via OpenSOVD.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4663440" y="2926080"/>
            <a:ext cx="3931920" cy="1554480"/>
          </a:xfrm>
          <a:prstGeom prst="roundRect">
            <a:avLst>
              <a:gd name="adj" fmla="val 8000"/>
            </a:avLst>
          </a:prstGeom>
          <a:solidFill>
            <a:srgbClr val="F1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0" name="Oval 169"/>
          <p:cNvSpPr/>
          <p:nvPr/>
        </p:nvSpPr>
        <p:spPr>
          <a:xfrm>
            <a:off x="4846320" y="3090672"/>
            <a:ext cx="457200" cy="457200"/>
          </a:xfrm>
          <a:prstGeom prst="ellipse">
            <a:avLst/>
          </a:prstGeom>
          <a:solidFill>
            <a:srgbClr val="701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1" name="Picture 170" descr="FaClipboardCheck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60620" y="3204972"/>
            <a:ext cx="228600" cy="228600"/>
          </a:xfrm>
          <a:prstGeom prst="rect">
            <a:avLst/>
          </a:prstGeom>
        </p:spPr>
      </p:pic>
      <p:sp>
        <p:nvSpPr>
          <p:cNvPr id="172" name="TextBox 171"/>
          <p:cNvSpPr txBox="1"/>
          <p:nvPr/>
        </p:nvSpPr>
        <p:spPr>
          <a:xfrm>
            <a:off x="5440679" y="3090672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00" b="1" i="0">
                <a:solidFill>
                  <a:srgbClr val="701C7F"/>
                </a:solidFill>
                <a:latin typeface="Inter"/>
              </a:rPr>
              <a:t>Assessors &amp; technical services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846320" y="3657600"/>
            <a:ext cx="361188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262626"/>
                </a:solidFill>
                <a:latin typeface="Inter"/>
              </a:rPr>
              <a:t>Pain: </a:t>
            </a:r>
            <a:r>
              <a:rPr sz="950" b="0" i="0">
                <a:solidFill>
                  <a:srgbClr val="262626"/>
                </a:solidFill>
                <a:latin typeface="Inter"/>
              </a:rPr>
              <a:t>Assessors must trust test reports they cannot rerun themselves.</a:t>
            </a:r>
          </a:p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701C7F"/>
                </a:solidFill>
                <a:latin typeface="Inter"/>
              </a:rPr>
              <a:t>We deliver: </a:t>
            </a:r>
            <a:r>
              <a:rPr sz="950" b="0" i="0">
                <a:solidFill>
                  <a:srgbClr val="262626"/>
                </a:solidFill>
                <a:latin typeface="Inter"/>
              </a:rPr>
              <a:t>Replayable campaigns – any verdict can be reproduced independently.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/>
          <p:nvPr/>
        </p:nvSpPr>
        <p:spPr>
          <a:xfrm>
            <a:off x="971300" y="4808250"/>
            <a:ext cx="5334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Copyright© Eclipse Foundation AISBL and contributors. Made available under CC-BY-SA 4.0 International.</a:t>
            </a:r>
            <a:endParaRPr sz="700">
              <a:solidFill>
                <a:srgbClr val="59595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77" name="Google Shape;77;p15" title="SDV_logo-color01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475" y="4757277"/>
            <a:ext cx="684027" cy="25550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5"/>
          <p:cNvSpPr txBox="1"/>
          <p:nvPr/>
        </p:nvSpPr>
        <p:spPr>
          <a:xfrm>
            <a:off x="712125" y="628750"/>
            <a:ext cx="73602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" sz="1820">
                <a:solidFill>
                  <a:srgbClr val="701C7F"/>
                </a:solidFill>
                <a:latin typeface="Inter"/>
                <a:ea typeface="Inter"/>
                <a:cs typeface="Inter"/>
                <a:sym typeface="Inter"/>
              </a:rPr>
              <a:t>Business Model: Open Core, Paid Scale</a:t>
            </a:r>
            <a:endParaRPr sz="400"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80" name="Rounded Rectangle 79"/>
          <p:cNvSpPr/>
          <p:nvPr/>
        </p:nvSpPr>
        <p:spPr>
          <a:xfrm>
            <a:off x="548640" y="1234440"/>
            <a:ext cx="1874519" cy="2880360"/>
          </a:xfrm>
          <a:prstGeom prst="roundRect">
            <a:avLst>
              <a:gd name="adj" fmla="val 8000"/>
            </a:avLst>
          </a:prstGeom>
          <a:solidFill>
            <a:srgbClr val="F1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1" name="Oval 80"/>
          <p:cNvSpPr/>
          <p:nvPr/>
        </p:nvSpPr>
        <p:spPr>
          <a:xfrm>
            <a:off x="731520" y="1389888"/>
            <a:ext cx="502920" cy="502920"/>
          </a:xfrm>
          <a:prstGeom prst="ellipse">
            <a:avLst/>
          </a:prstGeom>
          <a:solidFill>
            <a:srgbClr val="5F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2" name="Picture 81" descr="FaCodeBranch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0" y="1515618"/>
            <a:ext cx="251460" cy="251460"/>
          </a:xfrm>
          <a:prstGeom prst="rect">
            <a:avLst/>
          </a:prstGeom>
        </p:spPr>
      </p:pic>
      <p:sp>
        <p:nvSpPr>
          <p:cNvPr id="83" name="TextBox 82"/>
          <p:cNvSpPr txBox="1"/>
          <p:nvPr/>
        </p:nvSpPr>
        <p:spPr>
          <a:xfrm>
            <a:off x="731520" y="201168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50" b="1" i="0">
                <a:solidFill>
                  <a:srgbClr val="262626"/>
                </a:solidFill>
                <a:latin typeface="Inter"/>
              </a:rPr>
              <a:t>Open-Source Core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31520" y="2514600"/>
            <a:ext cx="1554480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50" b="0" i="0">
                <a:solidFill>
                  <a:srgbClr val="262626"/>
                </a:solidFill>
                <a:latin typeface="Inter"/>
              </a:rPr>
              <a:t>Guardian patterns, campaign runner and contracts (EPL-2.0). Builds trust and adoption in Eclipse SDV.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685800" y="3520440"/>
            <a:ext cx="1600200" cy="457200"/>
          </a:xfrm>
          <a:prstGeom prst="roundRect">
            <a:avLst>
              <a:gd name="adj" fmla="val 8000"/>
            </a:avLst>
          </a:prstGeom>
          <a:solidFill>
            <a:srgbClr val="DAD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900" b="1" i="0">
                <a:solidFill>
                  <a:srgbClr val="262626"/>
                </a:solidFill>
                <a:latin typeface="Inter"/>
              </a:rPr>
              <a:t>Free</a:t>
            </a:r>
          </a:p>
          <a:p>
            <a:pPr algn="ctr"/>
            <a:r>
              <a:rPr sz="900" b="1" i="0">
                <a:solidFill>
                  <a:srgbClr val="262626"/>
                </a:solidFill>
                <a:latin typeface="Inter"/>
              </a:rPr>
              <a:t>adoption funnel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2606040" y="1234440"/>
            <a:ext cx="1874519" cy="2880360"/>
          </a:xfrm>
          <a:prstGeom prst="roundRect">
            <a:avLst>
              <a:gd name="adj" fmla="val 8000"/>
            </a:avLst>
          </a:prstGeom>
          <a:solidFill>
            <a:srgbClr val="F4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" name="Oval 86"/>
          <p:cNvSpPr/>
          <p:nvPr/>
        </p:nvSpPr>
        <p:spPr>
          <a:xfrm>
            <a:off x="2788920" y="1389888"/>
            <a:ext cx="502920" cy="502920"/>
          </a:xfrm>
          <a:prstGeom prst="ellipse">
            <a:avLst/>
          </a:prstGeom>
          <a:solidFill>
            <a:srgbClr val="701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8" name="Picture 87" descr="FaCloud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4650" y="1515618"/>
            <a:ext cx="251460" cy="251460"/>
          </a:xfrm>
          <a:prstGeom prst="rect">
            <a:avLst/>
          </a:prstGeom>
        </p:spPr>
      </p:pic>
      <p:sp>
        <p:nvSpPr>
          <p:cNvPr id="89" name="TextBox 88"/>
          <p:cNvSpPr txBox="1"/>
          <p:nvPr/>
        </p:nvSpPr>
        <p:spPr>
          <a:xfrm>
            <a:off x="2788920" y="201168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50" b="1" i="0">
                <a:solidFill>
                  <a:srgbClr val="701C7F"/>
                </a:solidFill>
                <a:latin typeface="Inter"/>
              </a:rPr>
              <a:t>Evidence Factory Cloud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788920" y="2514600"/>
            <a:ext cx="1554480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50" b="0" i="0">
                <a:solidFill>
                  <a:srgbClr val="262626"/>
                </a:solidFill>
                <a:latin typeface="Inter"/>
              </a:rPr>
              <a:t>Managed campaign runners, evidence archive and audit-ready reports.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2743200" y="3520440"/>
            <a:ext cx="1600200" cy="457200"/>
          </a:xfrm>
          <a:prstGeom prst="roundRect">
            <a:avLst>
              <a:gd name="adj" fmla="val 8000"/>
            </a:avLst>
          </a:prstGeom>
          <a:solidFill>
            <a:srgbClr val="701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900" b="1" i="0">
                <a:solidFill>
                  <a:srgbClr val="FFFFFF"/>
                </a:solidFill>
                <a:latin typeface="Inter"/>
              </a:rPr>
              <a:t>SaaS from €2.5k</a:t>
            </a:r>
          </a:p>
          <a:p>
            <a:pPr algn="ctr"/>
            <a:r>
              <a:rPr sz="900" b="1" i="0">
                <a:solidFill>
                  <a:srgbClr val="FFFFFF"/>
                </a:solidFill>
                <a:latin typeface="Inter"/>
              </a:rPr>
              <a:t>per project / month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4663440" y="1234440"/>
            <a:ext cx="1874519" cy="2880360"/>
          </a:xfrm>
          <a:prstGeom prst="roundRect">
            <a:avLst>
              <a:gd name="adj" fmla="val 8000"/>
            </a:avLst>
          </a:prstGeom>
          <a:solidFill>
            <a:srgbClr val="F4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" name="Oval 92"/>
          <p:cNvSpPr/>
          <p:nvPr/>
        </p:nvSpPr>
        <p:spPr>
          <a:xfrm>
            <a:off x="4846320" y="1389888"/>
            <a:ext cx="502920" cy="502920"/>
          </a:xfrm>
          <a:prstGeom prst="ellipse">
            <a:avLst/>
          </a:prstGeom>
          <a:solidFill>
            <a:srgbClr val="701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4" name="Picture 93" descr="FaMicrochip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72050" y="1515618"/>
            <a:ext cx="251460" cy="251460"/>
          </a:xfrm>
          <a:prstGeom prst="rect">
            <a:avLst/>
          </a:prstGeom>
        </p:spPr>
      </p:pic>
      <p:sp>
        <p:nvSpPr>
          <p:cNvPr id="95" name="TextBox 94"/>
          <p:cNvSpPr txBox="1"/>
          <p:nvPr/>
        </p:nvSpPr>
        <p:spPr>
          <a:xfrm>
            <a:off x="4846320" y="201168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50" b="1" i="0">
                <a:solidFill>
                  <a:srgbClr val="701C7F"/>
                </a:solidFill>
                <a:latin typeface="Inter"/>
              </a:rPr>
              <a:t>In-Vehicle Evidence Agent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846320" y="2514600"/>
            <a:ext cx="1554480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50" b="0" i="0">
                <a:solidFill>
                  <a:srgbClr val="262626"/>
                </a:solidFill>
                <a:latin typeface="Inter"/>
              </a:rPr>
              <a:t>Campaign runner for vehicle HPCs in validation fleets and the field.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4800600" y="3520440"/>
            <a:ext cx="1600200" cy="457200"/>
          </a:xfrm>
          <a:prstGeom prst="roundRect">
            <a:avLst>
              <a:gd name="adj" fmla="val 8000"/>
            </a:avLst>
          </a:prstGeom>
          <a:solidFill>
            <a:srgbClr val="701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900" b="1" i="0">
                <a:solidFill>
                  <a:srgbClr val="FFFFFF"/>
                </a:solidFill>
                <a:latin typeface="Inter"/>
              </a:rPr>
              <a:t>Platform licence</a:t>
            </a:r>
          </a:p>
          <a:p>
            <a:pPr algn="ctr"/>
            <a:r>
              <a:rPr sz="900" b="1" i="0">
                <a:solidFill>
                  <a:srgbClr val="FFFFFF"/>
                </a:solidFill>
                <a:latin typeface="Inter"/>
              </a:rPr>
              <a:t>+ per-vehicle fee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6720840" y="1234440"/>
            <a:ext cx="1874519" cy="2880360"/>
          </a:xfrm>
          <a:prstGeom prst="roundRect">
            <a:avLst>
              <a:gd name="adj" fmla="val 8000"/>
            </a:avLst>
          </a:prstGeom>
          <a:solidFill>
            <a:srgbClr val="F4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9" name="Oval 98"/>
          <p:cNvSpPr/>
          <p:nvPr/>
        </p:nvSpPr>
        <p:spPr>
          <a:xfrm>
            <a:off x="6903720" y="1389888"/>
            <a:ext cx="502920" cy="502920"/>
          </a:xfrm>
          <a:prstGeom prst="ellipse">
            <a:avLst/>
          </a:prstGeom>
          <a:solidFill>
            <a:srgbClr val="701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0" name="Picture 99" descr="FaUserTie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29450" y="1515618"/>
            <a:ext cx="251460" cy="251460"/>
          </a:xfrm>
          <a:prstGeom prst="rect">
            <a:avLst/>
          </a:prstGeom>
        </p:spPr>
      </p:pic>
      <p:sp>
        <p:nvSpPr>
          <p:cNvPr id="101" name="TextBox 100"/>
          <p:cNvSpPr txBox="1"/>
          <p:nvPr/>
        </p:nvSpPr>
        <p:spPr>
          <a:xfrm>
            <a:off x="6903720" y="201168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50" b="1" i="0">
                <a:solidFill>
                  <a:srgbClr val="701C7F"/>
                </a:solidFill>
                <a:latin typeface="Inter"/>
              </a:rPr>
              <a:t>Safety Engineering Services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903720" y="2514600"/>
            <a:ext cx="1554480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50" b="0" i="0">
                <a:solidFill>
                  <a:srgbClr val="262626"/>
                </a:solidFill>
                <a:latin typeface="Inter"/>
              </a:rPr>
              <a:t>HARA, safety concept and campaign setup for each new safety function.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6858000" y="3520440"/>
            <a:ext cx="1600200" cy="457200"/>
          </a:xfrm>
          <a:prstGeom prst="roundRect">
            <a:avLst>
              <a:gd name="adj" fmla="val 8000"/>
            </a:avLst>
          </a:prstGeom>
          <a:solidFill>
            <a:srgbClr val="701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900" b="1" i="0">
                <a:solidFill>
                  <a:srgbClr val="FFFFFF"/>
                </a:solidFill>
                <a:latin typeface="Inter"/>
              </a:rPr>
              <a:t>€40k fixed-price</a:t>
            </a:r>
          </a:p>
          <a:p>
            <a:pPr algn="ctr"/>
            <a:r>
              <a:rPr sz="900" b="1" i="0">
                <a:solidFill>
                  <a:srgbClr val="FFFFFF"/>
                </a:solidFill>
                <a:latin typeface="Inter"/>
              </a:rPr>
              <a:t>onboarding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48640" y="4224528"/>
            <a:ext cx="80467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0" i="0">
                <a:solidFill>
                  <a:srgbClr val="5F5F6B"/>
                </a:solidFill>
                <a:latin typeface="Inter"/>
              </a:rPr>
              <a:t>Recurring revenue from cloud and in-vehicle licences; services open the door. Prices are indicative and will be validated in pilots.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/>
          <p:nvPr/>
        </p:nvSpPr>
        <p:spPr>
          <a:xfrm>
            <a:off x="971300" y="4808250"/>
            <a:ext cx="5334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Copyright© Eclipse Foundation AISBL and contributors. Made available under CC-BY-SA 4.0 International.</a:t>
            </a:r>
            <a:endParaRPr sz="700">
              <a:solidFill>
                <a:srgbClr val="59595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77" name="Google Shape;77;p15" title="SDV_logo-color01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475" y="4757277"/>
            <a:ext cx="684027" cy="25550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5"/>
          <p:cNvSpPr txBox="1"/>
          <p:nvPr/>
        </p:nvSpPr>
        <p:spPr>
          <a:xfrm>
            <a:off x="712125" y="628750"/>
            <a:ext cx="73602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" sz="1820">
                <a:solidFill>
                  <a:srgbClr val="701C7F"/>
                </a:solidFill>
                <a:latin typeface="Inter"/>
                <a:ea typeface="Inter"/>
                <a:cs typeface="Inter"/>
                <a:sym typeface="Inter"/>
              </a:rPr>
              <a:t>Business Case: One Safety Function, One Year</a:t>
            </a:r>
            <a:endParaRPr sz="400"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80" name="Rounded Rectangle 79"/>
          <p:cNvSpPr/>
          <p:nvPr/>
        </p:nvSpPr>
        <p:spPr>
          <a:xfrm>
            <a:off x="548640" y="1234440"/>
            <a:ext cx="3291840" cy="3246120"/>
          </a:xfrm>
          <a:prstGeom prst="roundRect">
            <a:avLst>
              <a:gd name="adj" fmla="val 8000"/>
            </a:avLst>
          </a:prstGeom>
          <a:solidFill>
            <a:srgbClr val="F1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1" name="TextBox 80"/>
          <p:cNvSpPr txBox="1"/>
          <p:nvPr/>
        </p:nvSpPr>
        <p:spPr>
          <a:xfrm>
            <a:off x="731520" y="1353312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701C7F"/>
                </a:solidFill>
                <a:latin typeface="Inter"/>
              </a:rPr>
              <a:t>Assumptions per safety function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31520" y="1737360"/>
            <a:ext cx="86868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300" b="1" i="0">
                <a:solidFill>
                  <a:srgbClr val="701C7F"/>
                </a:solidFill>
                <a:latin typeface="Inter"/>
              </a:rPr>
              <a:t>12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645920" y="173736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950" b="0" i="0">
                <a:solidFill>
                  <a:srgbClr val="262626"/>
                </a:solidFill>
                <a:latin typeface="Inter"/>
              </a:rPr>
              <a:t>OTA releases per year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31520" y="2267712"/>
            <a:ext cx="86868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300" b="1" i="0">
                <a:solidFill>
                  <a:srgbClr val="701C7F"/>
                </a:solidFill>
                <a:latin typeface="Inter"/>
              </a:rPr>
              <a:t>8 + 3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645920" y="2267712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950" b="0" i="0">
                <a:solidFill>
                  <a:srgbClr val="262626"/>
                </a:solidFill>
                <a:latin typeface="Inter"/>
              </a:rPr>
              <a:t>engineer days + HIL bench days per release (manual)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31520" y="2798063"/>
            <a:ext cx="86868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300" b="1" i="0">
                <a:solidFill>
                  <a:srgbClr val="701C7F"/>
                </a:solidFill>
                <a:latin typeface="Inter"/>
              </a:rPr>
              <a:t>€1,000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645920" y="2798063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950" b="0" i="0">
                <a:solidFill>
                  <a:srgbClr val="262626"/>
                </a:solidFill>
                <a:latin typeface="Inter"/>
              </a:rPr>
              <a:t>per engineer day · €800 per HIL bench day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31520" y="3328415"/>
            <a:ext cx="86868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300" b="1" i="0">
                <a:solidFill>
                  <a:srgbClr val="701C7F"/>
                </a:solidFill>
                <a:latin typeface="Inter"/>
              </a:rPr>
              <a:t>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645920" y="3328415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950" b="0" i="0">
                <a:solidFill>
                  <a:srgbClr val="262626"/>
                </a:solidFill>
                <a:latin typeface="Inter"/>
              </a:rPr>
              <a:t>review day per release with the factory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31520" y="3858768"/>
            <a:ext cx="86868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300" b="1" i="0">
                <a:solidFill>
                  <a:srgbClr val="701C7F"/>
                </a:solidFill>
                <a:latin typeface="Inter"/>
              </a:rPr>
              <a:t>€2.5k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645920" y="3858768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950" b="0" i="0">
                <a:solidFill>
                  <a:srgbClr val="262626"/>
                </a:solidFill>
                <a:latin typeface="Inter"/>
              </a:rPr>
              <a:t>cloud per month · €40k one-time onboarding</a:t>
            </a:r>
          </a:p>
        </p:txBody>
      </p:sp>
      <p:graphicFrame>
        <p:nvGraphicFramePr>
          <p:cNvPr id="92" name="Chart 91"/>
          <p:cNvGraphicFramePr>
            <a:graphicFrameLocks noGrp="1"/>
          </p:cNvGraphicFramePr>
          <p:nvPr/>
        </p:nvGraphicFramePr>
        <p:xfrm>
          <a:off x="4069080" y="1188720"/>
          <a:ext cx="4526280" cy="2331720"/>
        </p:xfrm>
        <a:graphic>
          <a:graphicData uri="http://schemas.openxmlformats.org/drawingml/2006/chart">
            <c:chart r:id="rId2"/>
          </a:graphicData>
        </a:graphic>
      </p:graphicFrame>
      <p:sp>
        <p:nvSpPr>
          <p:cNvPr id="93" name="TextBox 92"/>
          <p:cNvSpPr txBox="1"/>
          <p:nvPr/>
        </p:nvSpPr>
        <p:spPr>
          <a:xfrm>
            <a:off x="4069080" y="3611880"/>
            <a:ext cx="1234440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600" b="1" i="0">
                <a:solidFill>
                  <a:srgbClr val="DB521D"/>
                </a:solidFill>
                <a:latin typeface="Inter"/>
              </a:rPr>
              <a:t>−66 %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349240" y="3611880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1" i="0">
                <a:solidFill>
                  <a:srgbClr val="262626"/>
                </a:solidFill>
                <a:latin typeface="Inter"/>
              </a:rPr>
              <a:t>cost from year 2 · payback ≈ 6 months · evidence on every release instead of samples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069080" y="4206240"/>
            <a:ext cx="45262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800" b="0" i="0">
                <a:solidFill>
                  <a:srgbClr val="5F5F6B"/>
                </a:solidFill>
                <a:latin typeface="Inter"/>
              </a:rPr>
              <a:t>Illustrative – to be validated with pilot customers. One vehicle platform has dozens of such safety monitors.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/>
          <p:nvPr/>
        </p:nvSpPr>
        <p:spPr>
          <a:xfrm>
            <a:off x="971300" y="4808250"/>
            <a:ext cx="5334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Copyright© Eclipse Foundation AISBL and contributors. Made available under CC-BY-SA 4.0 International.</a:t>
            </a:r>
            <a:endParaRPr sz="700">
              <a:solidFill>
                <a:srgbClr val="59595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77" name="Google Shape;77;p15" title="SDV_logo-color01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475" y="4757277"/>
            <a:ext cx="684027" cy="25550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5"/>
          <p:cNvSpPr txBox="1"/>
          <p:nvPr/>
        </p:nvSpPr>
        <p:spPr>
          <a:xfrm>
            <a:off x="712125" y="628750"/>
            <a:ext cx="73602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" sz="1820">
                <a:solidFill>
                  <a:srgbClr val="701C7F"/>
                </a:solidFill>
                <a:latin typeface="Inter"/>
                <a:ea typeface="Inter"/>
                <a:cs typeface="Inter"/>
                <a:sym typeface="Inter"/>
              </a:rPr>
              <a:t>Roadmap and Funding Ask</a:t>
            </a:r>
            <a:endParaRPr sz="400"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80" name="Rounded Rectangle 79"/>
          <p:cNvSpPr/>
          <p:nvPr/>
        </p:nvSpPr>
        <p:spPr>
          <a:xfrm>
            <a:off x="548640" y="1234440"/>
            <a:ext cx="2560320" cy="1600200"/>
          </a:xfrm>
          <a:prstGeom prst="roundRect">
            <a:avLst>
              <a:gd name="adj" fmla="val 8000"/>
            </a:avLst>
          </a:prstGeom>
          <a:solidFill>
            <a:srgbClr val="F4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1" name="TextBox 80"/>
          <p:cNvSpPr txBox="1"/>
          <p:nvPr/>
        </p:nvSpPr>
        <p:spPr>
          <a:xfrm>
            <a:off x="731520" y="1325880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850" b="1" i="0">
                <a:solidFill>
                  <a:srgbClr val="5F5F6B"/>
                </a:solidFill>
                <a:latin typeface="Inter"/>
              </a:rPr>
              <a:t>Q4 2026 – Q1 2027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31520" y="155448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50" b="1" i="0">
                <a:solidFill>
                  <a:srgbClr val="701C7F"/>
                </a:solidFill>
                <a:latin typeface="Inter"/>
              </a:rPr>
              <a:t>1 · Harden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31520" y="1920240"/>
            <a:ext cx="2286000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128016" indent="-128016">
              <a:spcAft>
                <a:spcPts val="200"/>
              </a:spcAft>
              <a:buChar char="•"/>
            </a:pPr>
            <a:r>
              <a:rPr sz="950" b="0" i="0">
                <a:solidFill>
                  <a:srgbClr val="262626"/>
                </a:solidFill>
                <a:latin typeface="Inter"/>
              </a:rPr>
              <a:t>Remote reruns via openDuT</a:t>
            </a:r>
          </a:p>
          <a:p>
            <a:pPr algn="l" marL="128016" indent="-128016">
              <a:spcAft>
                <a:spcPts val="200"/>
              </a:spcAft>
              <a:buChar char="•"/>
            </a:pPr>
            <a:r>
              <a:rPr sz="950" b="0" i="0">
                <a:solidFill>
                  <a:srgbClr val="262626"/>
                </a:solidFill>
                <a:latin typeface="Inter"/>
              </a:rPr>
              <a:t>Ankaios / AutoSD orchestration</a:t>
            </a:r>
          </a:p>
          <a:p>
            <a:pPr algn="l" marL="128016" indent="-128016">
              <a:spcAft>
                <a:spcPts val="200"/>
              </a:spcAft>
              <a:buChar char="•"/>
            </a:pPr>
            <a:r>
              <a:rPr sz="950" b="0" i="0">
                <a:solidFill>
                  <a:srgbClr val="262626"/>
                </a:solidFill>
                <a:latin typeface="Inter"/>
              </a:rPr>
              <a:t>Durable DFM storage, fix open findings</a:t>
            </a:r>
          </a:p>
        </p:txBody>
      </p:sp>
      <p:sp>
        <p:nvSpPr>
          <p:cNvPr id="84" name="Right Arrow 83"/>
          <p:cNvSpPr/>
          <p:nvPr/>
        </p:nvSpPr>
        <p:spPr>
          <a:xfrm>
            <a:off x="3127248" y="1947672"/>
            <a:ext cx="146304" cy="182880"/>
          </a:xfrm>
          <a:prstGeom prst="rightArrow">
            <a:avLst/>
          </a:prstGeom>
          <a:solidFill>
            <a:srgbClr val="C9A5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" name="Rounded Rectangle 84"/>
          <p:cNvSpPr/>
          <p:nvPr/>
        </p:nvSpPr>
        <p:spPr>
          <a:xfrm>
            <a:off x="3291840" y="1234440"/>
            <a:ext cx="2560320" cy="1600200"/>
          </a:xfrm>
          <a:prstGeom prst="roundRect">
            <a:avLst>
              <a:gd name="adj" fmla="val 8000"/>
            </a:avLst>
          </a:prstGeom>
          <a:solidFill>
            <a:srgbClr val="F4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TextBox 85"/>
          <p:cNvSpPr txBox="1"/>
          <p:nvPr/>
        </p:nvSpPr>
        <p:spPr>
          <a:xfrm>
            <a:off x="3474720" y="1325880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850" b="1" i="0">
                <a:solidFill>
                  <a:srgbClr val="5F5F6B"/>
                </a:solidFill>
                <a:latin typeface="Inter"/>
              </a:rPr>
              <a:t>Q2 – Q3 2027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74720" y="155448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50" b="1" i="0">
                <a:solidFill>
                  <a:srgbClr val="701C7F"/>
                </a:solidFill>
                <a:latin typeface="Inter"/>
              </a:rPr>
              <a:t>2 · Pilot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474720" y="1920240"/>
            <a:ext cx="2286000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128016" indent="-128016">
              <a:spcAft>
                <a:spcPts val="200"/>
              </a:spcAft>
              <a:buChar char="•"/>
            </a:pPr>
            <a:r>
              <a:rPr sz="950" b="0" i="0">
                <a:solidFill>
                  <a:srgbClr val="262626"/>
                </a:solidFill>
                <a:latin typeface="Inter"/>
              </a:rPr>
              <a:t>2 paid pilots: OEM + Tier-1</a:t>
            </a:r>
          </a:p>
          <a:p>
            <a:pPr algn="l" marL="128016" indent="-128016">
              <a:spcAft>
                <a:spcPts val="200"/>
              </a:spcAft>
              <a:buChar char="•"/>
            </a:pPr>
            <a:r>
              <a:rPr sz="950" b="0" i="0">
                <a:solidFill>
                  <a:srgbClr val="262626"/>
                </a:solidFill>
                <a:latin typeface="Inter"/>
              </a:rPr>
              <a:t>Publish as SDV Blueprint</a:t>
            </a:r>
          </a:p>
          <a:p>
            <a:pPr algn="l" marL="128016" indent="-128016">
              <a:spcAft>
                <a:spcPts val="200"/>
              </a:spcAft>
              <a:buChar char="•"/>
            </a:pPr>
            <a:r>
              <a:rPr sz="950" b="0" i="0">
                <a:solidFill>
                  <a:srgbClr val="262626"/>
                </a:solidFill>
                <a:latin typeface="Inter"/>
              </a:rPr>
              <a:t>First managed cloud runners</a:t>
            </a:r>
          </a:p>
        </p:txBody>
      </p:sp>
      <p:sp>
        <p:nvSpPr>
          <p:cNvPr id="89" name="Right Arrow 88"/>
          <p:cNvSpPr/>
          <p:nvPr/>
        </p:nvSpPr>
        <p:spPr>
          <a:xfrm>
            <a:off x="5870448" y="1947672"/>
            <a:ext cx="146304" cy="182880"/>
          </a:xfrm>
          <a:prstGeom prst="rightArrow">
            <a:avLst/>
          </a:prstGeom>
          <a:solidFill>
            <a:srgbClr val="C9A5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" name="Rounded Rectangle 89"/>
          <p:cNvSpPr/>
          <p:nvPr/>
        </p:nvSpPr>
        <p:spPr>
          <a:xfrm>
            <a:off x="6035040" y="1234440"/>
            <a:ext cx="2560320" cy="1600200"/>
          </a:xfrm>
          <a:prstGeom prst="roundRect">
            <a:avLst>
              <a:gd name="adj" fmla="val 8000"/>
            </a:avLst>
          </a:prstGeom>
          <a:solidFill>
            <a:srgbClr val="F4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" name="TextBox 90"/>
          <p:cNvSpPr txBox="1"/>
          <p:nvPr/>
        </p:nvSpPr>
        <p:spPr>
          <a:xfrm>
            <a:off x="6217920" y="1325880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850" b="1" i="0">
                <a:solidFill>
                  <a:srgbClr val="5F5F6B"/>
                </a:solidFill>
                <a:latin typeface="Inter"/>
              </a:rPr>
              <a:t>Q4 2027 – 2028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217920" y="155448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50" b="1" i="0">
                <a:solidFill>
                  <a:srgbClr val="701C7F"/>
                </a:solidFill>
                <a:latin typeface="Inter"/>
              </a:rPr>
              <a:t>3 · Scale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217920" y="1920240"/>
            <a:ext cx="2286000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128016" indent="-128016">
              <a:spcAft>
                <a:spcPts val="200"/>
              </a:spcAft>
              <a:buChar char="•"/>
            </a:pPr>
            <a:r>
              <a:rPr sz="950" b="0" i="0">
                <a:solidFill>
                  <a:srgbClr val="262626"/>
                </a:solidFill>
                <a:latin typeface="Inter"/>
              </a:rPr>
              <a:t>ISO 26262 tool qualification</a:t>
            </a:r>
          </a:p>
          <a:p>
            <a:pPr algn="l" marL="128016" indent="-128016">
              <a:spcAft>
                <a:spcPts val="200"/>
              </a:spcAft>
              <a:buChar char="•"/>
            </a:pPr>
            <a:r>
              <a:rPr sz="950" b="0" i="0">
                <a:solidFill>
                  <a:srgbClr val="262626"/>
                </a:solidFill>
                <a:latin typeface="Inter"/>
              </a:rPr>
              <a:t>SaaS general availability</a:t>
            </a:r>
          </a:p>
          <a:p>
            <a:pPr algn="l" marL="128016" indent="-128016">
              <a:spcAft>
                <a:spcPts val="200"/>
              </a:spcAft>
              <a:buChar char="•"/>
            </a:pPr>
            <a:r>
              <a:rPr sz="950" b="0" i="0">
                <a:solidFill>
                  <a:srgbClr val="262626"/>
                </a:solidFill>
                <a:latin typeface="Inter"/>
              </a:rPr>
              <a:t>Beyond BMS: ADAS monitors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48640" y="306324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800" b="1" i="0">
                <a:solidFill>
                  <a:srgbClr val="701C7F"/>
                </a:solidFill>
                <a:latin typeface="Inter"/>
              </a:rPr>
              <a:t>Ask: €1.2 M seed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48640" y="352044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0">
                <a:solidFill>
                  <a:srgbClr val="262626"/>
                </a:solidFill>
                <a:latin typeface="Inter"/>
              </a:rPr>
              <a:t>18 months runway to two paying pilots and a qualified tool chain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474720" y="3127248"/>
            <a:ext cx="3072384" cy="384048"/>
          </a:xfrm>
          <a:prstGeom prst="rect">
            <a:avLst/>
          </a:prstGeom>
          <a:solidFill>
            <a:srgbClr val="2D1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Inter"/>
              </a:rPr>
              <a:t>60 %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547104" y="3127248"/>
            <a:ext cx="768096" cy="384048"/>
          </a:xfrm>
          <a:prstGeom prst="rect">
            <a:avLst/>
          </a:prstGeom>
          <a:solidFill>
            <a:srgbClr val="701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Inter"/>
              </a:rPr>
              <a:t>15 %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315200" y="3127248"/>
            <a:ext cx="768096" cy="384048"/>
          </a:xfrm>
          <a:prstGeom prst="rect">
            <a:avLst/>
          </a:prstGeom>
          <a:solidFill>
            <a:srgbClr val="AB0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Inter"/>
              </a:rPr>
              <a:t>15 %</a:t>
            </a:r>
          </a:p>
        </p:txBody>
      </p:sp>
      <p:sp>
        <p:nvSpPr>
          <p:cNvPr id="99" name="Rectangle 98"/>
          <p:cNvSpPr/>
          <p:nvPr/>
        </p:nvSpPr>
        <p:spPr>
          <a:xfrm>
            <a:off x="8083296" y="3127248"/>
            <a:ext cx="512063" cy="384048"/>
          </a:xfrm>
          <a:prstGeom prst="rect">
            <a:avLst/>
          </a:prstGeom>
          <a:solidFill>
            <a:srgbClr val="DB52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Inter"/>
              </a:rPr>
              <a:t>10 %</a:t>
            </a:r>
          </a:p>
        </p:txBody>
      </p:sp>
      <p:sp>
        <p:nvSpPr>
          <p:cNvPr id="100" name="Oval 99"/>
          <p:cNvSpPr/>
          <p:nvPr/>
        </p:nvSpPr>
        <p:spPr>
          <a:xfrm>
            <a:off x="3474720" y="3739896"/>
            <a:ext cx="146304" cy="146304"/>
          </a:xfrm>
          <a:prstGeom prst="ellipse">
            <a:avLst/>
          </a:prstGeom>
          <a:solidFill>
            <a:srgbClr val="2D1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1" name="TextBox 100"/>
          <p:cNvSpPr txBox="1"/>
          <p:nvPr/>
        </p:nvSpPr>
        <p:spPr>
          <a:xfrm>
            <a:off x="3694176" y="3675887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900" b="1" i="0">
                <a:solidFill>
                  <a:srgbClr val="262626"/>
                </a:solidFill>
                <a:latin typeface="Inter"/>
              </a:rPr>
              <a:t>€720k  </a:t>
            </a:r>
            <a:r>
              <a:rPr sz="900" b="0" i="0">
                <a:solidFill>
                  <a:srgbClr val="262626"/>
                </a:solidFill>
                <a:latin typeface="Inter"/>
              </a:rPr>
              <a:t>Engineering team (5 FTE)</a:t>
            </a:r>
          </a:p>
        </p:txBody>
      </p:sp>
      <p:sp>
        <p:nvSpPr>
          <p:cNvPr id="102" name="Oval 101"/>
          <p:cNvSpPr/>
          <p:nvPr/>
        </p:nvSpPr>
        <p:spPr>
          <a:xfrm>
            <a:off x="6080760" y="3739896"/>
            <a:ext cx="146304" cy="146304"/>
          </a:xfrm>
          <a:prstGeom prst="ellipse">
            <a:avLst/>
          </a:prstGeom>
          <a:solidFill>
            <a:srgbClr val="701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" name="TextBox 102"/>
          <p:cNvSpPr txBox="1"/>
          <p:nvPr/>
        </p:nvSpPr>
        <p:spPr>
          <a:xfrm>
            <a:off x="6300216" y="3675887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900" b="1" i="0">
                <a:solidFill>
                  <a:srgbClr val="262626"/>
                </a:solidFill>
                <a:latin typeface="Inter"/>
              </a:rPr>
              <a:t>€180k  </a:t>
            </a:r>
            <a:r>
              <a:rPr sz="900" b="0" i="0">
                <a:solidFill>
                  <a:srgbClr val="262626"/>
                </a:solidFill>
                <a:latin typeface="Inter"/>
              </a:rPr>
              <a:t>Tool qualification &amp; certification</a:t>
            </a:r>
          </a:p>
        </p:txBody>
      </p:sp>
      <p:sp>
        <p:nvSpPr>
          <p:cNvPr id="104" name="Oval 103"/>
          <p:cNvSpPr/>
          <p:nvPr/>
        </p:nvSpPr>
        <p:spPr>
          <a:xfrm>
            <a:off x="3474720" y="4105656"/>
            <a:ext cx="146304" cy="146304"/>
          </a:xfrm>
          <a:prstGeom prst="ellipse">
            <a:avLst/>
          </a:prstGeom>
          <a:solidFill>
            <a:srgbClr val="AB0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5" name="TextBox 104"/>
          <p:cNvSpPr txBox="1"/>
          <p:nvPr/>
        </p:nvSpPr>
        <p:spPr>
          <a:xfrm>
            <a:off x="3694176" y="4041648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900" b="1" i="0">
                <a:solidFill>
                  <a:srgbClr val="262626"/>
                </a:solidFill>
                <a:latin typeface="Inter"/>
              </a:rPr>
              <a:t>€180k  </a:t>
            </a:r>
            <a:r>
              <a:rPr sz="900" b="0" i="0">
                <a:solidFill>
                  <a:srgbClr val="262626"/>
                </a:solidFill>
                <a:latin typeface="Inter"/>
              </a:rPr>
              <a:t>Pilots &amp; go-to-market</a:t>
            </a:r>
          </a:p>
        </p:txBody>
      </p:sp>
      <p:sp>
        <p:nvSpPr>
          <p:cNvPr id="106" name="Oval 105"/>
          <p:cNvSpPr/>
          <p:nvPr/>
        </p:nvSpPr>
        <p:spPr>
          <a:xfrm>
            <a:off x="6080760" y="4105656"/>
            <a:ext cx="146304" cy="146304"/>
          </a:xfrm>
          <a:prstGeom prst="ellipse">
            <a:avLst/>
          </a:prstGeom>
          <a:solidFill>
            <a:srgbClr val="DB52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TextBox 106"/>
          <p:cNvSpPr txBox="1"/>
          <p:nvPr/>
        </p:nvSpPr>
        <p:spPr>
          <a:xfrm>
            <a:off x="6300216" y="4041648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900" b="1" i="0">
                <a:solidFill>
                  <a:srgbClr val="262626"/>
                </a:solidFill>
                <a:latin typeface="Inter"/>
              </a:rPr>
              <a:t>€120k  </a:t>
            </a:r>
            <a:r>
              <a:rPr sz="900" b="0" i="0">
                <a:solidFill>
                  <a:srgbClr val="262626"/>
                </a:solidFill>
                <a:latin typeface="Inter"/>
              </a:rPr>
              <a:t>Cloud infrastructure &amp; hardware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/>
          <p:nvPr/>
        </p:nvSpPr>
        <p:spPr>
          <a:xfrm>
            <a:off x="971300" y="4808250"/>
            <a:ext cx="5334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Copyright© Eclipse Foundation AISBL and contributors. Made available under CC-BY-SA 4.0 International.</a:t>
            </a:r>
            <a:endParaRPr sz="700">
              <a:solidFill>
                <a:srgbClr val="59595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77" name="Google Shape;77;p15" title="SDV_logo-color01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475" y="4757277"/>
            <a:ext cx="684027" cy="25550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5"/>
          <p:cNvSpPr txBox="1"/>
          <p:nvPr/>
        </p:nvSpPr>
        <p:spPr>
          <a:xfrm>
            <a:off x="712125" y="628750"/>
            <a:ext cx="73602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" sz="1820">
                <a:solidFill>
                  <a:srgbClr val="701C7F"/>
                </a:solidFill>
                <a:latin typeface="Inter"/>
                <a:ea typeface="Inter"/>
                <a:cs typeface="Inter"/>
                <a:sym typeface="Inter"/>
              </a:rPr>
              <a:t>Team and Contact</a:t>
            </a:r>
            <a:endParaRPr sz="400"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80" name="Rounded Rectangle 79"/>
          <p:cNvSpPr/>
          <p:nvPr/>
        </p:nvSpPr>
        <p:spPr>
          <a:xfrm>
            <a:off x="548640" y="1234440"/>
            <a:ext cx="2560320" cy="896112"/>
          </a:xfrm>
          <a:prstGeom prst="roundRect">
            <a:avLst>
              <a:gd name="adj" fmla="val 8000"/>
            </a:avLst>
          </a:prstGeom>
          <a:solidFill>
            <a:srgbClr val="F4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1" name="Oval 80"/>
          <p:cNvSpPr/>
          <p:nvPr/>
        </p:nvSpPr>
        <p:spPr>
          <a:xfrm>
            <a:off x="713232" y="1408176"/>
            <a:ext cx="548640" cy="548640"/>
          </a:xfrm>
          <a:prstGeom prst="ellipse">
            <a:avLst/>
          </a:prstGeom>
          <a:solidFill>
            <a:srgbClr val="701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Inter"/>
              </a:rPr>
              <a:t>J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417319" y="1344168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1" i="0">
                <a:solidFill>
                  <a:srgbClr val="701C7F"/>
                </a:solidFill>
                <a:latin typeface="Inter"/>
              </a:rPr>
              <a:t>Jens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417319" y="1618488"/>
            <a:ext cx="16002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0" i="0">
                <a:solidFill>
                  <a:srgbClr val="262626"/>
                </a:solidFill>
                <a:latin typeface="Inter"/>
              </a:rPr>
              <a:t>Project lead, requirements &amp; safety engineering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3291840" y="1234440"/>
            <a:ext cx="2560320" cy="896112"/>
          </a:xfrm>
          <a:prstGeom prst="roundRect">
            <a:avLst>
              <a:gd name="adj" fmla="val 8000"/>
            </a:avLst>
          </a:prstGeom>
          <a:solidFill>
            <a:srgbClr val="F4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" name="Oval 84"/>
          <p:cNvSpPr/>
          <p:nvPr/>
        </p:nvSpPr>
        <p:spPr>
          <a:xfrm>
            <a:off x="3456432" y="1408176"/>
            <a:ext cx="548640" cy="548640"/>
          </a:xfrm>
          <a:prstGeom prst="ellipse">
            <a:avLst/>
          </a:prstGeom>
          <a:solidFill>
            <a:srgbClr val="2D1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Inter"/>
              </a:rPr>
              <a:t>S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160520" y="1344168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1" i="0">
                <a:solidFill>
                  <a:srgbClr val="701C7F"/>
                </a:solidFill>
                <a:latin typeface="Inter"/>
              </a:rPr>
              <a:t>Sopan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160520" y="1618488"/>
            <a:ext cx="16002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0" i="0">
                <a:solidFill>
                  <a:srgbClr val="262626"/>
                </a:solidFill>
                <a:latin typeface="Inter"/>
              </a:rPr>
              <a:t>CAN &amp; ThreadX sensor ECU (AZ3166)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6035040" y="1234440"/>
            <a:ext cx="2560320" cy="896112"/>
          </a:xfrm>
          <a:prstGeom prst="roundRect">
            <a:avLst>
              <a:gd name="adj" fmla="val 8000"/>
            </a:avLst>
          </a:prstGeom>
          <a:solidFill>
            <a:srgbClr val="F4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" name="Oval 88"/>
          <p:cNvSpPr/>
          <p:nvPr/>
        </p:nvSpPr>
        <p:spPr>
          <a:xfrm>
            <a:off x="6199631" y="1408176"/>
            <a:ext cx="548640" cy="548640"/>
          </a:xfrm>
          <a:prstGeom prst="ellipse">
            <a:avLst/>
          </a:prstGeom>
          <a:solidFill>
            <a:srgbClr val="701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Inter"/>
              </a:rPr>
              <a:t>Y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903720" y="1344168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1" i="0">
                <a:solidFill>
                  <a:srgbClr val="701C7F"/>
                </a:solidFill>
                <a:latin typeface="Inter"/>
              </a:rPr>
              <a:t>Youssef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903720" y="1618488"/>
            <a:ext cx="16002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0" i="0">
                <a:solidFill>
                  <a:srgbClr val="262626"/>
                </a:solidFill>
                <a:latin typeface="Inter"/>
              </a:rPr>
              <a:t>KUKSA CAN Provider &amp; Data Broker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548640" y="2286000"/>
            <a:ext cx="2560320" cy="896112"/>
          </a:xfrm>
          <a:prstGeom prst="roundRect">
            <a:avLst>
              <a:gd name="adj" fmla="val 8000"/>
            </a:avLst>
          </a:prstGeom>
          <a:solidFill>
            <a:srgbClr val="F4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" name="Oval 92"/>
          <p:cNvSpPr/>
          <p:nvPr/>
        </p:nvSpPr>
        <p:spPr>
          <a:xfrm>
            <a:off x="713232" y="2459736"/>
            <a:ext cx="548640" cy="548640"/>
          </a:xfrm>
          <a:prstGeom prst="ellipse">
            <a:avLst/>
          </a:prstGeom>
          <a:solidFill>
            <a:srgbClr val="2D1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Inter"/>
              </a:rPr>
              <a:t>A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417319" y="2395728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1" i="0">
                <a:solidFill>
                  <a:srgbClr val="701C7F"/>
                </a:solidFill>
                <a:latin typeface="Inter"/>
              </a:rPr>
              <a:t>Anukul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417319" y="2670048"/>
            <a:ext cx="16002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0" i="0">
                <a:solidFill>
                  <a:srgbClr val="262626"/>
                </a:solidFill>
                <a:latin typeface="Inter"/>
              </a:rPr>
              <a:t>OpenSOVD, AutoSD, openDuT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3291840" y="2286000"/>
            <a:ext cx="2560320" cy="896112"/>
          </a:xfrm>
          <a:prstGeom prst="roundRect">
            <a:avLst>
              <a:gd name="adj" fmla="val 8000"/>
            </a:avLst>
          </a:prstGeom>
          <a:solidFill>
            <a:srgbClr val="F4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7" name="Oval 96"/>
          <p:cNvSpPr/>
          <p:nvPr/>
        </p:nvSpPr>
        <p:spPr>
          <a:xfrm>
            <a:off x="3456432" y="2459736"/>
            <a:ext cx="548640" cy="548640"/>
          </a:xfrm>
          <a:prstGeom prst="ellipse">
            <a:avLst/>
          </a:prstGeom>
          <a:solidFill>
            <a:srgbClr val="701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Inter"/>
              </a:rPr>
              <a:t>J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160520" y="2395728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1" i="0">
                <a:solidFill>
                  <a:srgbClr val="701C7F"/>
                </a:solidFill>
                <a:latin typeface="Inter"/>
              </a:rPr>
              <a:t>Jannis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160520" y="2670048"/>
            <a:ext cx="16002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0" i="0">
                <a:solidFill>
                  <a:srgbClr val="262626"/>
                </a:solidFill>
                <a:latin typeface="Inter"/>
              </a:rPr>
              <a:t>Battery Thermal Guardian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6035040" y="2286000"/>
            <a:ext cx="2560320" cy="896112"/>
          </a:xfrm>
          <a:prstGeom prst="roundRect">
            <a:avLst>
              <a:gd name="adj" fmla="val 8000"/>
            </a:avLst>
          </a:prstGeom>
          <a:solidFill>
            <a:srgbClr val="F4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1" name="Oval 100"/>
          <p:cNvSpPr/>
          <p:nvPr/>
        </p:nvSpPr>
        <p:spPr>
          <a:xfrm>
            <a:off x="6199631" y="2459736"/>
            <a:ext cx="548640" cy="548640"/>
          </a:xfrm>
          <a:prstGeom prst="ellipse">
            <a:avLst/>
          </a:prstGeom>
          <a:solidFill>
            <a:srgbClr val="2D1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Inter"/>
              </a:rPr>
              <a:t>J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903720" y="2395728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1" i="0">
                <a:solidFill>
                  <a:srgbClr val="701C7F"/>
                </a:solidFill>
                <a:latin typeface="Inter"/>
              </a:rPr>
              <a:t>Julian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903720" y="2670048"/>
            <a:ext cx="16002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0" i="0">
                <a:solidFill>
                  <a:srgbClr val="262626"/>
                </a:solidFill>
                <a:latin typeface="Inter"/>
              </a:rPr>
              <a:t>uProtocol, watchdog &amp; dashboard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548640" y="3429000"/>
            <a:ext cx="8046720" cy="1051560"/>
          </a:xfrm>
          <a:prstGeom prst="roundRect">
            <a:avLst>
              <a:gd name="adj" fmla="val 8000"/>
            </a:avLst>
          </a:prstGeom>
          <a:solidFill>
            <a:srgbClr val="F1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5" name="Oval 104"/>
          <p:cNvSpPr/>
          <p:nvPr/>
        </p:nvSpPr>
        <p:spPr>
          <a:xfrm>
            <a:off x="731520" y="3703320"/>
            <a:ext cx="502920" cy="502920"/>
          </a:xfrm>
          <a:prstGeom prst="ellipse">
            <a:avLst/>
          </a:prstGeom>
          <a:solidFill>
            <a:srgbClr val="2D1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6" name="Picture 105" descr="FaGithub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0" y="3829050"/>
            <a:ext cx="251460" cy="251460"/>
          </a:xfrm>
          <a:prstGeom prst="rect">
            <a:avLst/>
          </a:prstGeom>
        </p:spPr>
      </p:pic>
      <p:sp>
        <p:nvSpPr>
          <p:cNvPr id="107" name="TextBox 106"/>
          <p:cNvSpPr txBox="1"/>
          <p:nvPr/>
        </p:nvSpPr>
        <p:spPr>
          <a:xfrm>
            <a:off x="1417320" y="3547872"/>
            <a:ext cx="4206240" cy="8229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701C7F"/>
                </a:solidFill>
                <a:latin typeface="Inter"/>
              </a:rPr>
              <a:t>github.com/Eclipse-SDV-Hackathon-Chapter-Four/ota-outlaws</a:t>
            </a:r>
          </a:p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5F5F6B"/>
                </a:solidFill>
                <a:latin typeface="Inter"/>
              </a:rPr>
              <a:t>Open source (EPL-2.0) · Eclipse SDV Hackathon Chapter 4, Friedrichshafen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760720" y="3547872"/>
            <a:ext cx="2697480" cy="8229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262626"/>
                </a:solidFill>
                <a:latin typeface="Inter"/>
              </a:rPr>
              <a:t>We are looking for</a:t>
            </a:r>
          </a:p>
          <a:p>
            <a:pPr algn="l">
              <a:spcAft>
                <a:spcPts val="200"/>
              </a:spcAft>
            </a:pPr>
            <a:r>
              <a:rPr sz="950" b="1" i="0">
                <a:solidFill>
                  <a:srgbClr val="701C7F"/>
                </a:solidFill>
                <a:latin typeface="Inter"/>
              </a:rPr>
              <a:t>Pilot partners (OEM / Tier-1), safety assessors and contributors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531B4C"/>
            </a:gs>
            <a:gs pos="100000">
              <a:srgbClr val="AB0761"/>
            </a:gs>
          </a:gsLst>
          <a:lin ang="2700006" scaled="0"/>
        </a:gra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8" name="Google Shape;158;p25"/>
          <p:cNvGrpSpPr/>
          <p:nvPr/>
        </p:nvGrpSpPr>
        <p:grpSpPr>
          <a:xfrm>
            <a:off x="597450" y="4235100"/>
            <a:ext cx="2423155" cy="456311"/>
            <a:chOff x="0" y="-9525"/>
            <a:chExt cx="1344032" cy="415925"/>
          </a:xfrm>
        </p:grpSpPr>
        <p:sp>
          <p:nvSpPr>
            <p:cNvPr id="159" name="Google Shape;159;p25"/>
            <p:cNvSpPr/>
            <p:nvPr/>
          </p:nvSpPr>
          <p:spPr>
            <a:xfrm>
              <a:off x="0" y="0"/>
              <a:ext cx="1344032" cy="406400"/>
            </a:xfrm>
            <a:custGeom>
              <a:rect b="b" l="l" r="r" t="t"/>
              <a:pathLst>
                <a:path extrusionOk="0" h="406400" w="1344032">
                  <a:moveTo>
                    <a:pt x="1140832" y="0"/>
                  </a:moveTo>
                  <a:cubicBezTo>
                    <a:pt x="1253056" y="0"/>
                    <a:pt x="1344032" y="90976"/>
                    <a:pt x="1344032" y="203200"/>
                  </a:cubicBezTo>
                  <a:cubicBezTo>
                    <a:pt x="1344032" y="315424"/>
                    <a:pt x="1253056" y="406400"/>
                    <a:pt x="114083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noFill/>
            <a:ln cap="sq" cmpd="sng" w="1385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66450" lIns="66450" spcFirstLastPara="1" rIns="66450" wrap="square" tIns="66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25"/>
            <p:cNvSpPr txBox="1"/>
            <p:nvPr/>
          </p:nvSpPr>
          <p:spPr>
            <a:xfrm>
              <a:off x="0" y="-9525"/>
              <a:ext cx="1344000" cy="41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6900" lIns="36900" spcFirstLastPara="1" rIns="36900" wrap="square" tIns="369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0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1" name="Google Shape;161;p25"/>
          <p:cNvSpPr txBox="1"/>
          <p:nvPr/>
        </p:nvSpPr>
        <p:spPr>
          <a:xfrm>
            <a:off x="531150" y="1979650"/>
            <a:ext cx="5610600" cy="4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FFFFFF"/>
                </a:solidFill>
              </a:rPr>
              <a:t>Thank you!</a:t>
            </a:r>
            <a:endParaRPr b="1" sz="2800">
              <a:solidFill>
                <a:srgbClr val="DB521D"/>
              </a:solidFill>
            </a:endParaRPr>
          </a:p>
          <a:p>
            <a:pPr indent="0" lvl="0" marL="0" marR="0" rtl="0" algn="l">
              <a:lnSpc>
                <a:spcPct val="9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</p:txBody>
      </p:sp>
      <p:grpSp>
        <p:nvGrpSpPr>
          <p:cNvPr id="162" name="Google Shape;162;p25"/>
          <p:cNvGrpSpPr/>
          <p:nvPr/>
        </p:nvGrpSpPr>
        <p:grpSpPr>
          <a:xfrm>
            <a:off x="560650" y="2571750"/>
            <a:ext cx="4855381" cy="958407"/>
            <a:chOff x="0" y="-9525"/>
            <a:chExt cx="935400" cy="374100"/>
          </a:xfrm>
        </p:grpSpPr>
        <p:sp>
          <p:nvSpPr>
            <p:cNvPr id="163" name="Google Shape;163;p25"/>
            <p:cNvSpPr/>
            <p:nvPr/>
          </p:nvSpPr>
          <p:spPr>
            <a:xfrm>
              <a:off x="0" y="0"/>
              <a:ext cx="935371" cy="364517"/>
            </a:xfrm>
            <a:custGeom>
              <a:rect b="b" l="l" r="r" t="t"/>
              <a:pathLst>
                <a:path extrusionOk="0" h="364517" w="935371">
                  <a:moveTo>
                    <a:pt x="732171" y="0"/>
                  </a:moveTo>
                  <a:cubicBezTo>
                    <a:pt x="844395" y="0"/>
                    <a:pt x="935371" y="81600"/>
                    <a:pt x="935371" y="182258"/>
                  </a:cubicBezTo>
                  <a:cubicBezTo>
                    <a:pt x="935371" y="282917"/>
                    <a:pt x="844395" y="364517"/>
                    <a:pt x="732171" y="364517"/>
                  </a:cubicBezTo>
                  <a:lnTo>
                    <a:pt x="203200" y="364517"/>
                  </a:lnTo>
                  <a:cubicBezTo>
                    <a:pt x="90976" y="364517"/>
                    <a:pt x="0" y="282917"/>
                    <a:pt x="0" y="182258"/>
                  </a:cubicBezTo>
                  <a:cubicBezTo>
                    <a:pt x="0" y="81600"/>
                    <a:pt x="90976" y="0"/>
                    <a:pt x="203200" y="0"/>
                  </a:cubicBezTo>
                  <a:close/>
                </a:path>
              </a:pathLst>
            </a:custGeom>
            <a:noFill/>
            <a:ln cap="sq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25"/>
            <p:cNvSpPr txBox="1"/>
            <p:nvPr/>
          </p:nvSpPr>
          <p:spPr>
            <a:xfrm>
              <a:off x="0" y="-9525"/>
              <a:ext cx="935400" cy="37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5" name="Google Shape;165;p25"/>
          <p:cNvSpPr txBox="1"/>
          <p:nvPr/>
        </p:nvSpPr>
        <p:spPr>
          <a:xfrm>
            <a:off x="928825" y="4362650"/>
            <a:ext cx="17604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October 6-8 </a:t>
            </a:r>
            <a:r>
              <a:rPr b="1" i="0" lang="en" sz="1100" u="none" cap="none" strike="noStrike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 2026</a:t>
            </a:r>
            <a:endParaRPr b="1" sz="700">
              <a:latin typeface="Sora"/>
              <a:ea typeface="Sora"/>
              <a:cs typeface="Sora"/>
              <a:sym typeface="Sora"/>
            </a:endParaRPr>
          </a:p>
        </p:txBody>
      </p:sp>
      <p:cxnSp>
        <p:nvCxnSpPr>
          <p:cNvPr id="166" name="Google Shape;166;p25"/>
          <p:cNvCxnSpPr/>
          <p:nvPr/>
        </p:nvCxnSpPr>
        <p:spPr>
          <a:xfrm>
            <a:off x="656394" y="3946404"/>
            <a:ext cx="21483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7" name="Google Shape;167;p25"/>
          <p:cNvSpPr/>
          <p:nvPr/>
        </p:nvSpPr>
        <p:spPr>
          <a:xfrm>
            <a:off x="2395624" y="512011"/>
            <a:ext cx="1376366" cy="702594"/>
          </a:xfrm>
          <a:custGeom>
            <a:rect b="b" l="l" r="r" t="t"/>
            <a:pathLst>
              <a:path extrusionOk="0" h="2284857" w="4475988">
                <a:moveTo>
                  <a:pt x="0" y="0"/>
                </a:moveTo>
                <a:lnTo>
                  <a:pt x="4475988" y="0"/>
                </a:lnTo>
                <a:lnTo>
                  <a:pt x="4475988" y="2284857"/>
                </a:lnTo>
                <a:lnTo>
                  <a:pt x="0" y="228485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200" l="-6430" r="-6420" t="0"/>
            </a:stretch>
          </a:blipFill>
          <a:ln>
            <a:noFill/>
          </a:ln>
        </p:spPr>
      </p:sp>
      <p:sp>
        <p:nvSpPr>
          <p:cNvPr id="168" name="Google Shape;168;p25"/>
          <p:cNvSpPr/>
          <p:nvPr/>
        </p:nvSpPr>
        <p:spPr>
          <a:xfrm>
            <a:off x="168246" y="329995"/>
            <a:ext cx="2423160" cy="1066609"/>
          </a:xfrm>
          <a:custGeom>
            <a:rect b="b" l="l" r="r" t="t"/>
            <a:pathLst>
              <a:path extrusionOk="0" h="2844292" w="6461760">
                <a:moveTo>
                  <a:pt x="0" y="0"/>
                </a:moveTo>
                <a:lnTo>
                  <a:pt x="6461760" y="0"/>
                </a:lnTo>
                <a:lnTo>
                  <a:pt x="6461760" y="2844292"/>
                </a:lnTo>
                <a:lnTo>
                  <a:pt x="0" y="28442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-60" t="0"/>
            </a:stretch>
          </a:blipFill>
          <a:ln>
            <a:noFill/>
          </a:ln>
        </p:spPr>
      </p:sp>
      <p:pic>
        <p:nvPicPr>
          <p:cNvPr id="169" name="Google Shape;169;p25" title="2026_SDV_hackathon_logo_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32150" y="600425"/>
            <a:ext cx="3375951" cy="3496025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5"/>
          <p:cNvSpPr txBox="1"/>
          <p:nvPr/>
        </p:nvSpPr>
        <p:spPr>
          <a:xfrm>
            <a:off x="3227575" y="4779825"/>
            <a:ext cx="3000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COPYRIGHT (C) 2026, ECLIPSE FOUNDATION</a:t>
            </a:r>
            <a:endParaRPr sz="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0" name="Subtitle"/>
          <p:cNvSpPr txBox="1"/>
          <p:nvPr/>
        </p:nvSpPr>
        <p:spPr>
          <a:xfrm>
            <a:off x="658368" y="2698224"/>
            <a:ext cx="4663440" cy="7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Questions?</a:t>
            </a:r>
            <a:endParaRPr b="1" sz="1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Every fault leaves evidence.</a:t>
            </a:r>
            <a:endParaRPr b="1" sz="1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