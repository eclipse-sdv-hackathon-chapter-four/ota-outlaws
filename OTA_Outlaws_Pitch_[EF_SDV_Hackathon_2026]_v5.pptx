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60" r:id="rId11"/>
    <p:sldId id="259" r:id="rId10"/>
    <p:sldId id="265" r:id="rId16"/>
    <p:sldId id="264" r:id="rId15"/>
    <p:sldId id="269" r:id="rId32"/>
    <p:sldId id="270" r:id="rId33"/>
    <p:sldId id="271" r:id="rId34"/>
    <p:sldId id="267" r:id="rId18"/>
  </p:sldIdLst>
  <p:sldSz cy="5143500" cx="9144000"/>
  <p:notesSz cx="6858000" cy="9144000"/>
  <p:embeddedFontLst>
    <p:embeddedFont>
      <p:font typeface="Roboto"/>
      <p:regular r:id="rId19"/>
      <p:bold r:id="rId20"/>
      <p:italic r:id="rId21"/>
      <p:boldItalic r:id="rId22"/>
    </p:embeddedFont>
    <p:embeddedFont>
      <p:font typeface="Inter"/>
      <p:regular r:id="rId23"/>
      <p:bold r:id="rId24"/>
      <p:italic r:id="rId25"/>
      <p:boldItalic r:id="rId26"/>
    </p:embeddedFont>
    <p:embeddedFont>
      <p:font typeface="Inter ExtraBold"/>
      <p:bold r:id="rId27"/>
      <p:boldItalic r:id="rId28"/>
    </p:embeddedFont>
    <p:embeddedFont>
      <p:font typeface="Sor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075AC8-06DD-4E05-85B8-DC95C6266F99}">
  <a:tblStyle styleId="{DE075AC8-06DD-4E05-85B8-DC95C6266F9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6.xml"/><Relationship Id="rId11" Type="http://schemas.openxmlformats.org/officeDocument/2006/relationships/slide" Target="slides/slide4.xml"/><Relationship Id="rId15" Type="http://schemas.openxmlformats.org/officeDocument/2006/relationships/slide" Target="slides/slide9.xml"/><Relationship Id="rId16" Type="http://schemas.openxmlformats.org/officeDocument/2006/relationships/slide" Target="slides/slide10.xml"/><Relationship Id="rId18" Type="http://schemas.openxmlformats.org/officeDocument/2006/relationships/slide" Target="slides/slide16.xml"/><Relationship Id="rId19" Type="http://schemas.openxmlformats.org/officeDocument/2006/relationships/font" Target="fonts/Roboto-regular.fntdata"/><Relationship Id="rId20" Type="http://schemas.openxmlformats.org/officeDocument/2006/relationships/font" Target="fonts/Roboto-bold.fntdata"/><Relationship Id="rId21" Type="http://schemas.openxmlformats.org/officeDocument/2006/relationships/font" Target="fonts/Roboto-italic.fntdata"/><Relationship Id="rId22" Type="http://schemas.openxmlformats.org/officeDocument/2006/relationships/font" Target="fonts/Roboto-boldItalic.fntdata"/><Relationship Id="rId23" Type="http://schemas.openxmlformats.org/officeDocument/2006/relationships/font" Target="fonts/Inter-regular.fntdata"/><Relationship Id="rId24" Type="http://schemas.openxmlformats.org/officeDocument/2006/relationships/font" Target="fonts/Inter-bold.fntdata"/><Relationship Id="rId25" Type="http://schemas.openxmlformats.org/officeDocument/2006/relationships/font" Target="fonts/Inter-italic.fntdata"/><Relationship Id="rId26" Type="http://schemas.openxmlformats.org/officeDocument/2006/relationships/font" Target="fonts/Inter-boldItalic.fntdata"/><Relationship Id="rId27" Type="http://schemas.openxmlformats.org/officeDocument/2006/relationships/font" Target="fonts/InterExtraBold-bold.fntdata"/><Relationship Id="rId28" Type="http://schemas.openxmlformats.org/officeDocument/2006/relationships/font" Target="fonts/InterExtraBold-boldItalic.fntdata"/><Relationship Id="rId29" Type="http://schemas.openxmlformats.org/officeDocument/2006/relationships/font" Target="fonts/Sora-regular.fntdata"/><Relationship Id="rId30" Type="http://schemas.openxmlformats.org/officeDocument/2006/relationships/font" Target="fonts/Sora-bold.fntdata"/><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262626"/>
                </a:solidFill>
                <a:latin typeface="Inter"/>
              </a:rPr>
              <a:t>Annual cost in k€</a:t>
            </a:r>
          </a:p>
        </c:rich>
      </c:tx>
      <c:layout/>
      <c:overlay val="0"/>
    </c:title>
    <c:autoTitleDeleted val="0"/>
    <c:plotArea>
      <c:barChart>
        <c:barDir val="col"/>
        <c:grouping val="clustered"/>
        <c:ser>
          <c:idx val="0"/>
          <c:order val="0"/>
          <c:tx>
            <c:strRef>
              <c:f>Sheet1!$B$1</c:f>
              <c:strCache>
                <c:ptCount val="1"/>
                <c:pt idx="0">
                  <c:v>Manual today</c:v>
                </c:pt>
              </c:strCache>
            </c:strRef>
          </c:tx>
          <c:spPr>
            <a:solidFill>
              <a:srgbClr val="9A9AA5"/>
            </a:solidFill>
          </c:spPr>
          <c:cat>
            <c:strRef>
              <c:f>Sheet1!$A$2:$A$3</c:f>
              <c:strCache>
                <c:ptCount val="2"/>
                <c:pt idx="0">
                  <c:v>Year 1</c:v>
                </c:pt>
                <c:pt idx="1">
                  <c:v>Year 2+</c:v>
                </c:pt>
              </c:strCache>
            </c:strRef>
          </c:cat>
          <c:val>
            <c:numRef>
              <c:f>Sheet1!$B$2:$B$3</c:f>
              <c:numCache>
                <c:formatCode>General</c:formatCode>
                <c:ptCount val="2"/>
                <c:pt idx="0">
                  <c:v>124.8</c:v>
                </c:pt>
                <c:pt idx="1">
                  <c:v>124.8</c:v>
                </c:pt>
              </c:numCache>
            </c:numRef>
          </c:val>
        </c:ser>
        <c:ser>
          <c:idx val="1"/>
          <c:order val="1"/>
          <c:tx>
            <c:strRef>
              <c:f>Sheet1!$C$1</c:f>
              <c:strCache>
                <c:ptCount val="1"/>
                <c:pt idx="0">
                  <c:v>With Evidence Factory</c:v>
                </c:pt>
              </c:strCache>
            </c:strRef>
          </c:tx>
          <c:spPr>
            <a:solidFill>
              <a:srgbClr val="701C7F"/>
            </a:solidFill>
          </c:spPr>
          <c:cat>
            <c:strRef>
              <c:f>Sheet1!$A$2:$A$3</c:f>
              <c:strCache>
                <c:ptCount val="2"/>
                <c:pt idx="0">
                  <c:v>Year 1</c:v>
                </c:pt>
                <c:pt idx="1">
                  <c:v>Year 2+</c:v>
                </c:pt>
              </c:strCache>
            </c:strRef>
          </c:cat>
          <c:val>
            <c:numRef>
              <c:f>Sheet1!$C$2:$C$3</c:f>
              <c:numCache>
                <c:formatCode>General</c:formatCode>
                <c:ptCount val="2"/>
                <c:pt idx="0">
                  <c:v>82.0</c:v>
                </c:pt>
                <c:pt idx="1">
                  <c:v>42.0</c:v>
                </c:pt>
              </c:numCache>
            </c:numRef>
          </c:val>
        </c:ser>
        <c:dLbls>
          <c:numFmt formatCode="0" sourceLinked="0"/>
          <c:txPr>
            <a:bodyPr/>
            <a:lstStyle/>
            <a:p>
              <a:pPr>
                <a:defRPr sz="1000">
                  <a:solidFill>
                    <a:srgbClr val="262626"/>
                  </a:solidFill>
                  <a:latin typeface="Inter"/>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CCCCCC"/>
            </a:solidFill>
          </a:ln>
        </c:spPr>
        <c:txPr>
          <a:bodyPr/>
          <a:lstStyle/>
          <a:p>
            <a:pPr>
              <a:defRPr sz="1000">
                <a:solidFill>
                  <a:srgbClr val="5F5F6B"/>
                </a:solidFill>
                <a:latin typeface="Inter"/>
              </a:defRPr>
            </a:pPr>
          </a:p>
        </c:txPr>
        <c:crossAx val="-2113994440"/>
        <c:crosses val="autoZero"/>
        <c:auto val="1"/>
        <c:lblAlgn val="ctr"/>
        <c:lblOffset val="100"/>
        <c:noMultiLvlLbl val="0"/>
      </c:catAx>
      <c:valAx>
        <c:axId val="-2113994440"/>
        <c:scaling>
          <c:max val="150.0"/>
        </c:scaling>
        <c:delete/>
        <c:axPos val="l"/>
        <c:majorTickMark val="out"/>
        <c:minorTickMark val="none"/>
        <c:tickLblPos val="nextTo"/>
        <c:crossAx val="-2068027336"/>
        <c:crosses val="autoZero"/>
      </c:valAx>
    </c:plotArea>
    <c:legend>
      <c:legendPos val="b"/>
      <c:overlay val="0"/>
      <c:txPr>
        <a:bodyPr/>
        <a:lstStyle/>
        <a:p>
          <a:pPr>
            <a:defRPr sz="950">
              <a:solidFill>
                <a:srgbClr val="5F5F6B"/>
              </a:solidFill>
              <a:latin typeface="Inter"/>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262626"/>
                </a:solidFill>
                <a:latin typeface="Inter"/>
              </a:rPr>
              <a:t>Cost per safety function, k€ / year</a:t>
            </a:r>
          </a:p>
        </c:rich>
      </c:tx>
      <c:layout/>
      <c:overlay val="0"/>
    </c:title>
    <c:autoTitleDeleted val="0"/>
    <c:plotArea>
      <c:barChart>
        <c:barDir val="col"/>
        <c:grouping val="clustered"/>
        <c:varyColors val="0"/>
        <c:ser>
          <c:idx val="0"/>
          <c:order val="0"/>
          <c:tx>
            <c:strRef>
              <c:f>Sheet1!$B$1</c:f>
              <c:strCache>
                <c:ptCount val="1"/>
                <c:pt idx="0">
                  <c:v>k€ per year</c:v>
                </c:pt>
              </c:strCache>
            </c:strRef>
          </c:tx>
          <c:spPr>
            <a:solidFill>
              <a:srgbClr val="701C7F"/>
            </a:solidFill>
          </c:spPr>
          <c:dPt>
            <c:idx val="0"/>
            <c:spPr>
              <a:solidFill>
                <a:srgbClr val="9A9AA5"/>
              </a:solidFill>
            </c:spPr>
          </c:dPt>
          <c:cat>
            <c:strRef>
              <c:f>Sheet1!$A$2:$A$3</c:f>
              <c:strCache>
                <c:ptCount val="2"/>
                <c:pt idx="0">
                  <c:v>Manual today</c:v>
                </c:pt>
                <c:pt idx="1">
                  <c:v>With our factory</c:v>
                </c:pt>
              </c:strCache>
            </c:strRef>
          </c:cat>
          <c:val>
            <c:numRef>
              <c:f>Sheet1!$B$2:$B$3</c:f>
              <c:numCache>
                <c:formatCode>General</c:formatCode>
                <c:ptCount val="2"/>
                <c:pt idx="0">
                  <c:v>125</c:v>
                </c:pt>
                <c:pt idx="1">
                  <c:v>42</c:v>
                </c:pt>
              </c:numCache>
            </c:numRef>
          </c:val>
        </c:ser>
        <c:dLbls>
          <c:numFmt formatCode="0" sourceLinked="0"/>
          <c:txPr>
            <a:bodyPr/>
            <a:lstStyle/>
            <a:p>
              <a:pPr>
                <a:defRPr sz="1100" b="1">
                  <a:solidFill>
                    <a:srgbClr val="262626"/>
                  </a:solidFill>
                  <a:latin typeface="Inter"/>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CCCCC"/>
            </a:solidFill>
          </a:ln>
        </c:spPr>
        <c:txPr>
          <a:bodyPr/>
          <a:lstStyle/>
          <a:p>
            <a:pPr>
              <a:defRPr sz="1000">
                <a:solidFill>
                  <a:srgbClr val="5F5F6B"/>
                </a:solidFill>
                <a:latin typeface="Inter"/>
              </a:defRPr>
            </a:pPr>
          </a:p>
        </c:txPr>
        <c:crossAx val="-2113994440"/>
        <c:crosses val="autoZero"/>
        <c:auto val="1"/>
        <c:lblAlgn val="ctr"/>
        <c:lblOffset val="100"/>
        <c:noMultiLvlLbl val="0"/>
      </c:catAx>
      <c:valAx>
        <c:axId val="-2113994440"/>
        <c:scaling>
          <c:max val="15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6b2788cdbe65c0ea_1_0:notes"/>
          <p:cNvSpPr txBox="1"/>
          <p:nvPr>
            <p:ph idx="1" type="body"/>
          </p:nvPr>
        </p:nvSpPr>
        <p:spPr>
          <a:xfrm>
            <a:off x="914400" y="3251200"/>
            <a:ext cx="7315200" cy="3081300"/>
          </a:xfrm>
          <a:prstGeom prst="rect">
            <a:avLst/>
          </a:prstGeom>
        </p:spPr>
        <p:txBody>
          <a:bodyPr anchorCtr="0" anchor="t" bIns="91425" lIns="91425" spcFirstLastPara="1" rIns="91425" wrap="square" tIns="91425">
            <a:noAutofit/>
          </a:bodyPr>
          <a:lstStyle/>
          <a:p>
            <a:r>
              <a:t>Hi, we are the OTA Outlaws. In the Doctor Whodunit challenge we built a Safety Evidence Factory: it injects faults into a safety function and proves - automatically and traceably - that the fault was caught.</a:t>
            </a:r>
          </a:p>
        </p:txBody>
      </p:sp>
      <p:sp>
        <p:nvSpPr>
          <p:cNvPr id="56" name="Google Shape;56;h6b2788cdbe65c0ea_1_0: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h6b2788cdbe65c0ea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h6b2788cdbe65c0ea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If a cell-temperature signal freezes, the safety monitor sees a stable value and stays silent - exactly when it should warn. Regulation is tightening: UN R100.03 / GTR 20 require an occupant warning at least 5 minutes before a thermal event becomes hazardous; UN R156 requires a managed, documented process for every software update (mandatory for new EU vehicles since July 2024); China's GB 38031-2025 demands no fire and no explosion from July 2026. Today, proving that monitors still work is manual HIL lab work, repeated per release.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6b2788cdbe65c0ea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6b2788cdbe65c0ea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Our answer is a Safety Evidence Factory. It starts from the HARA: six hazardous events (HE-1..6), four safety goals (SG-1..4). For each requirement we inject faults - 19 scenarios today - observe detection by the Guardian and the DTC, the mitigation request over uProtocol, read the diagnostics from OpenSOVD and produce a PASS / FAIL / INCONCLUSIVE verdict. Traceable: hazard to verdict for every test. Portable: same campaigns in CI, cloud and vehicle, built on KUKSA, uProtocol and OpenSOVD. Repeatable: deterministic replays with measured timing; failures are reported, never hidden.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6b2788cdbe65c0e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6b2788cdbe65c0e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Live demo (about 90 seconds): 1) baseline from the AZ3166 board through KUKSA CAN Provider, Data Broker and uProtocol into the Guardian; 2) the campaign runner freezes the cell temperature (temp_stuck); 3) the Guardian raises BTG_TempSignalStuck, goes degraded and requests a driver warning; 4) the DTC with session and event ID shows up in OpenSOVD; 5) the report links it to FSR-2.4, SG-2 and HE-1: PASS. Detection latency, mitigation timing and diagnostic visibility (2 s budget) are measured on every run. Fallback if live fails: show the campaign report PDF. Optional one-liner: in the hackathon our full 19-scenario campaign found 5 real bugs in our own Guardian - and reported them.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267c6918933f4a47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267c6918933f4a47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Two products, one campaign format. 1) Cloud / CI: the customer brings the communication chain and the component under test, we bring the campaign runner and OpenSOVD-based evidence collection - evidence on every commit and release without lab time, for OEM and Tier-1 software and safety teams. 2) In-vehicle: the same campaign runner on the vehicle HPC (AutoSD, Ankaios), injecting faults at the MCU boundary - for validation fleets, prototypes and the field.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267c6918933f4a4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h267c6918933f4a4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Automotive software testing alone is a 9.1 billion dollar market (MarketsandMarkets 2025). More than 20 million EVs were sold in 2025 - one in four new cars (IEA) - and every one needs battery safety evidence. UN R156 makes a certified software update process mandatory for new EU vehicles since July 2024. We start where the pain is sharpest - battery and thermal safety, ASIL-D hazards with frequent OTA updates - then expand to other SDV safety monitors (sensor plausibility, ADAS input monitoring, watchdogs), and finally evidence-as-a-service for any safety-relevant SDV service.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6b2788cdbe65c0ea_1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6b2788cdbe65c0ea_1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HIL vendors (Vector, dSPACE, tracetronic) are strong at fault injection but lab-bound and proprietary. Safety and ALM tools (Ansys medini, Siemens Polarion, PTC Codebeamer) hold the traceability but no live test evidence. We close the gap and feed both with live, traceable evidence. The matrix is our team's assessment of public product positioning.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6b2788cdbe65c0ea_1_65:notes"/>
          <p:cNvSpPr txBox="1"/>
          <p:nvPr>
            <p:ph idx="1" type="body"/>
          </p:nvPr>
        </p:nvSpPr>
        <p:spPr>
          <a:xfrm>
            <a:off x="914400" y="3251200"/>
            <a:ext cx="7315200" cy="3081300"/>
          </a:xfrm>
          <a:prstGeom prst="rect">
            <a:avLst/>
          </a:prstGeom>
        </p:spPr>
        <p:txBody>
          <a:bodyPr anchorCtr="0" anchor="t" bIns="91425" lIns="91425" spcFirstLastPara="1" rIns="91425" wrap="square" tIns="91425">
            <a:noAutofit/>
          </a:bodyPr>
          <a:lstStyle/>
          <a:p>
            <a:r>
              <a:t>Thank you - happy to take questions.</a:t>
            </a:r>
          </a:p>
        </p:txBody>
      </p:sp>
      <p:sp>
        <p:nvSpPr>
          <p:cNvPr id="156" name="Google Shape;156;h6b2788cdbe65c0ea_1_65:notes"/>
          <p:cNvSpPr/>
          <p:nvPr>
            <p:ph idx="2"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Who pays: OEMs and Tier-1 BMS suppliers subscribe to the Evidence Cloud (from about 2.5k euros per project per month) - an evidence package for every OTA release and every software drop (UN R156, ISO 26262). Fleet operators license the in-vehicle agent per vehicle for periodic self-tests in the field. Every new safety function starts with a fixed-price onboarding of about 40k euros (HARA, safety concept, campaign setup). The open-source core is the free entry point in the Eclipse SDV ecosystem. What they save, for one safety function with 12 OTA releases a year: manual regression costs about 125k euros per year (8 engineer days plus 3 HIL bench days per release); with the factory it is 42k from year two - two thirds less, payback in about six months. All numbers are illustrative and will be validated in pilots.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Phase 1 (Q4 2026 - Q1 2027) Harden: remote reruns via openDuT, Ankaios / AutoSD orchestration, durable DFM storage, fix the open findings. Phase 2 (2027) Pilot: two paid pilots with an OEM and a Tier-1, publish as SDV Blueprint, first managed cloud runners. Phase 3 (Q4 2027 - 2028) Scale: ISO 26262 tool qualification, SaaS general availability, beyond BMS to ADAS monitors. We ask for 1.2 million euros seed for 18 months: 720k engineering (5 FTE), 180k tool qualification and certification, 180k pilots and go-to-market, 120k cloud infrastructure and hardware.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Six people, one evidence chain - from the sensor ECU to the safety case. Jens: project lead, requirements and safety engineering. Sopan: CAN and the ThreadX sensor ECU (AZ3166). Youssef: KUKSA CAN Provider and Data Broker. Anukul: OpenSOVD, AutoSD, openDuT. Jannis: Battery Thermal Guardian. Julian: uProtocol, watchdog and dashboard. Everything is open source (EPL-2.0) on GitHub. We are looking for pilot partners (OEM / Tier-1), safety assessors and contributors.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4">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image" Target="../media/image3.png"/><Relationship Id="rId4" Type="http://schemas.openxmlformats.org/officeDocument/2006/relationships/notesSlide" Target="../notesSlides/notesSlide14.xml"/><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19.png"/><Relationship Id="rId8"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1B4C"/>
            </a:gs>
            <a:gs pos="100000">
              <a:srgbClr val="AB0761"/>
            </a:gs>
          </a:gsLst>
          <a:lin ang="2700006" scaled="0"/>
        </a:gradFill>
      </p:bgPr>
    </p:bg>
    <p:spTree>
      <p:nvGrpSpPr>
        <p:cNvPr id="57" name="Shape 57"/>
        <p:cNvGrpSpPr/>
        <p:nvPr/>
      </p:nvGrpSpPr>
      <p:grpSpPr>
        <a:xfrm>
          <a:off x="0" y="0"/>
          <a:ext cx="0" cy="0"/>
          <a:chOff x="0" y="0"/>
          <a:chExt cx="0" cy="0"/>
        </a:xfrm>
      </p:grpSpPr>
      <p:grpSp>
        <p:nvGrpSpPr>
          <p:cNvPr id="58" name="Google Shape;58;p14"/>
          <p:cNvGrpSpPr/>
          <p:nvPr/>
        </p:nvGrpSpPr>
        <p:grpSpPr>
          <a:xfrm>
            <a:off x="597450" y="4235100"/>
            <a:ext cx="2423155" cy="456311"/>
            <a:chOff x="0" y="-9525"/>
            <a:chExt cx="1344032" cy="415925"/>
          </a:xfrm>
        </p:grpSpPr>
        <p:sp>
          <p:nvSpPr>
            <p:cNvPr id="59" name="Google Shape;59;p14"/>
            <p:cNvSpPr/>
            <p:nvPr/>
          </p:nvSpPr>
          <p:spPr>
            <a:xfrm>
              <a:off x="0" y="0"/>
              <a:ext cx="1344032" cy="406400"/>
            </a:xfrm>
            <a:custGeom>
              <a:rect b="b" l="l" r="r" t="t"/>
              <a:pathLst>
                <a:path extrusionOk="0" h="406400" w="1344032">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cap="sq" cmpd="sng" w="13850">
              <a:solidFill>
                <a:srgbClr val="000000"/>
              </a:solidFill>
              <a:prstDash val="solid"/>
              <a:miter lim="8000"/>
              <a:headEnd len="sm" w="sm" type="none"/>
              <a:tailEnd len="sm" w="sm" type="none"/>
            </a:ln>
          </p:spPr>
          <p:txBody>
            <a:bodyPr anchorCtr="0" anchor="ctr" bIns="66450" lIns="66450" spcFirstLastPara="1" rIns="66450" wrap="square" tIns="66450">
              <a:noAutofit/>
            </a:bodyPr>
            <a:lstStyle/>
            <a:p>
              <a:pPr indent="0" lvl="0" marL="0" rtl="0" algn="l">
                <a:spcBef>
                  <a:spcPts val="0"/>
                </a:spcBef>
                <a:spcAft>
                  <a:spcPts val="0"/>
                </a:spcAft>
                <a:buNone/>
              </a:pPr>
              <a:r>
                <a:t/>
              </a:r>
              <a:endParaRPr/>
            </a:p>
          </p:txBody>
        </p:sp>
        <p:sp>
          <p:nvSpPr>
            <p:cNvPr id="60" name="Google Shape;60;p14"/>
            <p:cNvSpPr txBox="1"/>
            <p:nvPr/>
          </p:nvSpPr>
          <p:spPr>
            <a:xfrm>
              <a:off x="0" y="-9525"/>
              <a:ext cx="1344000" cy="415800"/>
            </a:xfrm>
            <a:prstGeom prst="rect">
              <a:avLst/>
            </a:prstGeom>
            <a:noFill/>
            <a:ln>
              <a:noFill/>
            </a:ln>
          </p:spPr>
          <p:txBody>
            <a:bodyPr anchorCtr="0" anchor="ctr" bIns="36900" lIns="36900" spcFirstLastPara="1" rIns="36900" wrap="square" tIns="36900">
              <a:noAutofit/>
            </a:bodyPr>
            <a:lstStyle/>
            <a:p>
              <a:pPr indent="0" lvl="0" marL="0" marR="0" rtl="0" algn="ctr">
                <a:lnSpc>
                  <a:spcPct val="120000"/>
                </a:lnSpc>
                <a:spcBef>
                  <a:spcPts val="0"/>
                </a:spcBef>
                <a:spcAft>
                  <a:spcPts val="0"/>
                </a:spcAft>
                <a:buNone/>
              </a:pPr>
              <a:r>
                <a:t/>
              </a:r>
              <a:endParaRPr b="0" i="0" sz="1308" u="none" cap="none" strike="noStrike">
                <a:solidFill>
                  <a:schemeClr val="dk1"/>
                </a:solidFill>
                <a:latin typeface="Calibri"/>
                <a:ea typeface="Calibri"/>
                <a:cs typeface="Calibri"/>
                <a:sym typeface="Calibri"/>
              </a:endParaRPr>
            </a:p>
          </p:txBody>
        </p:sp>
      </p:grpSp>
      <p:sp>
        <p:nvSpPr>
          <p:cNvPr id="61" name="Google Shape;61;p14"/>
          <p:cNvSpPr txBox="1"/>
          <p:nvPr/>
        </p:nvSpPr>
        <p:spPr>
          <a:xfrm>
            <a:off x="531150" y="1979650"/>
            <a:ext cx="5610600" cy="456300"/>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b="0" i="0" lang="en" sz="2800" u="none" cap="none" strike="noStrike">
                <a:solidFill>
                  <a:srgbClr val="FFFFFF"/>
                </a:solidFill>
                <a:latin typeface="Arial"/>
                <a:ea typeface="Arial"/>
                <a:cs typeface="Arial"/>
                <a:sym typeface="Arial"/>
              </a:rPr>
              <a:t>Eclipse SDV Hackathon</a:t>
            </a:r>
            <a:r>
              <a:rPr lang="en" sz="2800">
                <a:solidFill>
                  <a:srgbClr val="FFFFFF"/>
                </a:solidFill>
              </a:rPr>
              <a:t> </a:t>
            </a:r>
            <a:r>
              <a:rPr b="1" lang="en" sz="2800">
                <a:solidFill>
                  <a:srgbClr val="DB521D"/>
                </a:solidFill>
              </a:rPr>
              <a:t>Chapter 4</a:t>
            </a:r>
            <a:endParaRPr b="1" sz="2800">
              <a:solidFill>
                <a:srgbClr val="DB521D"/>
              </a:solidFill>
            </a:endParaRPr>
          </a:p>
          <a:p>
            <a:pPr indent="0" lvl="0" marL="0" marR="0" rtl="0" algn="l">
              <a:lnSpc>
                <a:spcPct val="97999"/>
              </a:lnSpc>
              <a:spcBef>
                <a:spcPts val="0"/>
              </a:spcBef>
              <a:spcAft>
                <a:spcPts val="0"/>
              </a:spcAft>
              <a:buNone/>
            </a:pPr>
            <a:r>
              <a:t/>
            </a:r>
            <a:endParaRPr sz="100"/>
          </a:p>
        </p:txBody>
      </p:sp>
      <p:grpSp>
        <p:nvGrpSpPr>
          <p:cNvPr id="62" name="Google Shape;62;p14"/>
          <p:cNvGrpSpPr/>
          <p:nvPr/>
        </p:nvGrpSpPr>
        <p:grpSpPr>
          <a:xfrm>
            <a:off x="560650" y="2571750"/>
            <a:ext cx="4855381" cy="958407"/>
            <a:chOff x="0" y="-9525"/>
            <a:chExt cx="935400" cy="374100"/>
          </a:xfrm>
        </p:grpSpPr>
        <p:sp>
          <p:nvSpPr>
            <p:cNvPr id="63" name="Google Shape;63;p14"/>
            <p:cNvSpPr/>
            <p:nvPr/>
          </p:nvSpPr>
          <p:spPr>
            <a:xfrm>
              <a:off x="0" y="0"/>
              <a:ext cx="935371" cy="364517"/>
            </a:xfrm>
            <a:custGeom>
              <a:rect b="b" l="l" r="r" t="t"/>
              <a:pathLst>
                <a:path extrusionOk="0" h="364517" w="935371">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cap="sq" cmpd="sng" w="9525">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64" name="Google Shape;64;p14"/>
            <p:cNvSpPr txBox="1"/>
            <p:nvPr/>
          </p:nvSpPr>
          <p:spPr>
            <a:xfrm>
              <a:off x="0" y="-9525"/>
              <a:ext cx="935400" cy="374100"/>
            </a:xfrm>
            <a:prstGeom prst="rect">
              <a:avLst/>
            </a:prstGeom>
            <a:noFill/>
            <a:ln>
              <a:noFill/>
            </a:ln>
          </p:spPr>
          <p:txBody>
            <a:bodyPr anchorCtr="0" anchor="ctr" bIns="25400" lIns="25400" spcFirstLastPara="1" rIns="25400" wrap="square" tIns="25400">
              <a:noAutofit/>
            </a:bodyPr>
            <a:lstStyle/>
            <a:p>
              <a:pPr indent="0" lvl="0" marL="0" marR="0" rtl="0" algn="ctr">
                <a:lnSpc>
                  <a:spcPct val="12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65" name="Google Shape;65;p14"/>
          <p:cNvSpPr txBox="1"/>
          <p:nvPr/>
        </p:nvSpPr>
        <p:spPr>
          <a:xfrm>
            <a:off x="928825" y="4362650"/>
            <a:ext cx="1760400" cy="1692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 sz="1100">
                <a:solidFill>
                  <a:srgbClr val="FFFFFF"/>
                </a:solidFill>
                <a:latin typeface="Sora"/>
                <a:ea typeface="Sora"/>
                <a:cs typeface="Sora"/>
                <a:sym typeface="Sora"/>
              </a:rPr>
              <a:t>October 6-8 </a:t>
            </a:r>
            <a:r>
              <a:rPr b="1" i="0" lang="en" sz="1100" u="none" cap="none" strike="noStrike">
                <a:solidFill>
                  <a:srgbClr val="FFFFFF"/>
                </a:solidFill>
                <a:latin typeface="Sora"/>
                <a:ea typeface="Sora"/>
                <a:cs typeface="Sora"/>
                <a:sym typeface="Sora"/>
              </a:rPr>
              <a:t> 2026</a:t>
            </a:r>
            <a:endParaRPr b="1" sz="700">
              <a:latin typeface="Sora"/>
              <a:ea typeface="Sora"/>
              <a:cs typeface="Sora"/>
              <a:sym typeface="Sora"/>
            </a:endParaRPr>
          </a:p>
        </p:txBody>
      </p:sp>
      <p:cxnSp>
        <p:nvCxnSpPr>
          <p:cNvPr id="66" name="Google Shape;66;p14"/>
          <p:cNvCxnSpPr/>
          <p:nvPr/>
        </p:nvCxnSpPr>
        <p:spPr>
          <a:xfrm>
            <a:off x="656394" y="3946404"/>
            <a:ext cx="2148300" cy="0"/>
          </a:xfrm>
          <a:prstGeom prst="straightConnector1">
            <a:avLst/>
          </a:prstGeom>
          <a:noFill/>
          <a:ln cap="flat" cmpd="sng" w="19050">
            <a:solidFill>
              <a:srgbClr val="000000"/>
            </a:solidFill>
            <a:prstDash val="solid"/>
            <a:round/>
            <a:headEnd len="sm" w="sm" type="none"/>
            <a:tailEnd len="sm" w="sm" type="none"/>
          </a:ln>
        </p:spPr>
      </p:cxnSp>
      <p:sp>
        <p:nvSpPr>
          <p:cNvPr id="67" name="Google Shape;67;p14"/>
          <p:cNvSpPr/>
          <p:nvPr/>
        </p:nvSpPr>
        <p:spPr>
          <a:xfrm>
            <a:off x="2395624" y="512011"/>
            <a:ext cx="1376366" cy="702594"/>
          </a:xfrm>
          <a:custGeom>
            <a:rect b="b" l="l" r="r" t="t"/>
            <a:pathLst>
              <a:path extrusionOk="0" h="2284857" w="4475988">
                <a:moveTo>
                  <a:pt x="0" y="0"/>
                </a:moveTo>
                <a:lnTo>
                  <a:pt x="4475988" y="0"/>
                </a:lnTo>
                <a:lnTo>
                  <a:pt x="4475988" y="2284857"/>
                </a:lnTo>
                <a:lnTo>
                  <a:pt x="0" y="2284857"/>
                </a:lnTo>
                <a:lnTo>
                  <a:pt x="0" y="0"/>
                </a:lnTo>
                <a:close/>
              </a:path>
            </a:pathLst>
          </a:custGeom>
          <a:blipFill rotWithShape="1">
            <a:blip r:embed="rId3">
              <a:alphaModFix/>
            </a:blip>
            <a:stretch>
              <a:fillRect b="-3200" l="-6430" r="-6420" t="0"/>
            </a:stretch>
          </a:blipFill>
          <a:ln>
            <a:noFill/>
          </a:ln>
        </p:spPr>
      </p:sp>
      <p:sp>
        <p:nvSpPr>
          <p:cNvPr id="68" name="Google Shape;68;p14"/>
          <p:cNvSpPr/>
          <p:nvPr/>
        </p:nvSpPr>
        <p:spPr>
          <a:xfrm>
            <a:off x="168246" y="329995"/>
            <a:ext cx="2423160" cy="1066609"/>
          </a:xfrm>
          <a:custGeom>
            <a:rect b="b" l="l" r="r" t="t"/>
            <a:pathLst>
              <a:path extrusionOk="0" h="2844292" w="6461760">
                <a:moveTo>
                  <a:pt x="0" y="0"/>
                </a:moveTo>
                <a:lnTo>
                  <a:pt x="6461760" y="0"/>
                </a:lnTo>
                <a:lnTo>
                  <a:pt x="6461760" y="2844292"/>
                </a:lnTo>
                <a:lnTo>
                  <a:pt x="0" y="2844292"/>
                </a:lnTo>
                <a:lnTo>
                  <a:pt x="0" y="0"/>
                </a:lnTo>
                <a:close/>
              </a:path>
            </a:pathLst>
          </a:custGeom>
          <a:blipFill rotWithShape="1">
            <a:blip r:embed="rId4">
              <a:alphaModFix/>
            </a:blip>
            <a:stretch>
              <a:fillRect b="0" l="0" r="-60" t="0"/>
            </a:stretch>
          </a:blipFill>
          <a:ln>
            <a:noFill/>
          </a:ln>
        </p:spPr>
      </p:sp>
      <p:pic>
        <p:nvPicPr>
          <p:cNvPr id="69" name="Google Shape;69;p14"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70" name="Google Shape;70;p14"/>
          <p:cNvSpPr txBox="1"/>
          <p:nvPr/>
        </p:nvSpPr>
        <p:spPr>
          <a:xfrm>
            <a:off x="658368" y="2693325"/>
            <a:ext cx="466344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a:ea typeface="Inter"/>
                <a:cs typeface="Inter"/>
                <a:sym typeface="Inter"/>
              </a:rPr>
              <a:t>OTA Outlaws: Safety Evidence Factory</a:t>
            </a:r>
            <a:endParaRPr b="1" sz="1800">
              <a:solidFill>
                <a:schemeClr val="lt1"/>
              </a:solidFill>
              <a:latin typeface="Inter"/>
              <a:ea typeface="Inter"/>
              <a:cs typeface="Inter"/>
              <a:sym typeface="Inter"/>
            </a:endParaRPr>
          </a:p>
          <a:p>
            <a:pPr indent="0" lvl="0" marL="0" rtl="0" algn="ctr">
              <a:spcBef>
                <a:spcPts val="0"/>
              </a:spcBef>
              <a:spcAft>
                <a:spcPts val="0"/>
              </a:spcAft>
              <a:buNone/>
            </a:pPr>
            <a:r>
              <a:rPr b="0" lang="en" sz="1200">
                <a:solidFill>
                  <a:schemeClr val="lt1"/>
                </a:solidFill>
                <a:latin typeface="Inter"/>
                <a:ea typeface="Inter"/>
                <a:cs typeface="Inter"/>
                <a:sym typeface="Inter"/>
              </a:rPr>
              <a:t>Doctor Whodunit · Every fault leaves evidence</a:t>
            </a:r>
            <a:endParaRPr b="1" sz="1800">
              <a:solidFill>
                <a:schemeClr val="lt1"/>
              </a:solidFill>
              <a:latin typeface="Inter"/>
              <a:ea typeface="Inter"/>
              <a:cs typeface="Inter"/>
              <a:sym typeface="Inter"/>
            </a:endParaRPr>
          </a:p>
        </p:txBody>
      </p:sp>
      <p:sp>
        <p:nvSpPr>
          <p:cNvPr id="71" name="Google Shape;71;p14"/>
          <p:cNvSpPr txBox="1"/>
          <p:nvPr/>
        </p:nvSpPr>
        <p:spPr>
          <a:xfrm>
            <a:off x="3227575" y="4779825"/>
            <a:ext cx="30000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9" name="Google Shape;79;p15"/>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The Problem: A Stuck Sensor Silences the Warning</a:t>
            </a:r>
            <a:endParaRPr sz="400">
              <a:latin typeface="Inter ExtraBold"/>
              <a:ea typeface="Inter ExtraBold"/>
              <a:cs typeface="Inter ExtraBold"/>
              <a:sym typeface="Inter ExtraBold"/>
            </a:endParaRPr>
          </a:p>
        </p:txBody>
      </p:sp>
      <p:sp>
        <p:nvSpPr>
          <p:cNvPr id="80" name="Rounded Rectangle 79"/>
          <p:cNvSpPr/>
          <p:nvPr/>
        </p:nvSpPr>
        <p:spPr>
          <a:xfrm>
            <a:off x="548640" y="1325880"/>
            <a:ext cx="128016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1" name="Picture 80" descr="FaThermometerHalf_p.png"/>
          <p:cNvPicPr>
            <a:picLocks noChangeAspect="1"/>
          </p:cNvPicPr>
          <p:nvPr/>
        </p:nvPicPr>
        <p:blipFill>
          <a:blip r:embed="rId4"/>
          <a:stretch>
            <a:fillRect/>
          </a:stretch>
        </p:blipFill>
        <p:spPr>
          <a:xfrm>
            <a:off x="1033271" y="1463039"/>
            <a:ext cx="310896" cy="310896"/>
          </a:xfrm>
          <a:prstGeom prst="rect">
            <a:avLst/>
          </a:prstGeom>
        </p:spPr>
      </p:pic>
      <p:sp>
        <p:nvSpPr>
          <p:cNvPr id="82" name="TextBox 81"/>
          <p:cNvSpPr txBox="1"/>
          <p:nvPr/>
        </p:nvSpPr>
        <p:spPr>
          <a:xfrm>
            <a:off x="548640" y="1801368"/>
            <a:ext cx="1280160" cy="228600"/>
          </a:xfrm>
          <a:prstGeom prst="rect">
            <a:avLst/>
          </a:prstGeom>
          <a:noFill/>
        </p:spPr>
        <p:txBody>
          <a:bodyPr wrap="square" lIns="0" rIns="0" tIns="0" bIns="0" anchor="t"/>
          <a:lstStyle/>
          <a:p>
            <a:pPr algn="ctr"/>
            <a:r>
              <a:rPr sz="1000" b="0" i="0">
                <a:solidFill>
                  <a:srgbClr val="5F5F6B"/>
                </a:solidFill>
                <a:latin typeface="Inter"/>
              </a:rPr>
              <a:t>Sensor</a:t>
            </a:r>
          </a:p>
        </p:txBody>
      </p:sp>
      <p:sp>
        <p:nvSpPr>
          <p:cNvPr id="83" name="TextBox 82"/>
          <p:cNvSpPr txBox="1"/>
          <p:nvPr/>
        </p:nvSpPr>
        <p:spPr>
          <a:xfrm>
            <a:off x="548640" y="2057400"/>
            <a:ext cx="1280160" cy="548640"/>
          </a:xfrm>
          <a:prstGeom prst="rect">
            <a:avLst/>
          </a:prstGeom>
          <a:noFill/>
        </p:spPr>
        <p:txBody>
          <a:bodyPr wrap="square" lIns="0" rIns="0" tIns="0" bIns="0" anchor="ctr"/>
          <a:lstStyle/>
          <a:p>
            <a:pPr algn="ctr"/>
            <a:r>
              <a:rPr sz="1200" b="1" i="0">
                <a:solidFill>
                  <a:srgbClr val="701C7F"/>
                </a:solidFill>
                <a:latin typeface="Inter"/>
              </a:rPr>
              <a:t>Stuck at 42 °C</a:t>
            </a:r>
          </a:p>
        </p:txBody>
      </p:sp>
      <p:sp>
        <p:nvSpPr>
          <p:cNvPr id="84" name="Right Arrow 83"/>
          <p:cNvSpPr/>
          <p:nvPr/>
        </p:nvSpPr>
        <p:spPr>
          <a:xfrm>
            <a:off x="1856231" y="1929384"/>
            <a:ext cx="146304" cy="164592"/>
          </a:xfrm>
          <a:prstGeom prst="rightArrow">
            <a:avLst/>
          </a:prstGeom>
          <a:solidFill>
            <a:srgbClr val="5F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ounded Rectangle 84"/>
          <p:cNvSpPr/>
          <p:nvPr/>
        </p:nvSpPr>
        <p:spPr>
          <a:xfrm>
            <a:off x="2029967" y="1325880"/>
            <a:ext cx="128016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6" name="Picture 85" descr="FaShieldAlt_p.png"/>
          <p:cNvPicPr>
            <a:picLocks noChangeAspect="1"/>
          </p:cNvPicPr>
          <p:nvPr/>
        </p:nvPicPr>
        <p:blipFill>
          <a:blip r:embed="rId5"/>
          <a:stretch>
            <a:fillRect/>
          </a:stretch>
        </p:blipFill>
        <p:spPr>
          <a:xfrm>
            <a:off x="2514600" y="1463039"/>
            <a:ext cx="310896" cy="310896"/>
          </a:xfrm>
          <a:prstGeom prst="rect">
            <a:avLst/>
          </a:prstGeom>
        </p:spPr>
      </p:pic>
      <p:sp>
        <p:nvSpPr>
          <p:cNvPr id="87" name="TextBox 86"/>
          <p:cNvSpPr txBox="1"/>
          <p:nvPr/>
        </p:nvSpPr>
        <p:spPr>
          <a:xfrm>
            <a:off x="2029967" y="1801368"/>
            <a:ext cx="1280160" cy="228600"/>
          </a:xfrm>
          <a:prstGeom prst="rect">
            <a:avLst/>
          </a:prstGeom>
          <a:noFill/>
        </p:spPr>
        <p:txBody>
          <a:bodyPr wrap="square" lIns="0" rIns="0" tIns="0" bIns="0" anchor="t"/>
          <a:lstStyle/>
          <a:p>
            <a:pPr algn="ctr"/>
            <a:r>
              <a:rPr sz="1000" b="0" i="0">
                <a:solidFill>
                  <a:srgbClr val="5F5F6B"/>
                </a:solidFill>
                <a:latin typeface="Inter"/>
              </a:rPr>
              <a:t>Monitor</a:t>
            </a:r>
          </a:p>
        </p:txBody>
      </p:sp>
      <p:sp>
        <p:nvSpPr>
          <p:cNvPr id="88" name="TextBox 87"/>
          <p:cNvSpPr txBox="1"/>
          <p:nvPr/>
        </p:nvSpPr>
        <p:spPr>
          <a:xfrm>
            <a:off x="2029967" y="2057400"/>
            <a:ext cx="1280160" cy="548640"/>
          </a:xfrm>
          <a:prstGeom prst="rect">
            <a:avLst/>
          </a:prstGeom>
          <a:noFill/>
        </p:spPr>
        <p:txBody>
          <a:bodyPr wrap="square" lIns="0" rIns="0" tIns="0" bIns="0" anchor="ctr"/>
          <a:lstStyle/>
          <a:p>
            <a:pPr algn="ctr"/>
            <a:r>
              <a:rPr sz="1200" b="1" i="0">
                <a:solidFill>
                  <a:srgbClr val="701C7F"/>
                </a:solidFill>
                <a:latin typeface="Inter"/>
              </a:rPr>
              <a:t>“All clear”</a:t>
            </a:r>
          </a:p>
        </p:txBody>
      </p:sp>
      <p:sp>
        <p:nvSpPr>
          <p:cNvPr id="89" name="Right Arrow 88"/>
          <p:cNvSpPr/>
          <p:nvPr/>
        </p:nvSpPr>
        <p:spPr>
          <a:xfrm>
            <a:off x="3337559" y="1929384"/>
            <a:ext cx="146304" cy="164592"/>
          </a:xfrm>
          <a:prstGeom prst="rightArrow">
            <a:avLst/>
          </a:prstGeom>
          <a:solidFill>
            <a:srgbClr val="5F5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3511296" y="1325880"/>
            <a:ext cx="1280160" cy="1371600"/>
          </a:xfrm>
          <a:prstGeom prst="roundRect">
            <a:avLst>
              <a:gd name="adj" fmla="val 8000"/>
            </a:avLst>
          </a:prstGeom>
          <a:solidFill>
            <a:srgbClr val="DB5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1" name="Picture 90" descr="FaBus_w.png"/>
          <p:cNvPicPr>
            <a:picLocks noChangeAspect="1"/>
          </p:cNvPicPr>
          <p:nvPr/>
        </p:nvPicPr>
        <p:blipFill>
          <a:blip r:embed="rId6"/>
          <a:stretch>
            <a:fillRect/>
          </a:stretch>
        </p:blipFill>
        <p:spPr>
          <a:xfrm>
            <a:off x="3995928" y="1463039"/>
            <a:ext cx="310896" cy="310896"/>
          </a:xfrm>
          <a:prstGeom prst="rect">
            <a:avLst/>
          </a:prstGeom>
        </p:spPr>
      </p:pic>
      <p:sp>
        <p:nvSpPr>
          <p:cNvPr id="92" name="TextBox 91"/>
          <p:cNvSpPr txBox="1"/>
          <p:nvPr/>
        </p:nvSpPr>
        <p:spPr>
          <a:xfrm>
            <a:off x="3511296" y="1801368"/>
            <a:ext cx="1280160" cy="228600"/>
          </a:xfrm>
          <a:prstGeom prst="rect">
            <a:avLst/>
          </a:prstGeom>
          <a:noFill/>
        </p:spPr>
        <p:txBody>
          <a:bodyPr wrap="square" lIns="0" rIns="0" tIns="0" bIns="0" anchor="t"/>
          <a:lstStyle/>
          <a:p>
            <a:pPr algn="ctr"/>
            <a:r>
              <a:rPr sz="1000" b="0" i="0">
                <a:solidFill>
                  <a:srgbClr val="FFFFFF"/>
                </a:solidFill>
                <a:latin typeface="Inter"/>
              </a:rPr>
              <a:t>Occupants</a:t>
            </a:r>
          </a:p>
        </p:txBody>
      </p:sp>
      <p:sp>
        <p:nvSpPr>
          <p:cNvPr id="93" name="TextBox 92"/>
          <p:cNvSpPr txBox="1"/>
          <p:nvPr/>
        </p:nvSpPr>
        <p:spPr>
          <a:xfrm>
            <a:off x="3511296" y="2057400"/>
            <a:ext cx="1280160" cy="548640"/>
          </a:xfrm>
          <a:prstGeom prst="rect">
            <a:avLst/>
          </a:prstGeom>
          <a:noFill/>
        </p:spPr>
        <p:txBody>
          <a:bodyPr wrap="square" lIns="0" rIns="0" tIns="0" bIns="0" anchor="ctr"/>
          <a:lstStyle/>
          <a:p>
            <a:pPr algn="ctr"/>
            <a:r>
              <a:rPr sz="1200" b="1" i="0">
                <a:solidFill>
                  <a:srgbClr val="FFFFFF"/>
                </a:solidFill>
                <a:latin typeface="Inter"/>
              </a:rPr>
              <a:t>No warning</a:t>
            </a:r>
          </a:p>
        </p:txBody>
      </p:sp>
      <p:sp>
        <p:nvSpPr>
          <p:cNvPr id="94" name="TextBox 93"/>
          <p:cNvSpPr txBox="1"/>
          <p:nvPr/>
        </p:nvSpPr>
        <p:spPr>
          <a:xfrm>
            <a:off x="548640" y="3063240"/>
            <a:ext cx="4206240" cy="1097280"/>
          </a:xfrm>
          <a:prstGeom prst="rect">
            <a:avLst/>
          </a:prstGeom>
          <a:noFill/>
        </p:spPr>
        <p:txBody>
          <a:bodyPr wrap="square" lIns="0" rIns="0" tIns="0" bIns="0" anchor="t"/>
          <a:lstStyle/>
          <a:p>
            <a:pPr algn="l"/>
            <a:r>
              <a:rPr sz="1700" b="1" i="0">
                <a:solidFill>
                  <a:srgbClr val="701C7F"/>
                </a:solidFill>
                <a:latin typeface="Inter"/>
              </a:rPr>
              <a:t>How do you prove the warning still works – on every OTA release?</a:t>
            </a:r>
          </a:p>
        </p:txBody>
      </p:sp>
      <p:sp>
        <p:nvSpPr>
          <p:cNvPr id="95" name="Rounded Rectangle 94"/>
          <p:cNvSpPr/>
          <p:nvPr/>
        </p:nvSpPr>
        <p:spPr>
          <a:xfrm>
            <a:off x="5120640" y="1325880"/>
            <a:ext cx="3474720" cy="91440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5303520" y="1325880"/>
            <a:ext cx="1600200" cy="914400"/>
          </a:xfrm>
          <a:prstGeom prst="rect">
            <a:avLst/>
          </a:prstGeom>
          <a:noFill/>
        </p:spPr>
        <p:txBody>
          <a:bodyPr wrap="square" lIns="0" rIns="0" tIns="0" bIns="0" anchor="ctr"/>
          <a:lstStyle/>
          <a:p>
            <a:pPr algn="l"/>
            <a:r>
              <a:rPr sz="2000" b="1" i="0">
                <a:solidFill>
                  <a:srgbClr val="701C7F"/>
                </a:solidFill>
                <a:latin typeface="Inter"/>
              </a:rPr>
              <a:t>≥ 5 min</a:t>
            </a:r>
          </a:p>
        </p:txBody>
      </p:sp>
      <p:sp>
        <p:nvSpPr>
          <p:cNvPr id="97" name="TextBox 96"/>
          <p:cNvSpPr txBox="1"/>
          <p:nvPr/>
        </p:nvSpPr>
        <p:spPr>
          <a:xfrm>
            <a:off x="6949440" y="1325880"/>
            <a:ext cx="1554480" cy="914400"/>
          </a:xfrm>
          <a:prstGeom prst="rect">
            <a:avLst/>
          </a:prstGeom>
          <a:noFill/>
        </p:spPr>
        <p:txBody>
          <a:bodyPr wrap="square" lIns="0" rIns="0" tIns="0" bIns="0" anchor="ctr"/>
          <a:lstStyle/>
          <a:p>
            <a:pPr algn="l"/>
            <a:r>
              <a:rPr sz="1100" b="0" i="0">
                <a:solidFill>
                  <a:srgbClr val="262626"/>
                </a:solidFill>
                <a:latin typeface="Inter"/>
              </a:rPr>
              <a:t>UN R100 warning time</a:t>
            </a:r>
          </a:p>
        </p:txBody>
      </p:sp>
      <p:sp>
        <p:nvSpPr>
          <p:cNvPr id="98" name="Rounded Rectangle 97"/>
          <p:cNvSpPr/>
          <p:nvPr/>
        </p:nvSpPr>
        <p:spPr>
          <a:xfrm>
            <a:off x="5120640" y="2404872"/>
            <a:ext cx="3474720" cy="91440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5303520" y="2404872"/>
            <a:ext cx="1600200" cy="914400"/>
          </a:xfrm>
          <a:prstGeom prst="rect">
            <a:avLst/>
          </a:prstGeom>
          <a:noFill/>
        </p:spPr>
        <p:txBody>
          <a:bodyPr wrap="square" lIns="0" rIns="0" tIns="0" bIns="0" anchor="ctr"/>
          <a:lstStyle/>
          <a:p>
            <a:pPr algn="l"/>
            <a:r>
              <a:rPr sz="2000" b="1" i="0">
                <a:solidFill>
                  <a:srgbClr val="701C7F"/>
                </a:solidFill>
                <a:latin typeface="Inter"/>
              </a:rPr>
              <a:t>Every OTA</a:t>
            </a:r>
          </a:p>
        </p:txBody>
      </p:sp>
      <p:sp>
        <p:nvSpPr>
          <p:cNvPr id="100" name="TextBox 99"/>
          <p:cNvSpPr txBox="1"/>
          <p:nvPr/>
        </p:nvSpPr>
        <p:spPr>
          <a:xfrm>
            <a:off x="6949440" y="2404872"/>
            <a:ext cx="1554480" cy="914400"/>
          </a:xfrm>
          <a:prstGeom prst="rect">
            <a:avLst/>
          </a:prstGeom>
          <a:noFill/>
        </p:spPr>
        <p:txBody>
          <a:bodyPr wrap="square" lIns="0" rIns="0" tIns="0" bIns="0" anchor="ctr"/>
          <a:lstStyle/>
          <a:p>
            <a:pPr algn="l"/>
            <a:r>
              <a:rPr sz="1100" b="0" i="0">
                <a:solidFill>
                  <a:srgbClr val="262626"/>
                </a:solidFill>
                <a:latin typeface="Inter"/>
              </a:rPr>
              <a:t>UN R156 proof per update</a:t>
            </a:r>
          </a:p>
        </p:txBody>
      </p:sp>
      <p:sp>
        <p:nvSpPr>
          <p:cNvPr id="101" name="Rounded Rectangle 100"/>
          <p:cNvSpPr/>
          <p:nvPr/>
        </p:nvSpPr>
        <p:spPr>
          <a:xfrm>
            <a:off x="5120640" y="3483863"/>
            <a:ext cx="3474720" cy="91440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5303520" y="3483863"/>
            <a:ext cx="1600200" cy="914400"/>
          </a:xfrm>
          <a:prstGeom prst="rect">
            <a:avLst/>
          </a:prstGeom>
          <a:noFill/>
        </p:spPr>
        <p:txBody>
          <a:bodyPr wrap="square" lIns="0" rIns="0" tIns="0" bIns="0" anchor="ctr"/>
          <a:lstStyle/>
          <a:p>
            <a:pPr algn="l"/>
            <a:r>
              <a:rPr sz="2000" b="1" i="0">
                <a:solidFill>
                  <a:srgbClr val="701C7F"/>
                </a:solidFill>
                <a:latin typeface="Inter"/>
              </a:rPr>
              <a:t>07/2026</a:t>
            </a:r>
          </a:p>
        </p:txBody>
      </p:sp>
      <p:sp>
        <p:nvSpPr>
          <p:cNvPr id="103" name="TextBox 102"/>
          <p:cNvSpPr txBox="1"/>
          <p:nvPr/>
        </p:nvSpPr>
        <p:spPr>
          <a:xfrm>
            <a:off x="6949440" y="3483863"/>
            <a:ext cx="1554480" cy="914400"/>
          </a:xfrm>
          <a:prstGeom prst="rect">
            <a:avLst/>
          </a:prstGeom>
          <a:noFill/>
        </p:spPr>
        <p:txBody>
          <a:bodyPr wrap="square" lIns="0" rIns="0" tIns="0" bIns="0" anchor="ctr"/>
          <a:lstStyle/>
          <a:p>
            <a:pPr algn="l"/>
            <a:r>
              <a:rPr sz="1100" b="0" i="0">
                <a:solidFill>
                  <a:srgbClr val="262626"/>
                </a:solidFill>
                <a:latin typeface="Inter"/>
              </a:rPr>
              <a:t>GB 38031: no fire, no explosion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85" name="Google Shape;85;p16"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87" name="Google Shape;87;p16"/>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Our Solution: A Portable Safety Evidence Factory</a:t>
            </a:r>
            <a:endParaRPr sz="400">
              <a:latin typeface="Inter ExtraBold"/>
              <a:ea typeface="Inter ExtraBold"/>
              <a:cs typeface="Inter ExtraBold"/>
              <a:sym typeface="Inter ExtraBold"/>
            </a:endParaRPr>
          </a:p>
        </p:txBody>
      </p:sp>
      <p:sp>
        <p:nvSpPr>
          <p:cNvPr id="88" name="Pentagon 87"/>
          <p:cNvSpPr/>
          <p:nvPr/>
        </p:nvSpPr>
        <p:spPr>
          <a:xfrm>
            <a:off x="548640" y="1371600"/>
            <a:ext cx="1417320" cy="640080"/>
          </a:xfrm>
          <a:prstGeom prst="homePlate">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50" b="1" i="0">
                <a:solidFill>
                  <a:srgbClr val="FFFFFF"/>
                </a:solidFill>
                <a:latin typeface="Inter"/>
              </a:rPr>
              <a:t>Hazard</a:t>
            </a:r>
          </a:p>
        </p:txBody>
      </p:sp>
      <p:sp>
        <p:nvSpPr>
          <p:cNvPr id="89" name="Chevron 88"/>
          <p:cNvSpPr/>
          <p:nvPr/>
        </p:nvSpPr>
        <p:spPr>
          <a:xfrm>
            <a:off x="1874519" y="1371600"/>
            <a:ext cx="1417320" cy="640080"/>
          </a:xfrm>
          <a:prstGeom prst="chevron">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50" b="1" i="0">
                <a:solidFill>
                  <a:srgbClr val="FFFFFF"/>
                </a:solidFill>
                <a:latin typeface="Inter"/>
              </a:rPr>
              <a:t>Safety goal</a:t>
            </a:r>
          </a:p>
        </p:txBody>
      </p:sp>
      <p:sp>
        <p:nvSpPr>
          <p:cNvPr id="90" name="Chevron 89"/>
          <p:cNvSpPr/>
          <p:nvPr/>
        </p:nvSpPr>
        <p:spPr>
          <a:xfrm>
            <a:off x="3200400" y="1371600"/>
            <a:ext cx="1417320" cy="640080"/>
          </a:xfrm>
          <a:prstGeom prst="chevron">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50" b="1" i="0">
                <a:solidFill>
                  <a:srgbClr val="FFFFFF"/>
                </a:solidFill>
                <a:latin typeface="Inter"/>
              </a:rPr>
              <a:t>Fault</a:t>
            </a:r>
          </a:p>
        </p:txBody>
      </p:sp>
      <p:sp>
        <p:nvSpPr>
          <p:cNvPr id="91" name="Chevron 90"/>
          <p:cNvSpPr/>
          <p:nvPr/>
        </p:nvSpPr>
        <p:spPr>
          <a:xfrm>
            <a:off x="4526279" y="1371600"/>
            <a:ext cx="1417320" cy="640080"/>
          </a:xfrm>
          <a:prstGeom prst="chevron">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50" b="1" i="0">
                <a:solidFill>
                  <a:srgbClr val="FFFFFF"/>
                </a:solidFill>
                <a:latin typeface="Inter"/>
              </a:rPr>
              <a:t>Detection</a:t>
            </a:r>
          </a:p>
        </p:txBody>
      </p:sp>
      <p:sp>
        <p:nvSpPr>
          <p:cNvPr id="92" name="Chevron 91"/>
          <p:cNvSpPr/>
          <p:nvPr/>
        </p:nvSpPr>
        <p:spPr>
          <a:xfrm>
            <a:off x="5852159" y="1371600"/>
            <a:ext cx="1417320" cy="640080"/>
          </a:xfrm>
          <a:prstGeom prst="chevron">
            <a:avLst/>
          </a:prstGeom>
          <a:solidFill>
            <a:srgbClr val="AB0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50" b="1" i="0">
                <a:solidFill>
                  <a:srgbClr val="FFFFFF"/>
                </a:solidFill>
                <a:latin typeface="Inter"/>
              </a:rPr>
              <a:t>Mitigation</a:t>
            </a:r>
          </a:p>
        </p:txBody>
      </p:sp>
      <p:sp>
        <p:nvSpPr>
          <p:cNvPr id="93" name="Chevron 92"/>
          <p:cNvSpPr/>
          <p:nvPr/>
        </p:nvSpPr>
        <p:spPr>
          <a:xfrm>
            <a:off x="7178040" y="1371600"/>
            <a:ext cx="1417320" cy="640080"/>
          </a:xfrm>
          <a:prstGeom prst="chevron">
            <a:avLst/>
          </a:prstGeom>
          <a:solidFill>
            <a:srgbClr val="DB52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150" b="1" i="0">
                <a:solidFill>
                  <a:srgbClr val="FFFFFF"/>
                </a:solidFill>
                <a:latin typeface="Inter"/>
              </a:rPr>
              <a:t>Verdict</a:t>
            </a:r>
          </a:p>
        </p:txBody>
      </p:sp>
      <p:sp>
        <p:nvSpPr>
          <p:cNvPr id="94" name="TextBox 93"/>
          <p:cNvSpPr txBox="1"/>
          <p:nvPr/>
        </p:nvSpPr>
        <p:spPr>
          <a:xfrm>
            <a:off x="548640" y="2240280"/>
            <a:ext cx="8046720" cy="365760"/>
          </a:xfrm>
          <a:prstGeom prst="rect">
            <a:avLst/>
          </a:prstGeom>
          <a:noFill/>
        </p:spPr>
        <p:txBody>
          <a:bodyPr wrap="square" lIns="0" rIns="0" tIns="0" bIns="0" anchor="t"/>
          <a:lstStyle/>
          <a:p>
            <a:pPr algn="ctr"/>
            <a:r>
              <a:rPr sz="1400" b="1" i="1">
                <a:solidFill>
                  <a:srgbClr val="701C7F"/>
                </a:solidFill>
                <a:latin typeface="Inter"/>
              </a:rPr>
              <a:t>Every verdict traced back to its hazard – automatically.</a:t>
            </a:r>
          </a:p>
        </p:txBody>
      </p:sp>
      <p:sp>
        <p:nvSpPr>
          <p:cNvPr id="95" name="Rounded Rectangle 94"/>
          <p:cNvSpPr/>
          <p:nvPr/>
        </p:nvSpPr>
        <p:spPr>
          <a:xfrm>
            <a:off x="548640" y="2926080"/>
            <a:ext cx="256032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Oval 95"/>
          <p:cNvSpPr/>
          <p:nvPr/>
        </p:nvSpPr>
        <p:spPr>
          <a:xfrm>
            <a:off x="1572768" y="3063240"/>
            <a:ext cx="512064" cy="51206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FaLink_w.png"/>
          <p:cNvPicPr>
            <a:picLocks noChangeAspect="1"/>
          </p:cNvPicPr>
          <p:nvPr/>
        </p:nvPicPr>
        <p:blipFill>
          <a:blip r:embed="rId4"/>
          <a:stretch>
            <a:fillRect/>
          </a:stretch>
        </p:blipFill>
        <p:spPr>
          <a:xfrm>
            <a:off x="1700784" y="3191256"/>
            <a:ext cx="256032" cy="256032"/>
          </a:xfrm>
          <a:prstGeom prst="rect">
            <a:avLst/>
          </a:prstGeom>
        </p:spPr>
      </p:pic>
      <p:sp>
        <p:nvSpPr>
          <p:cNvPr id="98" name="TextBox 97"/>
          <p:cNvSpPr txBox="1"/>
          <p:nvPr/>
        </p:nvSpPr>
        <p:spPr>
          <a:xfrm>
            <a:off x="548640" y="3639312"/>
            <a:ext cx="2560320" cy="320040"/>
          </a:xfrm>
          <a:prstGeom prst="rect">
            <a:avLst/>
          </a:prstGeom>
          <a:noFill/>
        </p:spPr>
        <p:txBody>
          <a:bodyPr wrap="square" lIns="0" rIns="0" tIns="0" bIns="0" anchor="t"/>
          <a:lstStyle/>
          <a:p>
            <a:pPr algn="ctr"/>
            <a:r>
              <a:rPr sz="1400" b="1" i="0">
                <a:solidFill>
                  <a:srgbClr val="701C7F"/>
                </a:solidFill>
                <a:latin typeface="Inter"/>
              </a:rPr>
              <a:t>Traceable</a:t>
            </a:r>
          </a:p>
        </p:txBody>
      </p:sp>
      <p:sp>
        <p:nvSpPr>
          <p:cNvPr id="99" name="TextBox 98"/>
          <p:cNvSpPr txBox="1"/>
          <p:nvPr/>
        </p:nvSpPr>
        <p:spPr>
          <a:xfrm>
            <a:off x="548640" y="3950208"/>
            <a:ext cx="2560320" cy="274320"/>
          </a:xfrm>
          <a:prstGeom prst="rect">
            <a:avLst/>
          </a:prstGeom>
          <a:noFill/>
        </p:spPr>
        <p:txBody>
          <a:bodyPr wrap="square" lIns="0" rIns="0" tIns="0" bIns="0" anchor="t"/>
          <a:lstStyle/>
          <a:p>
            <a:pPr algn="ctr"/>
            <a:r>
              <a:rPr sz="1100" b="0" i="0">
                <a:solidFill>
                  <a:srgbClr val="262626"/>
                </a:solidFill>
                <a:latin typeface="Inter"/>
              </a:rPr>
              <a:t>Hazard → verdict, every test</a:t>
            </a:r>
          </a:p>
        </p:txBody>
      </p:sp>
      <p:sp>
        <p:nvSpPr>
          <p:cNvPr id="100" name="Rounded Rectangle 99"/>
          <p:cNvSpPr/>
          <p:nvPr/>
        </p:nvSpPr>
        <p:spPr>
          <a:xfrm>
            <a:off x="3291840" y="2926080"/>
            <a:ext cx="256032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4315968" y="3063240"/>
            <a:ext cx="512064" cy="51206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 name="Picture 101" descr="FaExchangeAlt_w.png"/>
          <p:cNvPicPr>
            <a:picLocks noChangeAspect="1"/>
          </p:cNvPicPr>
          <p:nvPr/>
        </p:nvPicPr>
        <p:blipFill>
          <a:blip r:embed="rId5"/>
          <a:stretch>
            <a:fillRect/>
          </a:stretch>
        </p:blipFill>
        <p:spPr>
          <a:xfrm>
            <a:off x="4443983" y="3191256"/>
            <a:ext cx="256032" cy="256032"/>
          </a:xfrm>
          <a:prstGeom prst="rect">
            <a:avLst/>
          </a:prstGeom>
        </p:spPr>
      </p:pic>
      <p:sp>
        <p:nvSpPr>
          <p:cNvPr id="103" name="TextBox 102"/>
          <p:cNvSpPr txBox="1"/>
          <p:nvPr/>
        </p:nvSpPr>
        <p:spPr>
          <a:xfrm>
            <a:off x="3291840" y="3639312"/>
            <a:ext cx="2560320" cy="320040"/>
          </a:xfrm>
          <a:prstGeom prst="rect">
            <a:avLst/>
          </a:prstGeom>
          <a:noFill/>
        </p:spPr>
        <p:txBody>
          <a:bodyPr wrap="square" lIns="0" rIns="0" tIns="0" bIns="0" anchor="t"/>
          <a:lstStyle/>
          <a:p>
            <a:pPr algn="ctr"/>
            <a:r>
              <a:rPr sz="1400" b="1" i="0">
                <a:solidFill>
                  <a:srgbClr val="701C7F"/>
                </a:solidFill>
                <a:latin typeface="Inter"/>
              </a:rPr>
              <a:t>Portable</a:t>
            </a:r>
          </a:p>
        </p:txBody>
      </p:sp>
      <p:sp>
        <p:nvSpPr>
          <p:cNvPr id="104" name="TextBox 103"/>
          <p:cNvSpPr txBox="1"/>
          <p:nvPr/>
        </p:nvSpPr>
        <p:spPr>
          <a:xfrm>
            <a:off x="3291840" y="3950208"/>
            <a:ext cx="2560320" cy="274320"/>
          </a:xfrm>
          <a:prstGeom prst="rect">
            <a:avLst/>
          </a:prstGeom>
          <a:noFill/>
        </p:spPr>
        <p:txBody>
          <a:bodyPr wrap="square" lIns="0" rIns="0" tIns="0" bIns="0" anchor="t"/>
          <a:lstStyle/>
          <a:p>
            <a:pPr algn="ctr"/>
            <a:r>
              <a:rPr sz="1100" b="0" i="0">
                <a:solidFill>
                  <a:srgbClr val="262626"/>
                </a:solidFill>
                <a:latin typeface="Inter"/>
              </a:rPr>
              <a:t>CI · Cloud · Vehicle</a:t>
            </a:r>
          </a:p>
        </p:txBody>
      </p:sp>
      <p:sp>
        <p:nvSpPr>
          <p:cNvPr id="105" name="Rounded Rectangle 104"/>
          <p:cNvSpPr/>
          <p:nvPr/>
        </p:nvSpPr>
        <p:spPr>
          <a:xfrm>
            <a:off x="6035040" y="2926080"/>
            <a:ext cx="256032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Oval 105"/>
          <p:cNvSpPr/>
          <p:nvPr/>
        </p:nvSpPr>
        <p:spPr>
          <a:xfrm>
            <a:off x="7059168" y="3063240"/>
            <a:ext cx="512064" cy="51206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7" name="Picture 106" descr="FaRedo_w.png"/>
          <p:cNvPicPr>
            <a:picLocks noChangeAspect="1"/>
          </p:cNvPicPr>
          <p:nvPr/>
        </p:nvPicPr>
        <p:blipFill>
          <a:blip r:embed="rId6"/>
          <a:stretch>
            <a:fillRect/>
          </a:stretch>
        </p:blipFill>
        <p:spPr>
          <a:xfrm>
            <a:off x="7187183" y="3191256"/>
            <a:ext cx="256032" cy="256032"/>
          </a:xfrm>
          <a:prstGeom prst="rect">
            <a:avLst/>
          </a:prstGeom>
        </p:spPr>
      </p:pic>
      <p:sp>
        <p:nvSpPr>
          <p:cNvPr id="108" name="TextBox 107"/>
          <p:cNvSpPr txBox="1"/>
          <p:nvPr/>
        </p:nvSpPr>
        <p:spPr>
          <a:xfrm>
            <a:off x="6035040" y="3639312"/>
            <a:ext cx="2560320" cy="320040"/>
          </a:xfrm>
          <a:prstGeom prst="rect">
            <a:avLst/>
          </a:prstGeom>
          <a:noFill/>
        </p:spPr>
        <p:txBody>
          <a:bodyPr wrap="square" lIns="0" rIns="0" tIns="0" bIns="0" anchor="t"/>
          <a:lstStyle/>
          <a:p>
            <a:pPr algn="ctr"/>
            <a:r>
              <a:rPr sz="1400" b="1" i="0">
                <a:solidFill>
                  <a:srgbClr val="701C7F"/>
                </a:solidFill>
                <a:latin typeface="Inter"/>
              </a:rPr>
              <a:t>Repeatable</a:t>
            </a:r>
          </a:p>
        </p:txBody>
      </p:sp>
      <p:sp>
        <p:nvSpPr>
          <p:cNvPr id="109" name="TextBox 108"/>
          <p:cNvSpPr txBox="1"/>
          <p:nvPr/>
        </p:nvSpPr>
        <p:spPr>
          <a:xfrm>
            <a:off x="6035040" y="3950208"/>
            <a:ext cx="2560320" cy="274320"/>
          </a:xfrm>
          <a:prstGeom prst="rect">
            <a:avLst/>
          </a:prstGeom>
          <a:noFill/>
        </p:spPr>
        <p:txBody>
          <a:bodyPr wrap="square" lIns="0" rIns="0" tIns="0" bIns="0" anchor="t"/>
          <a:lstStyle/>
          <a:p>
            <a:pPr algn="ctr"/>
            <a:r>
              <a:rPr sz="1100" b="0" i="0">
                <a:solidFill>
                  <a:srgbClr val="262626"/>
                </a:solidFill>
                <a:latin typeface="Inter"/>
              </a:rPr>
              <a:t>Same input, same verdict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01" name="Google Shape;101;p18"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03" name="Google Shape;103;p18"/>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Product: Cloud and In-Vehicle</a:t>
            </a:r>
            <a:endParaRPr sz="400">
              <a:latin typeface="Inter ExtraBold"/>
              <a:ea typeface="Inter ExtraBold"/>
              <a:cs typeface="Inter ExtraBold"/>
              <a:sym typeface="Inter ExtraBold"/>
            </a:endParaRPr>
          </a:p>
        </p:txBody>
      </p:sp>
      <p:sp>
        <p:nvSpPr>
          <p:cNvPr id="104" name="Oval 103"/>
          <p:cNvSpPr/>
          <p:nvPr/>
        </p:nvSpPr>
        <p:spPr>
          <a:xfrm>
            <a:off x="548640" y="1234440"/>
            <a:ext cx="365760" cy="36576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Inter"/>
              </a:rPr>
              <a:t>1</a:t>
            </a:r>
          </a:p>
        </p:txBody>
      </p:sp>
      <p:sp>
        <p:nvSpPr>
          <p:cNvPr id="105" name="TextBox 104"/>
          <p:cNvSpPr txBox="1"/>
          <p:nvPr/>
        </p:nvSpPr>
        <p:spPr>
          <a:xfrm>
            <a:off x="1005840" y="1234440"/>
            <a:ext cx="3474720" cy="365760"/>
          </a:xfrm>
          <a:prstGeom prst="rect">
            <a:avLst/>
          </a:prstGeom>
          <a:noFill/>
        </p:spPr>
        <p:txBody>
          <a:bodyPr wrap="square" lIns="0" rIns="0" tIns="0" bIns="0" anchor="ctr"/>
          <a:lstStyle/>
          <a:p>
            <a:pPr algn="l"/>
            <a:r>
              <a:rPr sz="1400" b="1" i="0">
                <a:solidFill>
                  <a:srgbClr val="701C7F"/>
                </a:solidFill>
                <a:latin typeface="Inter"/>
              </a:rPr>
              <a:t>Cloud / CI</a:t>
            </a:r>
          </a:p>
        </p:txBody>
      </p:sp>
      <p:pic>
        <p:nvPicPr>
          <p:cNvPr id="106" name="Picture 105" descr="image.png"/>
          <p:cNvPicPr>
            <a:picLocks noChangeAspect="1"/>
          </p:cNvPicPr>
          <p:nvPr/>
        </p:nvPicPr>
        <p:blipFill>
          <a:blip r:embed="rId4"/>
          <a:srcRect l="19000"/>
          <a:stretch>
            <a:fillRect/>
          </a:stretch>
        </p:blipFill>
        <p:spPr>
          <a:xfrm>
            <a:off x="302083" y="1691640"/>
            <a:ext cx="4425034" cy="2331720"/>
          </a:xfrm>
          <a:prstGeom prst="rect">
            <a:avLst/>
          </a:prstGeom>
        </p:spPr>
      </p:pic>
      <p:sp>
        <p:nvSpPr>
          <p:cNvPr id="107" name="TextBox 106"/>
          <p:cNvSpPr txBox="1"/>
          <p:nvPr/>
        </p:nvSpPr>
        <p:spPr>
          <a:xfrm>
            <a:off x="548640" y="4096512"/>
            <a:ext cx="3931920" cy="320040"/>
          </a:xfrm>
          <a:prstGeom prst="rect">
            <a:avLst/>
          </a:prstGeom>
          <a:noFill/>
        </p:spPr>
        <p:txBody>
          <a:bodyPr wrap="square" lIns="0" rIns="0" tIns="0" bIns="0" anchor="t"/>
          <a:lstStyle/>
          <a:p>
            <a:pPr algn="ctr"/>
            <a:r>
              <a:rPr sz="1200" b="1" i="0">
                <a:solidFill>
                  <a:srgbClr val="262626"/>
                </a:solidFill>
                <a:latin typeface="Inter"/>
              </a:rPr>
              <a:t>Evidence on every release – no lab</a:t>
            </a:r>
          </a:p>
        </p:txBody>
      </p:sp>
      <p:sp>
        <p:nvSpPr>
          <p:cNvPr id="108" name="Oval 107"/>
          <p:cNvSpPr/>
          <p:nvPr/>
        </p:nvSpPr>
        <p:spPr>
          <a:xfrm>
            <a:off x="4663440" y="1234440"/>
            <a:ext cx="365760" cy="36576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Inter"/>
              </a:rPr>
              <a:t>2</a:t>
            </a:r>
          </a:p>
        </p:txBody>
      </p:sp>
      <p:sp>
        <p:nvSpPr>
          <p:cNvPr id="109" name="TextBox 108"/>
          <p:cNvSpPr txBox="1"/>
          <p:nvPr/>
        </p:nvSpPr>
        <p:spPr>
          <a:xfrm>
            <a:off x="5120640" y="1234440"/>
            <a:ext cx="3474720" cy="365760"/>
          </a:xfrm>
          <a:prstGeom prst="rect">
            <a:avLst/>
          </a:prstGeom>
          <a:noFill/>
        </p:spPr>
        <p:txBody>
          <a:bodyPr wrap="square" lIns="0" rIns="0" tIns="0" bIns="0" anchor="ctr"/>
          <a:lstStyle/>
          <a:p>
            <a:pPr algn="l"/>
            <a:r>
              <a:rPr sz="1400" b="1" i="0">
                <a:solidFill>
                  <a:srgbClr val="701C7F"/>
                </a:solidFill>
                <a:latin typeface="Inter"/>
              </a:rPr>
              <a:t>In-Vehicle (HPC + MCU)</a:t>
            </a:r>
          </a:p>
        </p:txBody>
      </p:sp>
      <p:pic>
        <p:nvPicPr>
          <p:cNvPr id="110" name="Picture 109" descr="image.png"/>
          <p:cNvPicPr>
            <a:picLocks noChangeAspect="1"/>
          </p:cNvPicPr>
          <p:nvPr/>
        </p:nvPicPr>
        <p:blipFill>
          <a:blip r:embed="rId5"/>
          <a:srcRect l="16200"/>
          <a:stretch>
            <a:fillRect/>
          </a:stretch>
        </p:blipFill>
        <p:spPr>
          <a:xfrm>
            <a:off x="4736392" y="1691640"/>
            <a:ext cx="3786015" cy="2331720"/>
          </a:xfrm>
          <a:prstGeom prst="rect">
            <a:avLst/>
          </a:prstGeom>
        </p:spPr>
      </p:pic>
      <p:sp>
        <p:nvSpPr>
          <p:cNvPr id="111" name="TextBox 110"/>
          <p:cNvSpPr txBox="1"/>
          <p:nvPr/>
        </p:nvSpPr>
        <p:spPr>
          <a:xfrm>
            <a:off x="4663440" y="4096512"/>
            <a:ext cx="3931920" cy="320040"/>
          </a:xfrm>
          <a:prstGeom prst="rect">
            <a:avLst/>
          </a:prstGeom>
          <a:noFill/>
        </p:spPr>
        <p:txBody>
          <a:bodyPr wrap="square" lIns="0" rIns="0" tIns="0" bIns="0" anchor="t"/>
          <a:lstStyle/>
          <a:p>
            <a:pPr algn="ctr"/>
            <a:r>
              <a:rPr sz="1200" b="1" i="0">
                <a:solidFill>
                  <a:srgbClr val="262626"/>
                </a:solidFill>
                <a:latin typeface="Inter"/>
              </a:rPr>
              <a:t>Same campaigns – evidence from the road</a:t>
            </a:r>
          </a:p>
        </p:txBody>
      </p:sp>
      <p:sp>
        <p:nvSpPr>
          <p:cNvPr id="112" name="Rectangle 111"/>
          <p:cNvSpPr/>
          <p:nvPr/>
        </p:nvSpPr>
        <p:spPr>
          <a:xfrm>
            <a:off x="6035040" y="4544568"/>
            <a:ext cx="146304" cy="146304"/>
          </a:xfrm>
          <a:prstGeom prst="rect">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6236207" y="4498848"/>
            <a:ext cx="1097280" cy="237744"/>
          </a:xfrm>
          <a:prstGeom prst="rect">
            <a:avLst/>
          </a:prstGeom>
          <a:noFill/>
        </p:spPr>
        <p:txBody>
          <a:bodyPr wrap="square" lIns="0" rIns="0" tIns="0" bIns="0" anchor="ctr"/>
          <a:lstStyle/>
          <a:p>
            <a:pPr algn="l"/>
            <a:r>
              <a:rPr sz="900" b="0" i="0">
                <a:solidFill>
                  <a:srgbClr val="5F5F6B"/>
                </a:solidFill>
                <a:latin typeface="Inter"/>
              </a:rPr>
              <a:t>Our software</a:t>
            </a:r>
          </a:p>
        </p:txBody>
      </p:sp>
      <p:sp>
        <p:nvSpPr>
          <p:cNvPr id="114" name="Rectangle 113"/>
          <p:cNvSpPr/>
          <p:nvPr/>
        </p:nvSpPr>
        <p:spPr>
          <a:xfrm>
            <a:off x="7315200" y="4544568"/>
            <a:ext cx="146304" cy="146304"/>
          </a:xfrm>
          <a:prstGeom prst="rect">
            <a:avLst/>
          </a:prstGeom>
          <a:solidFill>
            <a:srgbClr val="F794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7516368" y="4498848"/>
            <a:ext cx="1097280" cy="237744"/>
          </a:xfrm>
          <a:prstGeom prst="rect">
            <a:avLst/>
          </a:prstGeom>
          <a:noFill/>
        </p:spPr>
        <p:txBody>
          <a:bodyPr wrap="square" lIns="0" rIns="0" tIns="0" bIns="0" anchor="ctr"/>
          <a:lstStyle/>
          <a:p>
            <a:pPr algn="l"/>
            <a:r>
              <a:rPr sz="900" b="0" i="0">
                <a:solidFill>
                  <a:srgbClr val="5F5F6B"/>
                </a:solidFill>
                <a:latin typeface="Inter"/>
              </a:rPr>
              <a:t>Your software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93" name="Google Shape;93;p17"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95" name="Google Shape;95;p17"/>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Live Demo: Catching a Stuck Sensor</a:t>
            </a:r>
            <a:endParaRPr sz="400">
              <a:latin typeface="Inter ExtraBold"/>
              <a:ea typeface="Inter ExtraBold"/>
              <a:cs typeface="Inter ExtraBold"/>
              <a:sym typeface="Inter ExtraBold"/>
            </a:endParaRPr>
          </a:p>
        </p:txBody>
      </p:sp>
      <p:cxnSp>
        <p:nvCxnSpPr>
          <p:cNvPr id="96" name="Connector 95"/>
          <p:cNvCxnSpPr/>
          <p:nvPr/>
        </p:nvCxnSpPr>
        <p:spPr>
          <a:xfrm>
            <a:off x="1353312" y="1737360"/>
            <a:ext cx="6437376" cy="0"/>
          </a:xfrm>
          <a:prstGeom prst="line">
            <a:avLst/>
          </a:prstGeom>
          <a:ln w="25400">
            <a:solidFill>
              <a:srgbClr val="C9A5D0"/>
            </a:solidFill>
          </a:ln>
        </p:spPr>
        <p:style>
          <a:lnRef idx="2">
            <a:schemeClr val="accent1"/>
          </a:lnRef>
          <a:fillRef idx="0">
            <a:schemeClr val="accent1"/>
          </a:fillRef>
          <a:effectRef idx="1">
            <a:schemeClr val="accent1"/>
          </a:effectRef>
          <a:fontRef idx="minor">
            <a:schemeClr val="tx1"/>
          </a:fontRef>
        </p:style>
      </p:cxnSp>
      <p:sp>
        <p:nvSpPr>
          <p:cNvPr id="97" name="Oval 96"/>
          <p:cNvSpPr/>
          <p:nvPr/>
        </p:nvSpPr>
        <p:spPr>
          <a:xfrm>
            <a:off x="1060704" y="1444752"/>
            <a:ext cx="585216" cy="58521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1</a:t>
            </a:r>
          </a:p>
        </p:txBody>
      </p:sp>
      <p:sp>
        <p:nvSpPr>
          <p:cNvPr id="98" name="TextBox 97"/>
          <p:cNvSpPr txBox="1"/>
          <p:nvPr/>
        </p:nvSpPr>
        <p:spPr>
          <a:xfrm>
            <a:off x="576072" y="2194560"/>
            <a:ext cx="1554480" cy="320040"/>
          </a:xfrm>
          <a:prstGeom prst="rect">
            <a:avLst/>
          </a:prstGeom>
          <a:noFill/>
        </p:spPr>
        <p:txBody>
          <a:bodyPr wrap="square" lIns="0" rIns="0" tIns="0" bIns="0" anchor="t"/>
          <a:lstStyle/>
          <a:p>
            <a:pPr algn="ctr"/>
            <a:r>
              <a:rPr sz="1400" b="1" i="0">
                <a:solidFill>
                  <a:srgbClr val="701C7F"/>
                </a:solidFill>
                <a:latin typeface="Inter"/>
              </a:rPr>
              <a:t>Baseline</a:t>
            </a:r>
          </a:p>
        </p:txBody>
      </p:sp>
      <p:sp>
        <p:nvSpPr>
          <p:cNvPr id="99" name="TextBox 98"/>
          <p:cNvSpPr txBox="1"/>
          <p:nvPr/>
        </p:nvSpPr>
        <p:spPr>
          <a:xfrm>
            <a:off x="576072" y="2542032"/>
            <a:ext cx="1554480" cy="457200"/>
          </a:xfrm>
          <a:prstGeom prst="rect">
            <a:avLst/>
          </a:prstGeom>
          <a:noFill/>
        </p:spPr>
        <p:txBody>
          <a:bodyPr wrap="square" lIns="0" rIns="0" tIns="0" bIns="0" anchor="t"/>
          <a:lstStyle/>
          <a:p>
            <a:pPr algn="ctr"/>
            <a:r>
              <a:rPr sz="1100" b="0" i="0">
                <a:solidFill>
                  <a:srgbClr val="262626"/>
                </a:solidFill>
                <a:latin typeface="Inter"/>
              </a:rPr>
              <a:t>Sensor → Guardian</a:t>
            </a:r>
          </a:p>
        </p:txBody>
      </p:sp>
      <p:sp>
        <p:nvSpPr>
          <p:cNvPr id="100" name="Oval 99"/>
          <p:cNvSpPr/>
          <p:nvPr/>
        </p:nvSpPr>
        <p:spPr>
          <a:xfrm>
            <a:off x="2670048" y="1444752"/>
            <a:ext cx="585216" cy="58521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2</a:t>
            </a:r>
          </a:p>
        </p:txBody>
      </p:sp>
      <p:sp>
        <p:nvSpPr>
          <p:cNvPr id="101" name="TextBox 100"/>
          <p:cNvSpPr txBox="1"/>
          <p:nvPr/>
        </p:nvSpPr>
        <p:spPr>
          <a:xfrm>
            <a:off x="2185416" y="2194560"/>
            <a:ext cx="1554480" cy="320040"/>
          </a:xfrm>
          <a:prstGeom prst="rect">
            <a:avLst/>
          </a:prstGeom>
          <a:noFill/>
        </p:spPr>
        <p:txBody>
          <a:bodyPr wrap="square" lIns="0" rIns="0" tIns="0" bIns="0" anchor="t"/>
          <a:lstStyle/>
          <a:p>
            <a:pPr algn="ctr"/>
            <a:r>
              <a:rPr sz="1400" b="1" i="0">
                <a:solidFill>
                  <a:srgbClr val="701C7F"/>
                </a:solidFill>
                <a:latin typeface="Inter"/>
              </a:rPr>
              <a:t>Inject</a:t>
            </a:r>
          </a:p>
        </p:txBody>
      </p:sp>
      <p:sp>
        <p:nvSpPr>
          <p:cNvPr id="102" name="TextBox 101"/>
          <p:cNvSpPr txBox="1"/>
          <p:nvPr/>
        </p:nvSpPr>
        <p:spPr>
          <a:xfrm>
            <a:off x="2185416" y="2542032"/>
            <a:ext cx="1554480" cy="457200"/>
          </a:xfrm>
          <a:prstGeom prst="rect">
            <a:avLst/>
          </a:prstGeom>
          <a:noFill/>
        </p:spPr>
        <p:txBody>
          <a:bodyPr wrap="square" lIns="0" rIns="0" tIns="0" bIns="0" anchor="t"/>
          <a:lstStyle/>
          <a:p>
            <a:pPr algn="ctr"/>
            <a:r>
              <a:rPr sz="1100" b="0" i="0">
                <a:solidFill>
                  <a:srgbClr val="262626"/>
                </a:solidFill>
                <a:latin typeface="Inter"/>
              </a:rPr>
              <a:t>Freeze temperature</a:t>
            </a:r>
          </a:p>
        </p:txBody>
      </p:sp>
      <p:sp>
        <p:nvSpPr>
          <p:cNvPr id="103" name="Oval 102"/>
          <p:cNvSpPr/>
          <p:nvPr/>
        </p:nvSpPr>
        <p:spPr>
          <a:xfrm>
            <a:off x="4279392" y="1444752"/>
            <a:ext cx="585216" cy="58521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3</a:t>
            </a:r>
          </a:p>
        </p:txBody>
      </p:sp>
      <p:sp>
        <p:nvSpPr>
          <p:cNvPr id="104" name="TextBox 103"/>
          <p:cNvSpPr txBox="1"/>
          <p:nvPr/>
        </p:nvSpPr>
        <p:spPr>
          <a:xfrm>
            <a:off x="3794760" y="2194560"/>
            <a:ext cx="1554480" cy="320040"/>
          </a:xfrm>
          <a:prstGeom prst="rect">
            <a:avLst/>
          </a:prstGeom>
          <a:noFill/>
        </p:spPr>
        <p:txBody>
          <a:bodyPr wrap="square" lIns="0" rIns="0" tIns="0" bIns="0" anchor="t"/>
          <a:lstStyle/>
          <a:p>
            <a:pPr algn="ctr"/>
            <a:r>
              <a:rPr sz="1400" b="1" i="0">
                <a:solidFill>
                  <a:srgbClr val="701C7F"/>
                </a:solidFill>
                <a:latin typeface="Inter"/>
              </a:rPr>
              <a:t>Detect</a:t>
            </a:r>
          </a:p>
        </p:txBody>
      </p:sp>
      <p:sp>
        <p:nvSpPr>
          <p:cNvPr id="105" name="TextBox 104"/>
          <p:cNvSpPr txBox="1"/>
          <p:nvPr/>
        </p:nvSpPr>
        <p:spPr>
          <a:xfrm>
            <a:off x="3794760" y="2542032"/>
            <a:ext cx="1554480" cy="457200"/>
          </a:xfrm>
          <a:prstGeom prst="rect">
            <a:avLst/>
          </a:prstGeom>
          <a:noFill/>
        </p:spPr>
        <p:txBody>
          <a:bodyPr wrap="square" lIns="0" rIns="0" tIns="0" bIns="0" anchor="t"/>
          <a:lstStyle/>
          <a:p>
            <a:pPr algn="ctr"/>
            <a:r>
              <a:rPr sz="1100" b="0" i="0">
                <a:solidFill>
                  <a:srgbClr val="262626"/>
                </a:solidFill>
                <a:latin typeface="Inter"/>
              </a:rPr>
              <a:t>Warning requested</a:t>
            </a:r>
          </a:p>
        </p:txBody>
      </p:sp>
      <p:sp>
        <p:nvSpPr>
          <p:cNvPr id="106" name="Oval 105"/>
          <p:cNvSpPr/>
          <p:nvPr/>
        </p:nvSpPr>
        <p:spPr>
          <a:xfrm>
            <a:off x="5888736" y="1444752"/>
            <a:ext cx="585216" cy="58521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4</a:t>
            </a:r>
          </a:p>
        </p:txBody>
      </p:sp>
      <p:sp>
        <p:nvSpPr>
          <p:cNvPr id="107" name="TextBox 106"/>
          <p:cNvSpPr txBox="1"/>
          <p:nvPr/>
        </p:nvSpPr>
        <p:spPr>
          <a:xfrm>
            <a:off x="5404104" y="2194560"/>
            <a:ext cx="1554480" cy="320040"/>
          </a:xfrm>
          <a:prstGeom prst="rect">
            <a:avLst/>
          </a:prstGeom>
          <a:noFill/>
        </p:spPr>
        <p:txBody>
          <a:bodyPr wrap="square" lIns="0" rIns="0" tIns="0" bIns="0" anchor="t"/>
          <a:lstStyle/>
          <a:p>
            <a:pPr algn="ctr"/>
            <a:r>
              <a:rPr sz="1400" b="1" i="0">
                <a:solidFill>
                  <a:srgbClr val="701C7F"/>
                </a:solidFill>
                <a:latin typeface="Inter"/>
              </a:rPr>
              <a:t>Diagnose</a:t>
            </a:r>
          </a:p>
        </p:txBody>
      </p:sp>
      <p:sp>
        <p:nvSpPr>
          <p:cNvPr id="108" name="TextBox 107"/>
          <p:cNvSpPr txBox="1"/>
          <p:nvPr/>
        </p:nvSpPr>
        <p:spPr>
          <a:xfrm>
            <a:off x="5404104" y="2542032"/>
            <a:ext cx="1554480" cy="457200"/>
          </a:xfrm>
          <a:prstGeom prst="rect">
            <a:avLst/>
          </a:prstGeom>
          <a:noFill/>
        </p:spPr>
        <p:txBody>
          <a:bodyPr wrap="square" lIns="0" rIns="0" tIns="0" bIns="0" anchor="t"/>
          <a:lstStyle/>
          <a:p>
            <a:pPr algn="ctr"/>
            <a:r>
              <a:rPr sz="1100" b="0" i="0">
                <a:solidFill>
                  <a:srgbClr val="262626"/>
                </a:solidFill>
                <a:latin typeface="Inter"/>
              </a:rPr>
              <a:t>DTC in OpenSOVD</a:t>
            </a:r>
          </a:p>
        </p:txBody>
      </p:sp>
      <p:sp>
        <p:nvSpPr>
          <p:cNvPr id="109" name="Oval 108"/>
          <p:cNvSpPr/>
          <p:nvPr/>
        </p:nvSpPr>
        <p:spPr>
          <a:xfrm>
            <a:off x="7498079" y="1444752"/>
            <a:ext cx="585216" cy="585216"/>
          </a:xfrm>
          <a:prstGeom prst="ellipse">
            <a:avLst/>
          </a:prstGeom>
          <a:solidFill>
            <a:srgbClr val="DB52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5</a:t>
            </a:r>
          </a:p>
        </p:txBody>
      </p:sp>
      <p:sp>
        <p:nvSpPr>
          <p:cNvPr id="110" name="TextBox 109"/>
          <p:cNvSpPr txBox="1"/>
          <p:nvPr/>
        </p:nvSpPr>
        <p:spPr>
          <a:xfrm>
            <a:off x="7013448" y="2194560"/>
            <a:ext cx="1554480" cy="320040"/>
          </a:xfrm>
          <a:prstGeom prst="rect">
            <a:avLst/>
          </a:prstGeom>
          <a:noFill/>
        </p:spPr>
        <p:txBody>
          <a:bodyPr wrap="square" lIns="0" rIns="0" tIns="0" bIns="0" anchor="t"/>
          <a:lstStyle/>
          <a:p>
            <a:pPr algn="ctr"/>
            <a:r>
              <a:rPr sz="1400" b="1" i="0">
                <a:solidFill>
                  <a:srgbClr val="701C7F"/>
                </a:solidFill>
                <a:latin typeface="Inter"/>
              </a:rPr>
              <a:t>Verdict</a:t>
            </a:r>
          </a:p>
        </p:txBody>
      </p:sp>
      <p:sp>
        <p:nvSpPr>
          <p:cNvPr id="111" name="TextBox 110"/>
          <p:cNvSpPr txBox="1"/>
          <p:nvPr/>
        </p:nvSpPr>
        <p:spPr>
          <a:xfrm>
            <a:off x="7013448" y="2542032"/>
            <a:ext cx="1554480" cy="457200"/>
          </a:xfrm>
          <a:prstGeom prst="rect">
            <a:avLst/>
          </a:prstGeom>
          <a:noFill/>
        </p:spPr>
        <p:txBody>
          <a:bodyPr wrap="square" lIns="0" rIns="0" tIns="0" bIns="0" anchor="t"/>
          <a:lstStyle/>
          <a:p>
            <a:pPr algn="ctr"/>
            <a:r>
              <a:rPr sz="1100" b="0" i="0">
                <a:solidFill>
                  <a:srgbClr val="262626"/>
                </a:solidFill>
                <a:latin typeface="Inter"/>
              </a:rPr>
              <a:t>PASS, traced to HE-1</a:t>
            </a:r>
          </a:p>
        </p:txBody>
      </p:sp>
      <p:sp>
        <p:nvSpPr>
          <p:cNvPr id="112" name="Rounded Rectangle 111"/>
          <p:cNvSpPr/>
          <p:nvPr/>
        </p:nvSpPr>
        <p:spPr>
          <a:xfrm>
            <a:off x="548640" y="3520440"/>
            <a:ext cx="8046720" cy="77724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3" name="Picture 112" descr="FaClock_p.png"/>
          <p:cNvPicPr>
            <a:picLocks noChangeAspect="1"/>
          </p:cNvPicPr>
          <p:nvPr/>
        </p:nvPicPr>
        <p:blipFill>
          <a:blip r:embed="rId4"/>
          <a:stretch>
            <a:fillRect/>
          </a:stretch>
        </p:blipFill>
        <p:spPr>
          <a:xfrm>
            <a:off x="777240" y="3721608"/>
            <a:ext cx="365760" cy="365760"/>
          </a:xfrm>
          <a:prstGeom prst="rect">
            <a:avLst/>
          </a:prstGeom>
        </p:spPr>
      </p:pic>
      <p:sp>
        <p:nvSpPr>
          <p:cNvPr id="114" name="TextBox 113"/>
          <p:cNvSpPr txBox="1"/>
          <p:nvPr/>
        </p:nvSpPr>
        <p:spPr>
          <a:xfrm>
            <a:off x="1371600" y="3520440"/>
            <a:ext cx="7132320" cy="777240"/>
          </a:xfrm>
          <a:prstGeom prst="rect">
            <a:avLst/>
          </a:prstGeom>
          <a:noFill/>
        </p:spPr>
        <p:txBody>
          <a:bodyPr wrap="square" lIns="0" rIns="0" tIns="0" bIns="0" anchor="ctr"/>
          <a:lstStyle/>
          <a:p>
            <a:pPr algn="l"/>
            <a:r>
              <a:rPr sz="1300" b="1" i="0">
                <a:solidFill>
                  <a:srgbClr val="701C7F"/>
                </a:solidFill>
                <a:latin typeface="Inter"/>
              </a:rPr>
              <a:t>Measured, not claimed: </a:t>
            </a:r>
            <a:r>
              <a:rPr sz="1300" b="0" i="0">
                <a:solidFill>
                  <a:srgbClr val="262626"/>
                </a:solidFill>
                <a:latin typeface="Inter"/>
              </a:rPr>
              <a:t>detection · mitigation · diagnostics ≤ 2 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35" name="Google Shape;135;p22"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36" name="Google Shape;136;p22"/>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The Market: Regulation Makes Evidence Mandatory</a:t>
            </a:r>
            <a:endParaRPr sz="400">
              <a:latin typeface="Inter ExtraBold"/>
              <a:ea typeface="Inter ExtraBold"/>
              <a:cs typeface="Inter ExtraBold"/>
              <a:sym typeface="Inter ExtraBold"/>
            </a:endParaRPr>
          </a:p>
        </p:txBody>
      </p:sp>
      <p:sp>
        <p:nvSpPr>
          <p:cNvPr id="137" name="Rounded Rectangle 136"/>
          <p:cNvSpPr/>
          <p:nvPr/>
        </p:nvSpPr>
        <p:spPr>
          <a:xfrm>
            <a:off x="548640" y="1280160"/>
            <a:ext cx="2560320" cy="141732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548640" y="1371600"/>
            <a:ext cx="2560320" cy="594360"/>
          </a:xfrm>
          <a:prstGeom prst="rect">
            <a:avLst/>
          </a:prstGeom>
          <a:noFill/>
        </p:spPr>
        <p:txBody>
          <a:bodyPr wrap="square" lIns="0" rIns="0" tIns="0" bIns="0" anchor="t"/>
          <a:lstStyle/>
          <a:p>
            <a:pPr algn="ctr"/>
            <a:r>
              <a:rPr sz="3000" b="1" i="0">
                <a:solidFill>
                  <a:srgbClr val="701C7F"/>
                </a:solidFill>
                <a:latin typeface="Inter"/>
              </a:rPr>
              <a:t>$9.1 bn</a:t>
            </a:r>
          </a:p>
        </p:txBody>
      </p:sp>
      <p:sp>
        <p:nvSpPr>
          <p:cNvPr id="139" name="TextBox 138"/>
          <p:cNvSpPr txBox="1"/>
          <p:nvPr/>
        </p:nvSpPr>
        <p:spPr>
          <a:xfrm>
            <a:off x="548640" y="1984248"/>
            <a:ext cx="2560320" cy="320040"/>
          </a:xfrm>
          <a:prstGeom prst="rect">
            <a:avLst/>
          </a:prstGeom>
          <a:noFill/>
        </p:spPr>
        <p:txBody>
          <a:bodyPr wrap="square" lIns="0" rIns="0" tIns="0" bIns="0" anchor="t"/>
          <a:lstStyle/>
          <a:p>
            <a:pPr algn="ctr"/>
            <a:r>
              <a:rPr sz="1200" b="0" i="0">
                <a:solidFill>
                  <a:srgbClr val="262626"/>
                </a:solidFill>
                <a:latin typeface="Inter"/>
              </a:rPr>
              <a:t>SW testing market 2025</a:t>
            </a:r>
          </a:p>
        </p:txBody>
      </p:sp>
      <p:sp>
        <p:nvSpPr>
          <p:cNvPr id="140" name="TextBox 139"/>
          <p:cNvSpPr txBox="1"/>
          <p:nvPr/>
        </p:nvSpPr>
        <p:spPr>
          <a:xfrm>
            <a:off x="548640" y="2331720"/>
            <a:ext cx="2560320" cy="228600"/>
          </a:xfrm>
          <a:prstGeom prst="rect">
            <a:avLst/>
          </a:prstGeom>
          <a:noFill/>
        </p:spPr>
        <p:txBody>
          <a:bodyPr wrap="square" lIns="0" rIns="0" tIns="0" bIns="0" anchor="t"/>
          <a:lstStyle/>
          <a:p>
            <a:pPr algn="ctr"/>
            <a:r>
              <a:rPr sz="800" b="0" i="0">
                <a:solidFill>
                  <a:srgbClr val="5F5F6B"/>
                </a:solidFill>
                <a:latin typeface="Inter"/>
              </a:rPr>
              <a:t>MarketsandMarkets</a:t>
            </a:r>
          </a:p>
        </p:txBody>
      </p:sp>
      <p:sp>
        <p:nvSpPr>
          <p:cNvPr id="141" name="Rounded Rectangle 140"/>
          <p:cNvSpPr/>
          <p:nvPr/>
        </p:nvSpPr>
        <p:spPr>
          <a:xfrm>
            <a:off x="3291840" y="1280160"/>
            <a:ext cx="2560320" cy="141732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3291840" y="1371600"/>
            <a:ext cx="2560320" cy="594360"/>
          </a:xfrm>
          <a:prstGeom prst="rect">
            <a:avLst/>
          </a:prstGeom>
          <a:noFill/>
        </p:spPr>
        <p:txBody>
          <a:bodyPr wrap="square" lIns="0" rIns="0" tIns="0" bIns="0" anchor="t"/>
          <a:lstStyle/>
          <a:p>
            <a:pPr algn="ctr"/>
            <a:r>
              <a:rPr sz="3000" b="1" i="0">
                <a:solidFill>
                  <a:srgbClr val="701C7F"/>
                </a:solidFill>
                <a:latin typeface="Inter"/>
              </a:rPr>
              <a:t>20 M+</a:t>
            </a:r>
          </a:p>
        </p:txBody>
      </p:sp>
      <p:sp>
        <p:nvSpPr>
          <p:cNvPr id="143" name="TextBox 142"/>
          <p:cNvSpPr txBox="1"/>
          <p:nvPr/>
        </p:nvSpPr>
        <p:spPr>
          <a:xfrm>
            <a:off x="3291840" y="1984248"/>
            <a:ext cx="2560320" cy="320040"/>
          </a:xfrm>
          <a:prstGeom prst="rect">
            <a:avLst/>
          </a:prstGeom>
          <a:noFill/>
        </p:spPr>
        <p:txBody>
          <a:bodyPr wrap="square" lIns="0" rIns="0" tIns="0" bIns="0" anchor="t"/>
          <a:lstStyle/>
          <a:p>
            <a:pPr algn="ctr"/>
            <a:r>
              <a:rPr sz="1200" b="0" i="0">
                <a:solidFill>
                  <a:srgbClr val="262626"/>
                </a:solidFill>
                <a:latin typeface="Inter"/>
              </a:rPr>
              <a:t>EVs sold in 2025</a:t>
            </a:r>
          </a:p>
        </p:txBody>
      </p:sp>
      <p:sp>
        <p:nvSpPr>
          <p:cNvPr id="144" name="TextBox 143"/>
          <p:cNvSpPr txBox="1"/>
          <p:nvPr/>
        </p:nvSpPr>
        <p:spPr>
          <a:xfrm>
            <a:off x="3291840" y="2331720"/>
            <a:ext cx="2560320" cy="228600"/>
          </a:xfrm>
          <a:prstGeom prst="rect">
            <a:avLst/>
          </a:prstGeom>
          <a:noFill/>
        </p:spPr>
        <p:txBody>
          <a:bodyPr wrap="square" lIns="0" rIns="0" tIns="0" bIns="0" anchor="t"/>
          <a:lstStyle/>
          <a:p>
            <a:pPr algn="ctr"/>
            <a:r>
              <a:rPr sz="800" b="0" i="0">
                <a:solidFill>
                  <a:srgbClr val="5F5F6B"/>
                </a:solidFill>
                <a:latin typeface="Inter"/>
              </a:rPr>
              <a:t>IEA</a:t>
            </a:r>
          </a:p>
        </p:txBody>
      </p:sp>
      <p:sp>
        <p:nvSpPr>
          <p:cNvPr id="145" name="Rounded Rectangle 144"/>
          <p:cNvSpPr/>
          <p:nvPr/>
        </p:nvSpPr>
        <p:spPr>
          <a:xfrm>
            <a:off x="6035040" y="1280160"/>
            <a:ext cx="2560320" cy="141732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6035040" y="1371600"/>
            <a:ext cx="2560320" cy="594360"/>
          </a:xfrm>
          <a:prstGeom prst="rect">
            <a:avLst/>
          </a:prstGeom>
          <a:noFill/>
        </p:spPr>
        <p:txBody>
          <a:bodyPr wrap="square" lIns="0" rIns="0" tIns="0" bIns="0" anchor="t"/>
          <a:lstStyle/>
          <a:p>
            <a:pPr algn="ctr"/>
            <a:r>
              <a:rPr sz="3000" b="1" i="0">
                <a:solidFill>
                  <a:srgbClr val="701C7F"/>
                </a:solidFill>
                <a:latin typeface="Inter"/>
              </a:rPr>
              <a:t>100 %</a:t>
            </a:r>
          </a:p>
        </p:txBody>
      </p:sp>
      <p:sp>
        <p:nvSpPr>
          <p:cNvPr id="147" name="TextBox 146"/>
          <p:cNvSpPr txBox="1"/>
          <p:nvPr/>
        </p:nvSpPr>
        <p:spPr>
          <a:xfrm>
            <a:off x="6035040" y="1984248"/>
            <a:ext cx="2560320" cy="320040"/>
          </a:xfrm>
          <a:prstGeom prst="rect">
            <a:avLst/>
          </a:prstGeom>
          <a:noFill/>
        </p:spPr>
        <p:txBody>
          <a:bodyPr wrap="square" lIns="0" rIns="0" tIns="0" bIns="0" anchor="t"/>
          <a:lstStyle/>
          <a:p>
            <a:pPr algn="ctr"/>
            <a:r>
              <a:rPr sz="1200" b="0" i="0">
                <a:solidFill>
                  <a:srgbClr val="262626"/>
                </a:solidFill>
                <a:latin typeface="Inter"/>
              </a:rPr>
              <a:t>new EU cars under UN R156</a:t>
            </a:r>
          </a:p>
        </p:txBody>
      </p:sp>
      <p:sp>
        <p:nvSpPr>
          <p:cNvPr id="148" name="TextBox 147"/>
          <p:cNvSpPr txBox="1"/>
          <p:nvPr/>
        </p:nvSpPr>
        <p:spPr>
          <a:xfrm>
            <a:off x="6035040" y="2331720"/>
            <a:ext cx="2560320" cy="228600"/>
          </a:xfrm>
          <a:prstGeom prst="rect">
            <a:avLst/>
          </a:prstGeom>
          <a:noFill/>
        </p:spPr>
        <p:txBody>
          <a:bodyPr wrap="square" lIns="0" rIns="0" tIns="0" bIns="0" anchor="t"/>
          <a:lstStyle/>
          <a:p>
            <a:pPr algn="ctr"/>
            <a:r>
              <a:rPr sz="800" b="0" i="0">
                <a:solidFill>
                  <a:srgbClr val="5F5F6B"/>
                </a:solidFill>
                <a:latin typeface="Inter"/>
              </a:rPr>
              <a:t>since 07/2024</a:t>
            </a:r>
          </a:p>
        </p:txBody>
      </p:sp>
      <p:sp>
        <p:nvSpPr>
          <p:cNvPr id="149" name="Rounded Rectangle 148"/>
          <p:cNvSpPr/>
          <p:nvPr/>
        </p:nvSpPr>
        <p:spPr>
          <a:xfrm>
            <a:off x="548640" y="3017520"/>
            <a:ext cx="2423160" cy="1097280"/>
          </a:xfrm>
          <a:prstGeom prst="roundRect">
            <a:avLst>
              <a:gd name="adj" fmla="val 8000"/>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548640" y="3127248"/>
            <a:ext cx="2423160" cy="274320"/>
          </a:xfrm>
          <a:prstGeom prst="rect">
            <a:avLst/>
          </a:prstGeom>
          <a:noFill/>
        </p:spPr>
        <p:txBody>
          <a:bodyPr wrap="square" lIns="0" rIns="0" tIns="0" bIns="0" anchor="t"/>
          <a:lstStyle/>
          <a:p>
            <a:pPr algn="ctr"/>
            <a:r>
              <a:rPr sz="900" b="1" i="0">
                <a:solidFill>
                  <a:srgbClr val="FFFFFF"/>
                </a:solidFill>
                <a:latin typeface="Inter"/>
              </a:rPr>
              <a:t>START</a:t>
            </a:r>
          </a:p>
        </p:txBody>
      </p:sp>
      <p:sp>
        <p:nvSpPr>
          <p:cNvPr id="151" name="TextBox 150"/>
          <p:cNvSpPr txBox="1"/>
          <p:nvPr/>
        </p:nvSpPr>
        <p:spPr>
          <a:xfrm>
            <a:off x="548640" y="3429000"/>
            <a:ext cx="2423160" cy="502920"/>
          </a:xfrm>
          <a:prstGeom prst="rect">
            <a:avLst/>
          </a:prstGeom>
          <a:noFill/>
        </p:spPr>
        <p:txBody>
          <a:bodyPr wrap="square" lIns="0" rIns="0" tIns="0" bIns="0" anchor="ctr"/>
          <a:lstStyle/>
          <a:p>
            <a:pPr algn="ctr"/>
            <a:r>
              <a:rPr sz="1400" b="1" i="0">
                <a:solidFill>
                  <a:srgbClr val="FFFFFF"/>
                </a:solidFill>
                <a:latin typeface="Inter"/>
              </a:rPr>
              <a:t>Battery safety</a:t>
            </a:r>
          </a:p>
        </p:txBody>
      </p:sp>
      <p:sp>
        <p:nvSpPr>
          <p:cNvPr id="152" name="Right Arrow 151"/>
          <p:cNvSpPr/>
          <p:nvPr/>
        </p:nvSpPr>
        <p:spPr>
          <a:xfrm>
            <a:off x="3017520" y="3474720"/>
            <a:ext cx="228600" cy="182880"/>
          </a:xfrm>
          <a:prstGeom prst="rightArrow">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ounded Rectangle 152"/>
          <p:cNvSpPr/>
          <p:nvPr/>
        </p:nvSpPr>
        <p:spPr>
          <a:xfrm>
            <a:off x="3291840" y="3017520"/>
            <a:ext cx="2423160" cy="109728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3291840" y="3127248"/>
            <a:ext cx="2423160" cy="274320"/>
          </a:xfrm>
          <a:prstGeom prst="rect">
            <a:avLst/>
          </a:prstGeom>
          <a:noFill/>
        </p:spPr>
        <p:txBody>
          <a:bodyPr wrap="square" lIns="0" rIns="0" tIns="0" bIns="0" anchor="t"/>
          <a:lstStyle/>
          <a:p>
            <a:pPr algn="ctr"/>
            <a:r>
              <a:rPr sz="900" b="1" i="0">
                <a:solidFill>
                  <a:srgbClr val="701C7F"/>
                </a:solidFill>
                <a:latin typeface="Inter"/>
              </a:rPr>
              <a:t>NEXT</a:t>
            </a:r>
          </a:p>
        </p:txBody>
      </p:sp>
      <p:sp>
        <p:nvSpPr>
          <p:cNvPr id="155" name="TextBox 154"/>
          <p:cNvSpPr txBox="1"/>
          <p:nvPr/>
        </p:nvSpPr>
        <p:spPr>
          <a:xfrm>
            <a:off x="3291840" y="3429000"/>
            <a:ext cx="2423160" cy="502920"/>
          </a:xfrm>
          <a:prstGeom prst="rect">
            <a:avLst/>
          </a:prstGeom>
          <a:noFill/>
        </p:spPr>
        <p:txBody>
          <a:bodyPr wrap="square" lIns="0" rIns="0" tIns="0" bIns="0" anchor="ctr"/>
          <a:lstStyle/>
          <a:p>
            <a:pPr algn="ctr"/>
            <a:r>
              <a:rPr sz="1400" b="1" i="0">
                <a:solidFill>
                  <a:srgbClr val="262626"/>
                </a:solidFill>
                <a:latin typeface="Inter"/>
              </a:rPr>
              <a:t>SDV safety monitors</a:t>
            </a:r>
          </a:p>
        </p:txBody>
      </p:sp>
      <p:sp>
        <p:nvSpPr>
          <p:cNvPr id="156" name="Right Arrow 155"/>
          <p:cNvSpPr/>
          <p:nvPr/>
        </p:nvSpPr>
        <p:spPr>
          <a:xfrm>
            <a:off x="5760720" y="3474720"/>
            <a:ext cx="228600" cy="182880"/>
          </a:xfrm>
          <a:prstGeom prst="rightArrow">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ounded Rectangle 156"/>
          <p:cNvSpPr/>
          <p:nvPr/>
        </p:nvSpPr>
        <p:spPr>
          <a:xfrm>
            <a:off x="6035040" y="3017520"/>
            <a:ext cx="2423160" cy="109728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6035040" y="3127248"/>
            <a:ext cx="2423160" cy="274320"/>
          </a:xfrm>
          <a:prstGeom prst="rect">
            <a:avLst/>
          </a:prstGeom>
          <a:noFill/>
        </p:spPr>
        <p:txBody>
          <a:bodyPr wrap="square" lIns="0" rIns="0" tIns="0" bIns="0" anchor="t"/>
          <a:lstStyle/>
          <a:p>
            <a:pPr algn="ctr"/>
            <a:r>
              <a:rPr sz="900" b="1" i="0">
                <a:solidFill>
                  <a:srgbClr val="701C7F"/>
                </a:solidFill>
                <a:latin typeface="Inter"/>
              </a:rPr>
              <a:t>VISION</a:t>
            </a:r>
          </a:p>
        </p:txBody>
      </p:sp>
      <p:sp>
        <p:nvSpPr>
          <p:cNvPr id="159" name="TextBox 158"/>
          <p:cNvSpPr txBox="1"/>
          <p:nvPr/>
        </p:nvSpPr>
        <p:spPr>
          <a:xfrm>
            <a:off x="6035040" y="3429000"/>
            <a:ext cx="2423160" cy="502920"/>
          </a:xfrm>
          <a:prstGeom prst="rect">
            <a:avLst/>
          </a:prstGeom>
          <a:noFill/>
        </p:spPr>
        <p:txBody>
          <a:bodyPr wrap="square" lIns="0" rIns="0" tIns="0" bIns="0" anchor="ctr"/>
          <a:lstStyle/>
          <a:p>
            <a:pPr algn="ctr"/>
            <a:r>
              <a:rPr sz="1400" b="1" i="0">
                <a:solidFill>
                  <a:srgbClr val="262626"/>
                </a:solidFill>
                <a:latin typeface="Inter"/>
              </a:rPr>
              <a:t>Evidence-as-a-Service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143" name="Google Shape;143;p23"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145" name="Google Shape;145;p23"/>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Competition: We Connect What Others Keep Separate</a:t>
            </a:r>
            <a:endParaRPr sz="400">
              <a:latin typeface="Inter ExtraBold"/>
              <a:ea typeface="Inter ExtraBold"/>
              <a:cs typeface="Inter ExtraBold"/>
              <a:sym typeface="Inter ExtraBold"/>
            </a:endParaRPr>
          </a:p>
        </p:txBody>
      </p:sp>
      <p:sp>
        <p:nvSpPr>
          <p:cNvPr id="146" name="TextBox 145"/>
          <p:cNvSpPr txBox="1"/>
          <p:nvPr/>
        </p:nvSpPr>
        <p:spPr>
          <a:xfrm>
            <a:off x="3291840" y="1234440"/>
            <a:ext cx="1051560" cy="457200"/>
          </a:xfrm>
          <a:prstGeom prst="rect">
            <a:avLst/>
          </a:prstGeom>
          <a:noFill/>
        </p:spPr>
        <p:txBody>
          <a:bodyPr wrap="square" lIns="0" rIns="0" tIns="0" bIns="0" anchor="b"/>
          <a:lstStyle/>
          <a:p>
            <a:pPr algn="ctr"/>
            <a:r>
              <a:rPr sz="1050" b="1" i="0">
                <a:solidFill>
                  <a:srgbClr val="701C7F"/>
                </a:solidFill>
                <a:latin typeface="Inter"/>
              </a:rPr>
              <a:t>Fault injection</a:t>
            </a:r>
          </a:p>
        </p:txBody>
      </p:sp>
      <p:sp>
        <p:nvSpPr>
          <p:cNvPr id="147" name="TextBox 146"/>
          <p:cNvSpPr txBox="1"/>
          <p:nvPr/>
        </p:nvSpPr>
        <p:spPr>
          <a:xfrm>
            <a:off x="4343400" y="1234440"/>
            <a:ext cx="1051560" cy="457200"/>
          </a:xfrm>
          <a:prstGeom prst="rect">
            <a:avLst/>
          </a:prstGeom>
          <a:noFill/>
        </p:spPr>
        <p:txBody>
          <a:bodyPr wrap="square" lIns="0" rIns="0" tIns="0" bIns="0" anchor="b"/>
          <a:lstStyle/>
          <a:p>
            <a:pPr algn="ctr"/>
            <a:r>
              <a:rPr sz="1050" b="1" i="0">
                <a:solidFill>
                  <a:srgbClr val="701C7F"/>
                </a:solidFill>
                <a:latin typeface="Inter"/>
              </a:rPr>
              <a:t>Traceability</a:t>
            </a:r>
          </a:p>
        </p:txBody>
      </p:sp>
      <p:sp>
        <p:nvSpPr>
          <p:cNvPr id="148" name="TextBox 147"/>
          <p:cNvSpPr txBox="1"/>
          <p:nvPr/>
        </p:nvSpPr>
        <p:spPr>
          <a:xfrm>
            <a:off x="5394960" y="1234440"/>
            <a:ext cx="1051560" cy="457200"/>
          </a:xfrm>
          <a:prstGeom prst="rect">
            <a:avLst/>
          </a:prstGeom>
          <a:noFill/>
        </p:spPr>
        <p:txBody>
          <a:bodyPr wrap="square" lIns="0" rIns="0" tIns="0" bIns="0" anchor="b"/>
          <a:lstStyle/>
          <a:p>
            <a:pPr algn="ctr"/>
            <a:r>
              <a:rPr sz="1050" b="1" i="0">
                <a:solidFill>
                  <a:srgbClr val="701C7F"/>
                </a:solidFill>
                <a:latin typeface="Inter"/>
              </a:rPr>
              <a:t>CI / Cloud</a:t>
            </a:r>
          </a:p>
        </p:txBody>
      </p:sp>
      <p:sp>
        <p:nvSpPr>
          <p:cNvPr id="149" name="TextBox 148"/>
          <p:cNvSpPr txBox="1"/>
          <p:nvPr/>
        </p:nvSpPr>
        <p:spPr>
          <a:xfrm>
            <a:off x="6446520" y="1234440"/>
            <a:ext cx="1051560" cy="457200"/>
          </a:xfrm>
          <a:prstGeom prst="rect">
            <a:avLst/>
          </a:prstGeom>
          <a:noFill/>
        </p:spPr>
        <p:txBody>
          <a:bodyPr wrap="square" lIns="0" rIns="0" tIns="0" bIns="0" anchor="b"/>
          <a:lstStyle/>
          <a:p>
            <a:pPr algn="ctr"/>
            <a:r>
              <a:rPr sz="1050" b="1" i="0">
                <a:solidFill>
                  <a:srgbClr val="701C7F"/>
                </a:solidFill>
                <a:latin typeface="Inter"/>
              </a:rPr>
              <a:t>In vehicle</a:t>
            </a:r>
          </a:p>
        </p:txBody>
      </p:sp>
      <p:sp>
        <p:nvSpPr>
          <p:cNvPr id="150" name="TextBox 149"/>
          <p:cNvSpPr txBox="1"/>
          <p:nvPr/>
        </p:nvSpPr>
        <p:spPr>
          <a:xfrm>
            <a:off x="7498079" y="1234440"/>
            <a:ext cx="1051560" cy="457200"/>
          </a:xfrm>
          <a:prstGeom prst="rect">
            <a:avLst/>
          </a:prstGeom>
          <a:noFill/>
        </p:spPr>
        <p:txBody>
          <a:bodyPr wrap="square" lIns="0" rIns="0" tIns="0" bIns="0" anchor="b"/>
          <a:lstStyle/>
          <a:p>
            <a:pPr algn="ctr"/>
            <a:r>
              <a:rPr sz="1050" b="1" i="0">
                <a:solidFill>
                  <a:srgbClr val="701C7F"/>
                </a:solidFill>
                <a:latin typeface="Inter"/>
              </a:rPr>
              <a:t>Open source</a:t>
            </a:r>
          </a:p>
        </p:txBody>
      </p:sp>
      <p:sp>
        <p:nvSpPr>
          <p:cNvPr id="151" name="Rounded Rectangle 150"/>
          <p:cNvSpPr/>
          <p:nvPr/>
        </p:nvSpPr>
        <p:spPr>
          <a:xfrm>
            <a:off x="548640" y="1810512"/>
            <a:ext cx="8046720" cy="59436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685800" y="1847088"/>
            <a:ext cx="2560320" cy="521207"/>
          </a:xfrm>
          <a:prstGeom prst="rect">
            <a:avLst/>
          </a:prstGeom>
          <a:noFill/>
        </p:spPr>
        <p:txBody>
          <a:bodyPr wrap="square" lIns="0" rIns="0" tIns="0" bIns="0" anchor="ctr"/>
          <a:lstStyle/>
          <a:p>
            <a:pPr algn="l"/>
            <a:r>
              <a:rPr sz="1300" b="1" i="0">
                <a:solidFill>
                  <a:srgbClr val="262626"/>
                </a:solidFill>
                <a:latin typeface="Inter"/>
              </a:rPr>
              <a:t>HIL test tools</a:t>
            </a:r>
          </a:p>
          <a:p>
            <a:pPr algn="l"/>
            <a:r>
              <a:rPr sz="900" b="0" i="0">
                <a:solidFill>
                  <a:srgbClr val="5F5F6B"/>
                </a:solidFill>
                <a:latin typeface="Inter"/>
              </a:rPr>
              <a:t>Vector · dSPACE · tracetronic</a:t>
            </a:r>
          </a:p>
        </p:txBody>
      </p:sp>
      <p:sp>
        <p:nvSpPr>
          <p:cNvPr id="153" name="Oval 152"/>
          <p:cNvSpPr/>
          <p:nvPr/>
        </p:nvSpPr>
        <p:spPr>
          <a:xfrm>
            <a:off x="3698748" y="1988820"/>
            <a:ext cx="237744" cy="23774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Oval 153"/>
          <p:cNvSpPr/>
          <p:nvPr/>
        </p:nvSpPr>
        <p:spPr>
          <a:xfrm>
            <a:off x="4750308" y="1988820"/>
            <a:ext cx="237744" cy="237744"/>
          </a:xfrm>
          <a:prstGeom prst="ellipse">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Oval 154"/>
          <p:cNvSpPr/>
          <p:nvPr/>
        </p:nvSpPr>
        <p:spPr>
          <a:xfrm>
            <a:off x="5801868" y="1988820"/>
            <a:ext cx="237744" cy="237744"/>
          </a:xfrm>
          <a:prstGeom prst="ellipse">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Oval 155"/>
          <p:cNvSpPr/>
          <p:nvPr/>
        </p:nvSpPr>
        <p:spPr>
          <a:xfrm>
            <a:off x="6853428" y="1988820"/>
            <a:ext cx="237744" cy="237744"/>
          </a:xfrm>
          <a:prstGeom prst="ellipse">
            <a:avLst/>
          </a:prstGeom>
          <a:noFill/>
          <a:ln w="12700">
            <a:solidFill>
              <a:srgbClr val="9A9A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Oval 156"/>
          <p:cNvSpPr/>
          <p:nvPr/>
        </p:nvSpPr>
        <p:spPr>
          <a:xfrm>
            <a:off x="7904987" y="1988820"/>
            <a:ext cx="237744" cy="237744"/>
          </a:xfrm>
          <a:prstGeom prst="ellipse">
            <a:avLst/>
          </a:prstGeom>
          <a:noFill/>
          <a:ln w="12700">
            <a:solidFill>
              <a:srgbClr val="9A9A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ounded Rectangle 157"/>
          <p:cNvSpPr/>
          <p:nvPr/>
        </p:nvSpPr>
        <p:spPr>
          <a:xfrm>
            <a:off x="548640" y="2496312"/>
            <a:ext cx="8046720" cy="59436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685800" y="2532888"/>
            <a:ext cx="2560320" cy="521207"/>
          </a:xfrm>
          <a:prstGeom prst="rect">
            <a:avLst/>
          </a:prstGeom>
          <a:noFill/>
        </p:spPr>
        <p:txBody>
          <a:bodyPr wrap="square" lIns="0" rIns="0" tIns="0" bIns="0" anchor="ctr"/>
          <a:lstStyle/>
          <a:p>
            <a:pPr algn="l"/>
            <a:r>
              <a:rPr sz="1300" b="1" i="0">
                <a:solidFill>
                  <a:srgbClr val="262626"/>
                </a:solidFill>
                <a:latin typeface="Inter"/>
              </a:rPr>
              <a:t>Safety / ALM tools</a:t>
            </a:r>
          </a:p>
          <a:p>
            <a:pPr algn="l"/>
            <a:r>
              <a:rPr sz="900" b="0" i="0">
                <a:solidFill>
                  <a:srgbClr val="5F5F6B"/>
                </a:solidFill>
                <a:latin typeface="Inter"/>
              </a:rPr>
              <a:t>medini · Polarion · Codebeamer</a:t>
            </a:r>
          </a:p>
        </p:txBody>
      </p:sp>
      <p:sp>
        <p:nvSpPr>
          <p:cNvPr id="160" name="Oval 159"/>
          <p:cNvSpPr/>
          <p:nvPr/>
        </p:nvSpPr>
        <p:spPr>
          <a:xfrm>
            <a:off x="3698748" y="2674620"/>
            <a:ext cx="237744" cy="237744"/>
          </a:xfrm>
          <a:prstGeom prst="ellipse">
            <a:avLst/>
          </a:prstGeom>
          <a:noFill/>
          <a:ln w="12700">
            <a:solidFill>
              <a:srgbClr val="9A9A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4750308" y="2674620"/>
            <a:ext cx="237744" cy="23774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Oval 161"/>
          <p:cNvSpPr/>
          <p:nvPr/>
        </p:nvSpPr>
        <p:spPr>
          <a:xfrm>
            <a:off x="5801868" y="2674620"/>
            <a:ext cx="237744" cy="237744"/>
          </a:xfrm>
          <a:prstGeom prst="ellipse">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Oval 162"/>
          <p:cNvSpPr/>
          <p:nvPr/>
        </p:nvSpPr>
        <p:spPr>
          <a:xfrm>
            <a:off x="6853428" y="2674620"/>
            <a:ext cx="237744" cy="237744"/>
          </a:xfrm>
          <a:prstGeom prst="ellipse">
            <a:avLst/>
          </a:prstGeom>
          <a:noFill/>
          <a:ln w="12700">
            <a:solidFill>
              <a:srgbClr val="9A9A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Oval 163"/>
          <p:cNvSpPr/>
          <p:nvPr/>
        </p:nvSpPr>
        <p:spPr>
          <a:xfrm>
            <a:off x="7904987" y="2674620"/>
            <a:ext cx="237744" cy="237744"/>
          </a:xfrm>
          <a:prstGeom prst="ellipse">
            <a:avLst/>
          </a:prstGeom>
          <a:noFill/>
          <a:ln w="12700">
            <a:solidFill>
              <a:srgbClr val="9A9A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ounded Rectangle 164"/>
          <p:cNvSpPr/>
          <p:nvPr/>
        </p:nvSpPr>
        <p:spPr>
          <a:xfrm>
            <a:off x="548640" y="3182112"/>
            <a:ext cx="8046720" cy="59436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685800" y="3218688"/>
            <a:ext cx="2560320" cy="521207"/>
          </a:xfrm>
          <a:prstGeom prst="rect">
            <a:avLst/>
          </a:prstGeom>
          <a:noFill/>
        </p:spPr>
        <p:txBody>
          <a:bodyPr wrap="square" lIns="0" rIns="0" tIns="0" bIns="0" anchor="ctr"/>
          <a:lstStyle/>
          <a:p>
            <a:pPr algn="l"/>
            <a:r>
              <a:rPr sz="1300" b="1" i="0">
                <a:solidFill>
                  <a:srgbClr val="701C7F"/>
                </a:solidFill>
                <a:latin typeface="Inter"/>
              </a:rPr>
              <a:t>OTA Outlaws</a:t>
            </a:r>
          </a:p>
        </p:txBody>
      </p:sp>
      <p:sp>
        <p:nvSpPr>
          <p:cNvPr id="167" name="Oval 166"/>
          <p:cNvSpPr/>
          <p:nvPr/>
        </p:nvSpPr>
        <p:spPr>
          <a:xfrm>
            <a:off x="3698748" y="3360420"/>
            <a:ext cx="237744" cy="23774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Oval 167"/>
          <p:cNvSpPr/>
          <p:nvPr/>
        </p:nvSpPr>
        <p:spPr>
          <a:xfrm>
            <a:off x="4750308" y="3360420"/>
            <a:ext cx="237744" cy="23774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Oval 168"/>
          <p:cNvSpPr/>
          <p:nvPr/>
        </p:nvSpPr>
        <p:spPr>
          <a:xfrm>
            <a:off x="5801868" y="3360420"/>
            <a:ext cx="237744" cy="23774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Oval 169"/>
          <p:cNvSpPr/>
          <p:nvPr/>
        </p:nvSpPr>
        <p:spPr>
          <a:xfrm>
            <a:off x="6853428" y="3360420"/>
            <a:ext cx="237744" cy="237744"/>
          </a:xfrm>
          <a:prstGeom prst="ellipse">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Oval 170"/>
          <p:cNvSpPr/>
          <p:nvPr/>
        </p:nvSpPr>
        <p:spPr>
          <a:xfrm>
            <a:off x="7904987" y="3360420"/>
            <a:ext cx="237744" cy="23774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Oval 171"/>
          <p:cNvSpPr/>
          <p:nvPr/>
        </p:nvSpPr>
        <p:spPr>
          <a:xfrm>
            <a:off x="557784" y="3886200"/>
            <a:ext cx="146304" cy="14630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777240" y="3840480"/>
            <a:ext cx="914400" cy="237744"/>
          </a:xfrm>
          <a:prstGeom prst="rect">
            <a:avLst/>
          </a:prstGeom>
          <a:noFill/>
        </p:spPr>
        <p:txBody>
          <a:bodyPr wrap="square" lIns="0" rIns="0" tIns="0" bIns="0" anchor="ctr"/>
          <a:lstStyle/>
          <a:p>
            <a:pPr algn="l"/>
            <a:r>
              <a:rPr sz="900" b="0" i="0">
                <a:solidFill>
                  <a:srgbClr val="5F5F6B"/>
                </a:solidFill>
                <a:latin typeface="Inter"/>
              </a:rPr>
              <a:t>strong</a:t>
            </a:r>
          </a:p>
        </p:txBody>
      </p:sp>
      <p:sp>
        <p:nvSpPr>
          <p:cNvPr id="174" name="Oval 173"/>
          <p:cNvSpPr/>
          <p:nvPr/>
        </p:nvSpPr>
        <p:spPr>
          <a:xfrm>
            <a:off x="1517904" y="3886200"/>
            <a:ext cx="146304" cy="146304"/>
          </a:xfrm>
          <a:prstGeom prst="ellipse">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TextBox 174"/>
          <p:cNvSpPr txBox="1"/>
          <p:nvPr/>
        </p:nvSpPr>
        <p:spPr>
          <a:xfrm>
            <a:off x="1737360" y="3840480"/>
            <a:ext cx="914400" cy="237744"/>
          </a:xfrm>
          <a:prstGeom prst="rect">
            <a:avLst/>
          </a:prstGeom>
          <a:noFill/>
        </p:spPr>
        <p:txBody>
          <a:bodyPr wrap="square" lIns="0" rIns="0" tIns="0" bIns="0" anchor="ctr"/>
          <a:lstStyle/>
          <a:p>
            <a:pPr algn="l"/>
            <a:r>
              <a:rPr sz="900" b="0" i="0">
                <a:solidFill>
                  <a:srgbClr val="5F5F6B"/>
                </a:solidFill>
                <a:latin typeface="Inter"/>
              </a:rPr>
              <a:t>partial</a:t>
            </a:r>
          </a:p>
        </p:txBody>
      </p:sp>
      <p:sp>
        <p:nvSpPr>
          <p:cNvPr id="176" name="Oval 175"/>
          <p:cNvSpPr/>
          <p:nvPr/>
        </p:nvSpPr>
        <p:spPr>
          <a:xfrm>
            <a:off x="2478024" y="3886200"/>
            <a:ext cx="146304" cy="146304"/>
          </a:xfrm>
          <a:prstGeom prst="ellipse">
            <a:avLst/>
          </a:prstGeom>
          <a:noFill/>
          <a:ln w="12700">
            <a:solidFill>
              <a:srgbClr val="9A9A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Box 176"/>
          <p:cNvSpPr txBox="1"/>
          <p:nvPr/>
        </p:nvSpPr>
        <p:spPr>
          <a:xfrm>
            <a:off x="2697480" y="3840480"/>
            <a:ext cx="914400" cy="237744"/>
          </a:xfrm>
          <a:prstGeom prst="rect">
            <a:avLst/>
          </a:prstGeom>
          <a:noFill/>
        </p:spPr>
        <p:txBody>
          <a:bodyPr wrap="square" lIns="0" rIns="0" tIns="0" bIns="0" anchor="ctr"/>
          <a:lstStyle/>
          <a:p>
            <a:pPr algn="l"/>
            <a:r>
              <a:rPr sz="900" b="0" i="0">
                <a:solidFill>
                  <a:srgbClr val="5F5F6B"/>
                </a:solidFill>
                <a:latin typeface="Inter"/>
              </a:rPr>
              <a:t>none</a:t>
            </a:r>
          </a:p>
        </p:txBody>
      </p:sp>
      <p:sp>
        <p:nvSpPr>
          <p:cNvPr id="178" name="TextBox 177"/>
          <p:cNvSpPr txBox="1"/>
          <p:nvPr/>
        </p:nvSpPr>
        <p:spPr>
          <a:xfrm>
            <a:off x="5852160" y="3840480"/>
            <a:ext cx="2743200" cy="237744"/>
          </a:xfrm>
          <a:prstGeom prst="rect">
            <a:avLst/>
          </a:prstGeom>
          <a:noFill/>
        </p:spPr>
        <p:txBody>
          <a:bodyPr wrap="square" lIns="0" rIns="0" tIns="0" bIns="0" anchor="ctr"/>
          <a:lstStyle/>
          <a:p>
            <a:pPr algn="r"/>
            <a:r>
              <a:rPr sz="900" b="0" i="0">
                <a:solidFill>
                  <a:srgbClr val="5F5F6B"/>
                </a:solidFill>
                <a:latin typeface="Inter"/>
              </a:rPr>
              <a:t>Team assessment</a:t>
            </a:r>
          </a:p>
        </p:txBody>
      </p:sp>
      <p:sp>
        <p:nvSpPr>
          <p:cNvPr id="179" name="TextBox 178"/>
          <p:cNvSpPr txBox="1"/>
          <p:nvPr/>
        </p:nvSpPr>
        <p:spPr>
          <a:xfrm>
            <a:off x="548640" y="4160520"/>
            <a:ext cx="8046720" cy="365760"/>
          </a:xfrm>
          <a:prstGeom prst="rect">
            <a:avLst/>
          </a:prstGeom>
          <a:noFill/>
        </p:spPr>
        <p:txBody>
          <a:bodyPr wrap="square" lIns="0" rIns="0" tIns="0" bIns="0" anchor="t"/>
          <a:lstStyle/>
          <a:p>
            <a:pPr algn="l"/>
            <a:r>
              <a:rPr sz="1400" b="1" i="0">
                <a:solidFill>
                  <a:srgbClr val="701C7F"/>
                </a:solidFill>
                <a:latin typeface="Inter"/>
              </a:rPr>
              <a:t>We complement HIL and ALM tools – not replace them.</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9" name="Google Shape;79;p15"/>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Business Case: Who Pays and What They Save</a:t>
            </a:r>
            <a:endParaRPr sz="400">
              <a:latin typeface="Inter ExtraBold"/>
              <a:ea typeface="Inter ExtraBold"/>
              <a:cs typeface="Inter ExtraBold"/>
              <a:sym typeface="Inter ExtraBold"/>
            </a:endParaRPr>
          </a:p>
        </p:txBody>
      </p:sp>
      <p:sp>
        <p:nvSpPr>
          <p:cNvPr id="80" name="Rounded Rectangle 79"/>
          <p:cNvSpPr/>
          <p:nvPr/>
        </p:nvSpPr>
        <p:spPr>
          <a:xfrm>
            <a:off x="548640" y="1280160"/>
            <a:ext cx="4023360" cy="749808"/>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685800" y="1408176"/>
            <a:ext cx="493776" cy="49377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2" name="Picture 81" descr="FaCar_w.png"/>
          <p:cNvPicPr>
            <a:picLocks noChangeAspect="1"/>
          </p:cNvPicPr>
          <p:nvPr/>
        </p:nvPicPr>
        <p:blipFill>
          <a:blip r:embed="rId5"/>
          <a:stretch>
            <a:fillRect/>
          </a:stretch>
        </p:blipFill>
        <p:spPr>
          <a:xfrm>
            <a:off x="809244" y="1531620"/>
            <a:ext cx="246888" cy="246888"/>
          </a:xfrm>
          <a:prstGeom prst="rect">
            <a:avLst/>
          </a:prstGeom>
        </p:spPr>
      </p:pic>
      <p:sp>
        <p:nvSpPr>
          <p:cNvPr id="83" name="TextBox 82"/>
          <p:cNvSpPr txBox="1"/>
          <p:nvPr/>
        </p:nvSpPr>
        <p:spPr>
          <a:xfrm>
            <a:off x="1325880" y="1353312"/>
            <a:ext cx="3154680" cy="320040"/>
          </a:xfrm>
          <a:prstGeom prst="rect">
            <a:avLst/>
          </a:prstGeom>
          <a:noFill/>
        </p:spPr>
        <p:txBody>
          <a:bodyPr wrap="square" lIns="0" rIns="0" tIns="0" bIns="0" anchor="ctr"/>
          <a:lstStyle/>
          <a:p>
            <a:pPr algn="l"/>
            <a:r>
              <a:rPr sz="1300" b="1" i="0">
                <a:solidFill>
                  <a:srgbClr val="701C7F"/>
                </a:solidFill>
                <a:latin typeface="Inter"/>
              </a:rPr>
              <a:t>OEMs &amp; Tier-1s</a:t>
            </a:r>
          </a:p>
        </p:txBody>
      </p:sp>
      <p:sp>
        <p:nvSpPr>
          <p:cNvPr id="84" name="TextBox 83"/>
          <p:cNvSpPr txBox="1"/>
          <p:nvPr/>
        </p:nvSpPr>
        <p:spPr>
          <a:xfrm>
            <a:off x="1325880" y="1673351"/>
            <a:ext cx="3154680" cy="274320"/>
          </a:xfrm>
          <a:prstGeom prst="rect">
            <a:avLst/>
          </a:prstGeom>
          <a:noFill/>
        </p:spPr>
        <p:txBody>
          <a:bodyPr wrap="square" lIns="0" rIns="0" tIns="0" bIns="0" anchor="ctr"/>
          <a:lstStyle/>
          <a:p>
            <a:pPr algn="l"/>
            <a:r>
              <a:rPr sz="1100" b="0" i="0">
                <a:solidFill>
                  <a:srgbClr val="262626"/>
                </a:solidFill>
                <a:latin typeface="Inter"/>
              </a:rPr>
              <a:t>Evidence Cloud · from €2.5k / month</a:t>
            </a:r>
          </a:p>
        </p:txBody>
      </p:sp>
      <p:sp>
        <p:nvSpPr>
          <p:cNvPr id="85" name="Rounded Rectangle 84"/>
          <p:cNvSpPr/>
          <p:nvPr/>
        </p:nvSpPr>
        <p:spPr>
          <a:xfrm>
            <a:off x="548640" y="2148839"/>
            <a:ext cx="4023360" cy="749808"/>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Oval 85"/>
          <p:cNvSpPr/>
          <p:nvPr/>
        </p:nvSpPr>
        <p:spPr>
          <a:xfrm>
            <a:off x="685800" y="2276856"/>
            <a:ext cx="493776" cy="49377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7" name="Picture 86" descr="FaBus_w.png"/>
          <p:cNvPicPr>
            <a:picLocks noChangeAspect="1"/>
          </p:cNvPicPr>
          <p:nvPr/>
        </p:nvPicPr>
        <p:blipFill>
          <a:blip r:embed="rId6"/>
          <a:stretch>
            <a:fillRect/>
          </a:stretch>
        </p:blipFill>
        <p:spPr>
          <a:xfrm>
            <a:off x="809244" y="2400300"/>
            <a:ext cx="246888" cy="246888"/>
          </a:xfrm>
          <a:prstGeom prst="rect">
            <a:avLst/>
          </a:prstGeom>
        </p:spPr>
      </p:pic>
      <p:sp>
        <p:nvSpPr>
          <p:cNvPr id="88" name="TextBox 87"/>
          <p:cNvSpPr txBox="1"/>
          <p:nvPr/>
        </p:nvSpPr>
        <p:spPr>
          <a:xfrm>
            <a:off x="1325880" y="2221991"/>
            <a:ext cx="3154680" cy="320040"/>
          </a:xfrm>
          <a:prstGeom prst="rect">
            <a:avLst/>
          </a:prstGeom>
          <a:noFill/>
        </p:spPr>
        <p:txBody>
          <a:bodyPr wrap="square" lIns="0" rIns="0" tIns="0" bIns="0" anchor="ctr"/>
          <a:lstStyle/>
          <a:p>
            <a:pPr algn="l"/>
            <a:r>
              <a:rPr sz="1300" b="1" i="0">
                <a:solidFill>
                  <a:srgbClr val="701C7F"/>
                </a:solidFill>
                <a:latin typeface="Inter"/>
              </a:rPr>
              <a:t>Fleets</a:t>
            </a:r>
          </a:p>
        </p:txBody>
      </p:sp>
      <p:sp>
        <p:nvSpPr>
          <p:cNvPr id="89" name="TextBox 88"/>
          <p:cNvSpPr txBox="1"/>
          <p:nvPr/>
        </p:nvSpPr>
        <p:spPr>
          <a:xfrm>
            <a:off x="1325880" y="2542032"/>
            <a:ext cx="3154680" cy="274320"/>
          </a:xfrm>
          <a:prstGeom prst="rect">
            <a:avLst/>
          </a:prstGeom>
          <a:noFill/>
        </p:spPr>
        <p:txBody>
          <a:bodyPr wrap="square" lIns="0" rIns="0" tIns="0" bIns="0" anchor="ctr"/>
          <a:lstStyle/>
          <a:p>
            <a:pPr algn="l"/>
            <a:r>
              <a:rPr sz="1100" b="0" i="0">
                <a:solidFill>
                  <a:srgbClr val="262626"/>
                </a:solidFill>
                <a:latin typeface="Inter"/>
              </a:rPr>
              <a:t>In-vehicle agent · per-vehicle licence</a:t>
            </a:r>
          </a:p>
        </p:txBody>
      </p:sp>
      <p:sp>
        <p:nvSpPr>
          <p:cNvPr id="90" name="Rounded Rectangle 89"/>
          <p:cNvSpPr/>
          <p:nvPr/>
        </p:nvSpPr>
        <p:spPr>
          <a:xfrm>
            <a:off x="548640" y="3017520"/>
            <a:ext cx="4023360" cy="749808"/>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685800" y="3145536"/>
            <a:ext cx="493776" cy="493776"/>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2" name="Picture 91" descr="FaUserTie_w.png"/>
          <p:cNvPicPr>
            <a:picLocks noChangeAspect="1"/>
          </p:cNvPicPr>
          <p:nvPr/>
        </p:nvPicPr>
        <p:blipFill>
          <a:blip r:embed="rId7"/>
          <a:stretch>
            <a:fillRect/>
          </a:stretch>
        </p:blipFill>
        <p:spPr>
          <a:xfrm>
            <a:off x="809244" y="3268980"/>
            <a:ext cx="246888" cy="246888"/>
          </a:xfrm>
          <a:prstGeom prst="rect">
            <a:avLst/>
          </a:prstGeom>
        </p:spPr>
      </p:pic>
      <p:sp>
        <p:nvSpPr>
          <p:cNvPr id="93" name="TextBox 92"/>
          <p:cNvSpPr txBox="1"/>
          <p:nvPr/>
        </p:nvSpPr>
        <p:spPr>
          <a:xfrm>
            <a:off x="1325880" y="3090672"/>
            <a:ext cx="3154680" cy="320040"/>
          </a:xfrm>
          <a:prstGeom prst="rect">
            <a:avLst/>
          </a:prstGeom>
          <a:noFill/>
        </p:spPr>
        <p:txBody>
          <a:bodyPr wrap="square" lIns="0" rIns="0" tIns="0" bIns="0" anchor="ctr"/>
          <a:lstStyle/>
          <a:p>
            <a:pPr algn="l"/>
            <a:r>
              <a:rPr sz="1300" b="1" i="0">
                <a:solidFill>
                  <a:srgbClr val="701C7F"/>
                </a:solidFill>
                <a:latin typeface="Inter"/>
              </a:rPr>
              <a:t>Every new safety function</a:t>
            </a:r>
          </a:p>
        </p:txBody>
      </p:sp>
      <p:sp>
        <p:nvSpPr>
          <p:cNvPr id="94" name="TextBox 93"/>
          <p:cNvSpPr txBox="1"/>
          <p:nvPr/>
        </p:nvSpPr>
        <p:spPr>
          <a:xfrm>
            <a:off x="1325880" y="3410712"/>
            <a:ext cx="3154680" cy="274320"/>
          </a:xfrm>
          <a:prstGeom prst="rect">
            <a:avLst/>
          </a:prstGeom>
          <a:noFill/>
        </p:spPr>
        <p:txBody>
          <a:bodyPr wrap="square" lIns="0" rIns="0" tIns="0" bIns="0" anchor="ctr"/>
          <a:lstStyle/>
          <a:p>
            <a:pPr algn="l"/>
            <a:r>
              <a:rPr sz="1100" b="0" i="0">
                <a:solidFill>
                  <a:srgbClr val="262626"/>
                </a:solidFill>
                <a:latin typeface="Inter"/>
              </a:rPr>
              <a:t>Onboarding · €40k</a:t>
            </a:r>
          </a:p>
        </p:txBody>
      </p:sp>
      <p:sp>
        <p:nvSpPr>
          <p:cNvPr id="95" name="TextBox 94"/>
          <p:cNvSpPr txBox="1"/>
          <p:nvPr/>
        </p:nvSpPr>
        <p:spPr>
          <a:xfrm>
            <a:off x="548640" y="3931920"/>
            <a:ext cx="4023360" cy="320040"/>
          </a:xfrm>
          <a:prstGeom prst="rect">
            <a:avLst/>
          </a:prstGeom>
          <a:noFill/>
        </p:spPr>
        <p:txBody>
          <a:bodyPr wrap="square" lIns="0" rIns="0" tIns="0" bIns="0" anchor="t"/>
          <a:lstStyle/>
          <a:p>
            <a:pPr algn="l"/>
            <a:r>
              <a:rPr sz="1200" b="1" i="0">
                <a:solidFill>
                  <a:srgbClr val="701C7F"/>
                </a:solidFill>
                <a:latin typeface="Inter"/>
              </a:rPr>
              <a:t>Open-source core: </a:t>
            </a:r>
            <a:r>
              <a:rPr sz="1200" b="0" i="0">
                <a:solidFill>
                  <a:srgbClr val="262626"/>
                </a:solidFill>
                <a:latin typeface="Inter"/>
              </a:rPr>
              <a:t>free entry</a:t>
            </a:r>
          </a:p>
        </p:txBody>
      </p:sp>
      <p:graphicFrame>
        <p:nvGraphicFramePr>
          <p:cNvPr id="96" name="Chart 95"/>
          <p:cNvGraphicFramePr>
            <a:graphicFrameLocks noGrp="1"/>
          </p:cNvGraphicFramePr>
          <p:nvPr/>
        </p:nvGraphicFramePr>
        <p:xfrm>
          <a:off x="4937760" y="1188720"/>
          <a:ext cx="3657600" cy="2103120"/>
        </p:xfrm>
        <a:graphic>
          <a:graphicData uri="http://schemas.openxmlformats.org/drawingml/2006/chart">
            <c:chart r:id="rId8"/>
          </a:graphicData>
        </a:graphic>
      </p:graphicFrame>
      <p:sp>
        <p:nvSpPr>
          <p:cNvPr id="97" name="TextBox 96"/>
          <p:cNvSpPr txBox="1"/>
          <p:nvPr/>
        </p:nvSpPr>
        <p:spPr>
          <a:xfrm>
            <a:off x="4937760" y="3429000"/>
            <a:ext cx="1371600" cy="548640"/>
          </a:xfrm>
          <a:prstGeom prst="rect">
            <a:avLst/>
          </a:prstGeom>
          <a:noFill/>
        </p:spPr>
        <p:txBody>
          <a:bodyPr wrap="square" lIns="0" rIns="0" tIns="0" bIns="0" anchor="ctr"/>
          <a:lstStyle/>
          <a:p>
            <a:pPr algn="l"/>
            <a:r>
              <a:rPr sz="2800" b="1" i="0">
                <a:solidFill>
                  <a:srgbClr val="DB521D"/>
                </a:solidFill>
                <a:latin typeface="Inter"/>
              </a:rPr>
              <a:t>−66 %</a:t>
            </a:r>
          </a:p>
        </p:txBody>
      </p:sp>
      <p:sp>
        <p:nvSpPr>
          <p:cNvPr id="98" name="TextBox 97"/>
          <p:cNvSpPr txBox="1"/>
          <p:nvPr/>
        </p:nvSpPr>
        <p:spPr>
          <a:xfrm>
            <a:off x="6355080" y="3429000"/>
            <a:ext cx="2240280" cy="548640"/>
          </a:xfrm>
          <a:prstGeom prst="rect">
            <a:avLst/>
          </a:prstGeom>
          <a:noFill/>
        </p:spPr>
        <p:txBody>
          <a:bodyPr wrap="square" lIns="0" rIns="0" tIns="0" bIns="0" anchor="ctr"/>
          <a:lstStyle/>
          <a:p>
            <a:pPr algn="l"/>
            <a:r>
              <a:rPr sz="1300" b="1" i="0">
                <a:solidFill>
                  <a:srgbClr val="262626"/>
                </a:solidFill>
                <a:latin typeface="Inter"/>
              </a:rPr>
              <a:t>payback ≈ 6 months</a:t>
            </a:r>
          </a:p>
        </p:txBody>
      </p:sp>
      <p:sp>
        <p:nvSpPr>
          <p:cNvPr id="99" name="TextBox 98"/>
          <p:cNvSpPr txBox="1"/>
          <p:nvPr/>
        </p:nvSpPr>
        <p:spPr>
          <a:xfrm>
            <a:off x="4937760" y="4023360"/>
            <a:ext cx="3657600" cy="274320"/>
          </a:xfrm>
          <a:prstGeom prst="rect">
            <a:avLst/>
          </a:prstGeom>
          <a:noFill/>
        </p:spPr>
        <p:txBody>
          <a:bodyPr wrap="square" lIns="0" rIns="0" tIns="0" bIns="0" anchor="t"/>
          <a:lstStyle/>
          <a:p>
            <a:pPr algn="l"/>
            <a:r>
              <a:rPr sz="850" b="0" i="0">
                <a:solidFill>
                  <a:srgbClr val="5F5F6B"/>
                </a:solidFill>
                <a:latin typeface="Inter"/>
              </a:rPr>
              <a:t>Illustrative: 12 OTA releases / year, from year 2</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9" name="Google Shape;79;p15"/>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Roadmap and Funding Ask</a:t>
            </a:r>
            <a:endParaRPr sz="400">
              <a:latin typeface="Inter ExtraBold"/>
              <a:ea typeface="Inter ExtraBold"/>
              <a:cs typeface="Inter ExtraBold"/>
              <a:sym typeface="Inter ExtraBold"/>
            </a:endParaRPr>
          </a:p>
        </p:txBody>
      </p:sp>
      <p:sp>
        <p:nvSpPr>
          <p:cNvPr id="80" name="Rounded Rectangle 79"/>
          <p:cNvSpPr/>
          <p:nvPr/>
        </p:nvSpPr>
        <p:spPr>
          <a:xfrm>
            <a:off x="548640" y="1234440"/>
            <a:ext cx="256032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731520" y="1371600"/>
            <a:ext cx="457200" cy="45720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Inter"/>
              </a:rPr>
              <a:t>1</a:t>
            </a:r>
          </a:p>
        </p:txBody>
      </p:sp>
      <p:sp>
        <p:nvSpPr>
          <p:cNvPr id="82" name="TextBox 81"/>
          <p:cNvSpPr txBox="1"/>
          <p:nvPr/>
        </p:nvSpPr>
        <p:spPr>
          <a:xfrm>
            <a:off x="1325880" y="1371600"/>
            <a:ext cx="1645920" cy="457200"/>
          </a:xfrm>
          <a:prstGeom prst="rect">
            <a:avLst/>
          </a:prstGeom>
          <a:noFill/>
        </p:spPr>
        <p:txBody>
          <a:bodyPr wrap="square" lIns="0" rIns="0" tIns="0" bIns="0" anchor="ctr"/>
          <a:lstStyle/>
          <a:p>
            <a:pPr algn="l"/>
            <a:r>
              <a:rPr sz="1100" b="1" i="0">
                <a:solidFill>
                  <a:srgbClr val="5F5F6B"/>
                </a:solidFill>
                <a:latin typeface="Inter"/>
              </a:rPr>
              <a:t>Q4 2026</a:t>
            </a:r>
          </a:p>
        </p:txBody>
      </p:sp>
      <p:sp>
        <p:nvSpPr>
          <p:cNvPr id="83" name="TextBox 82"/>
          <p:cNvSpPr txBox="1"/>
          <p:nvPr/>
        </p:nvSpPr>
        <p:spPr>
          <a:xfrm>
            <a:off x="731520" y="1892807"/>
            <a:ext cx="2286000" cy="320040"/>
          </a:xfrm>
          <a:prstGeom prst="rect">
            <a:avLst/>
          </a:prstGeom>
          <a:noFill/>
        </p:spPr>
        <p:txBody>
          <a:bodyPr wrap="square" lIns="0" rIns="0" tIns="0" bIns="0" anchor="t"/>
          <a:lstStyle/>
          <a:p>
            <a:pPr algn="l"/>
            <a:r>
              <a:rPr sz="1500" b="1" i="0">
                <a:solidFill>
                  <a:srgbClr val="701C7F"/>
                </a:solidFill>
                <a:latin typeface="Inter"/>
              </a:rPr>
              <a:t>Harden</a:t>
            </a:r>
          </a:p>
        </p:txBody>
      </p:sp>
      <p:sp>
        <p:nvSpPr>
          <p:cNvPr id="84" name="TextBox 83"/>
          <p:cNvSpPr txBox="1"/>
          <p:nvPr/>
        </p:nvSpPr>
        <p:spPr>
          <a:xfrm>
            <a:off x="731520" y="2212848"/>
            <a:ext cx="2286000" cy="320040"/>
          </a:xfrm>
          <a:prstGeom prst="rect">
            <a:avLst/>
          </a:prstGeom>
          <a:noFill/>
        </p:spPr>
        <p:txBody>
          <a:bodyPr wrap="square" lIns="0" rIns="0" tIns="0" bIns="0" anchor="t"/>
          <a:lstStyle/>
          <a:p>
            <a:pPr algn="l"/>
            <a:r>
              <a:rPr sz="1100" b="0" i="0">
                <a:solidFill>
                  <a:srgbClr val="262626"/>
                </a:solidFill>
                <a:latin typeface="Inter"/>
              </a:rPr>
              <a:t>Remote reruns · AutoSD</a:t>
            </a:r>
          </a:p>
        </p:txBody>
      </p:sp>
      <p:sp>
        <p:nvSpPr>
          <p:cNvPr id="85" name="Right Arrow 84"/>
          <p:cNvSpPr/>
          <p:nvPr/>
        </p:nvSpPr>
        <p:spPr>
          <a:xfrm>
            <a:off x="3127248" y="1810512"/>
            <a:ext cx="146304" cy="182880"/>
          </a:xfrm>
          <a:prstGeom prst="rightArrow">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ounded Rectangle 85"/>
          <p:cNvSpPr/>
          <p:nvPr/>
        </p:nvSpPr>
        <p:spPr>
          <a:xfrm>
            <a:off x="3291840" y="1234440"/>
            <a:ext cx="256032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Oval 86"/>
          <p:cNvSpPr/>
          <p:nvPr/>
        </p:nvSpPr>
        <p:spPr>
          <a:xfrm>
            <a:off x="3474720" y="1371600"/>
            <a:ext cx="457200" cy="45720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Inter"/>
              </a:rPr>
              <a:t>2</a:t>
            </a:r>
          </a:p>
        </p:txBody>
      </p:sp>
      <p:sp>
        <p:nvSpPr>
          <p:cNvPr id="88" name="TextBox 87"/>
          <p:cNvSpPr txBox="1"/>
          <p:nvPr/>
        </p:nvSpPr>
        <p:spPr>
          <a:xfrm>
            <a:off x="4069080" y="1371600"/>
            <a:ext cx="1645920" cy="457200"/>
          </a:xfrm>
          <a:prstGeom prst="rect">
            <a:avLst/>
          </a:prstGeom>
          <a:noFill/>
        </p:spPr>
        <p:txBody>
          <a:bodyPr wrap="square" lIns="0" rIns="0" tIns="0" bIns="0" anchor="ctr"/>
          <a:lstStyle/>
          <a:p>
            <a:pPr algn="l"/>
            <a:r>
              <a:rPr sz="1100" b="1" i="0">
                <a:solidFill>
                  <a:srgbClr val="5F5F6B"/>
                </a:solidFill>
                <a:latin typeface="Inter"/>
              </a:rPr>
              <a:t>2027</a:t>
            </a:r>
          </a:p>
        </p:txBody>
      </p:sp>
      <p:sp>
        <p:nvSpPr>
          <p:cNvPr id="89" name="TextBox 88"/>
          <p:cNvSpPr txBox="1"/>
          <p:nvPr/>
        </p:nvSpPr>
        <p:spPr>
          <a:xfrm>
            <a:off x="3474720" y="1892807"/>
            <a:ext cx="2286000" cy="320040"/>
          </a:xfrm>
          <a:prstGeom prst="rect">
            <a:avLst/>
          </a:prstGeom>
          <a:noFill/>
        </p:spPr>
        <p:txBody>
          <a:bodyPr wrap="square" lIns="0" rIns="0" tIns="0" bIns="0" anchor="t"/>
          <a:lstStyle/>
          <a:p>
            <a:pPr algn="l"/>
            <a:r>
              <a:rPr sz="1500" b="1" i="0">
                <a:solidFill>
                  <a:srgbClr val="701C7F"/>
                </a:solidFill>
                <a:latin typeface="Inter"/>
              </a:rPr>
              <a:t>Pilot</a:t>
            </a:r>
          </a:p>
        </p:txBody>
      </p:sp>
      <p:sp>
        <p:nvSpPr>
          <p:cNvPr id="90" name="TextBox 89"/>
          <p:cNvSpPr txBox="1"/>
          <p:nvPr/>
        </p:nvSpPr>
        <p:spPr>
          <a:xfrm>
            <a:off x="3474720" y="2212848"/>
            <a:ext cx="2286000" cy="320040"/>
          </a:xfrm>
          <a:prstGeom prst="rect">
            <a:avLst/>
          </a:prstGeom>
          <a:noFill/>
        </p:spPr>
        <p:txBody>
          <a:bodyPr wrap="square" lIns="0" rIns="0" tIns="0" bIns="0" anchor="t"/>
          <a:lstStyle/>
          <a:p>
            <a:pPr algn="l"/>
            <a:r>
              <a:rPr sz="1100" b="0" i="0">
                <a:solidFill>
                  <a:srgbClr val="262626"/>
                </a:solidFill>
                <a:latin typeface="Inter"/>
              </a:rPr>
              <a:t>2 paid pilots · Blueprint</a:t>
            </a:r>
          </a:p>
        </p:txBody>
      </p:sp>
      <p:sp>
        <p:nvSpPr>
          <p:cNvPr id="91" name="Right Arrow 90"/>
          <p:cNvSpPr/>
          <p:nvPr/>
        </p:nvSpPr>
        <p:spPr>
          <a:xfrm>
            <a:off x="5870448" y="1810512"/>
            <a:ext cx="146304" cy="182880"/>
          </a:xfrm>
          <a:prstGeom prst="rightArrow">
            <a:avLst/>
          </a:prstGeom>
          <a:solidFill>
            <a:srgbClr val="C9A5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ounded Rectangle 91"/>
          <p:cNvSpPr/>
          <p:nvPr/>
        </p:nvSpPr>
        <p:spPr>
          <a:xfrm>
            <a:off x="6035040" y="1234440"/>
            <a:ext cx="2560320" cy="1371600"/>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6217920" y="1371600"/>
            <a:ext cx="457200" cy="45720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i="0">
                <a:solidFill>
                  <a:srgbClr val="FFFFFF"/>
                </a:solidFill>
                <a:latin typeface="Inter"/>
              </a:rPr>
              <a:t>3</a:t>
            </a:r>
          </a:p>
        </p:txBody>
      </p:sp>
      <p:sp>
        <p:nvSpPr>
          <p:cNvPr id="94" name="TextBox 93"/>
          <p:cNvSpPr txBox="1"/>
          <p:nvPr/>
        </p:nvSpPr>
        <p:spPr>
          <a:xfrm>
            <a:off x="6812279" y="1371600"/>
            <a:ext cx="1645920" cy="457200"/>
          </a:xfrm>
          <a:prstGeom prst="rect">
            <a:avLst/>
          </a:prstGeom>
          <a:noFill/>
        </p:spPr>
        <p:txBody>
          <a:bodyPr wrap="square" lIns="0" rIns="0" tIns="0" bIns="0" anchor="ctr"/>
          <a:lstStyle/>
          <a:p>
            <a:pPr algn="l"/>
            <a:r>
              <a:rPr sz="1100" b="1" i="0">
                <a:solidFill>
                  <a:srgbClr val="5F5F6B"/>
                </a:solidFill>
                <a:latin typeface="Inter"/>
              </a:rPr>
              <a:t>2028</a:t>
            </a:r>
          </a:p>
        </p:txBody>
      </p:sp>
      <p:sp>
        <p:nvSpPr>
          <p:cNvPr id="95" name="TextBox 94"/>
          <p:cNvSpPr txBox="1"/>
          <p:nvPr/>
        </p:nvSpPr>
        <p:spPr>
          <a:xfrm>
            <a:off x="6217920" y="1892807"/>
            <a:ext cx="2286000" cy="320040"/>
          </a:xfrm>
          <a:prstGeom prst="rect">
            <a:avLst/>
          </a:prstGeom>
          <a:noFill/>
        </p:spPr>
        <p:txBody>
          <a:bodyPr wrap="square" lIns="0" rIns="0" tIns="0" bIns="0" anchor="t"/>
          <a:lstStyle/>
          <a:p>
            <a:pPr algn="l"/>
            <a:r>
              <a:rPr sz="1500" b="1" i="0">
                <a:solidFill>
                  <a:srgbClr val="701C7F"/>
                </a:solidFill>
                <a:latin typeface="Inter"/>
              </a:rPr>
              <a:t>Scale</a:t>
            </a:r>
          </a:p>
        </p:txBody>
      </p:sp>
      <p:sp>
        <p:nvSpPr>
          <p:cNvPr id="96" name="TextBox 95"/>
          <p:cNvSpPr txBox="1"/>
          <p:nvPr/>
        </p:nvSpPr>
        <p:spPr>
          <a:xfrm>
            <a:off x="6217920" y="2212848"/>
            <a:ext cx="2286000" cy="320040"/>
          </a:xfrm>
          <a:prstGeom prst="rect">
            <a:avLst/>
          </a:prstGeom>
          <a:noFill/>
        </p:spPr>
        <p:txBody>
          <a:bodyPr wrap="square" lIns="0" rIns="0" tIns="0" bIns="0" anchor="t"/>
          <a:lstStyle/>
          <a:p>
            <a:pPr algn="l"/>
            <a:r>
              <a:rPr sz="1100" b="0" i="0">
                <a:solidFill>
                  <a:srgbClr val="262626"/>
                </a:solidFill>
                <a:latin typeface="Inter"/>
              </a:rPr>
              <a:t>Tool qualification · SaaS</a:t>
            </a:r>
          </a:p>
        </p:txBody>
      </p:sp>
      <p:sp>
        <p:nvSpPr>
          <p:cNvPr id="97" name="TextBox 96"/>
          <p:cNvSpPr txBox="1"/>
          <p:nvPr/>
        </p:nvSpPr>
        <p:spPr>
          <a:xfrm>
            <a:off x="548640" y="2926080"/>
            <a:ext cx="2743200" cy="457200"/>
          </a:xfrm>
          <a:prstGeom prst="rect">
            <a:avLst/>
          </a:prstGeom>
          <a:noFill/>
        </p:spPr>
        <p:txBody>
          <a:bodyPr wrap="square" lIns="0" rIns="0" tIns="0" bIns="0" anchor="t"/>
          <a:lstStyle/>
          <a:p>
            <a:pPr algn="l"/>
            <a:r>
              <a:rPr sz="2400" b="1" i="0">
                <a:solidFill>
                  <a:srgbClr val="701C7F"/>
                </a:solidFill>
                <a:latin typeface="Inter"/>
              </a:rPr>
              <a:t>€1.2 M seed</a:t>
            </a:r>
          </a:p>
        </p:txBody>
      </p:sp>
      <p:sp>
        <p:nvSpPr>
          <p:cNvPr id="98" name="TextBox 97"/>
          <p:cNvSpPr txBox="1"/>
          <p:nvPr/>
        </p:nvSpPr>
        <p:spPr>
          <a:xfrm>
            <a:off x="548640" y="3429000"/>
            <a:ext cx="2743200" cy="365760"/>
          </a:xfrm>
          <a:prstGeom prst="rect">
            <a:avLst/>
          </a:prstGeom>
          <a:noFill/>
        </p:spPr>
        <p:txBody>
          <a:bodyPr wrap="square" lIns="0" rIns="0" tIns="0" bIns="0" anchor="t"/>
          <a:lstStyle/>
          <a:p>
            <a:pPr algn="l"/>
            <a:r>
              <a:rPr sz="1300" b="0" i="0">
                <a:solidFill>
                  <a:srgbClr val="262626"/>
                </a:solidFill>
                <a:latin typeface="Inter"/>
              </a:rPr>
              <a:t>18 months runway</a:t>
            </a:r>
          </a:p>
        </p:txBody>
      </p:sp>
      <p:sp>
        <p:nvSpPr>
          <p:cNvPr id="99" name="Rectangle 98"/>
          <p:cNvSpPr/>
          <p:nvPr/>
        </p:nvSpPr>
        <p:spPr>
          <a:xfrm>
            <a:off x="3474720" y="3017520"/>
            <a:ext cx="3072384" cy="411480"/>
          </a:xfrm>
          <a:prstGeom prst="rect">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Inter"/>
              </a:rPr>
              <a:t>60 %</a:t>
            </a:r>
          </a:p>
        </p:txBody>
      </p:sp>
      <p:sp>
        <p:nvSpPr>
          <p:cNvPr id="100" name="Rectangle 99"/>
          <p:cNvSpPr/>
          <p:nvPr/>
        </p:nvSpPr>
        <p:spPr>
          <a:xfrm>
            <a:off x="6547104" y="3017520"/>
            <a:ext cx="768096" cy="411480"/>
          </a:xfrm>
          <a:prstGeom prst="rect">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Inter"/>
              </a:rPr>
              <a:t>15 %</a:t>
            </a:r>
          </a:p>
        </p:txBody>
      </p:sp>
      <p:sp>
        <p:nvSpPr>
          <p:cNvPr id="101" name="Rectangle 100"/>
          <p:cNvSpPr/>
          <p:nvPr/>
        </p:nvSpPr>
        <p:spPr>
          <a:xfrm>
            <a:off x="7315200" y="3017520"/>
            <a:ext cx="768096" cy="411480"/>
          </a:xfrm>
          <a:prstGeom prst="rect">
            <a:avLst/>
          </a:prstGeom>
          <a:solidFill>
            <a:srgbClr val="AB0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Inter"/>
              </a:rPr>
              <a:t>15 %</a:t>
            </a:r>
          </a:p>
        </p:txBody>
      </p:sp>
      <p:sp>
        <p:nvSpPr>
          <p:cNvPr id="102" name="Rectangle 101"/>
          <p:cNvSpPr/>
          <p:nvPr/>
        </p:nvSpPr>
        <p:spPr>
          <a:xfrm>
            <a:off x="8083296" y="3017520"/>
            <a:ext cx="512063" cy="411480"/>
          </a:xfrm>
          <a:prstGeom prst="rect">
            <a:avLst/>
          </a:prstGeom>
          <a:solidFill>
            <a:srgbClr val="DB52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i="0">
                <a:solidFill>
                  <a:srgbClr val="FFFFFF"/>
                </a:solidFill>
                <a:latin typeface="Inter"/>
              </a:rPr>
              <a:t>10 %</a:t>
            </a:r>
          </a:p>
        </p:txBody>
      </p:sp>
      <p:sp>
        <p:nvSpPr>
          <p:cNvPr id="103" name="Oval 102"/>
          <p:cNvSpPr/>
          <p:nvPr/>
        </p:nvSpPr>
        <p:spPr>
          <a:xfrm>
            <a:off x="3474720" y="3675888"/>
            <a:ext cx="146304" cy="146304"/>
          </a:xfrm>
          <a:prstGeom prst="ellipse">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3675887" y="3611880"/>
            <a:ext cx="1097280" cy="274320"/>
          </a:xfrm>
          <a:prstGeom prst="rect">
            <a:avLst/>
          </a:prstGeom>
          <a:noFill/>
        </p:spPr>
        <p:txBody>
          <a:bodyPr wrap="square" lIns="0" rIns="0" tIns="0" bIns="0" anchor="ctr"/>
          <a:lstStyle/>
          <a:p>
            <a:pPr algn="l"/>
            <a:r>
              <a:rPr sz="1000" b="0" i="0">
                <a:solidFill>
                  <a:srgbClr val="262626"/>
                </a:solidFill>
                <a:latin typeface="Inter"/>
              </a:rPr>
              <a:t>Engineering</a:t>
            </a:r>
          </a:p>
        </p:txBody>
      </p:sp>
      <p:sp>
        <p:nvSpPr>
          <p:cNvPr id="105" name="Oval 104"/>
          <p:cNvSpPr/>
          <p:nvPr/>
        </p:nvSpPr>
        <p:spPr>
          <a:xfrm>
            <a:off x="4754879" y="3675888"/>
            <a:ext cx="146304" cy="146304"/>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4956047" y="3611880"/>
            <a:ext cx="1097280" cy="274320"/>
          </a:xfrm>
          <a:prstGeom prst="rect">
            <a:avLst/>
          </a:prstGeom>
          <a:noFill/>
        </p:spPr>
        <p:txBody>
          <a:bodyPr wrap="square" lIns="0" rIns="0" tIns="0" bIns="0" anchor="ctr"/>
          <a:lstStyle/>
          <a:p>
            <a:pPr algn="l"/>
            <a:r>
              <a:rPr sz="1000" b="0" i="0">
                <a:solidFill>
                  <a:srgbClr val="262626"/>
                </a:solidFill>
                <a:latin typeface="Inter"/>
              </a:rPr>
              <a:t>Qualification</a:t>
            </a:r>
          </a:p>
        </p:txBody>
      </p:sp>
      <p:sp>
        <p:nvSpPr>
          <p:cNvPr id="107" name="Oval 106"/>
          <p:cNvSpPr/>
          <p:nvPr/>
        </p:nvSpPr>
        <p:spPr>
          <a:xfrm>
            <a:off x="6035040" y="3675888"/>
            <a:ext cx="146304" cy="146304"/>
          </a:xfrm>
          <a:prstGeom prst="ellipse">
            <a:avLst/>
          </a:prstGeom>
          <a:solidFill>
            <a:srgbClr val="AB0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6236207" y="3611880"/>
            <a:ext cx="1097280" cy="274320"/>
          </a:xfrm>
          <a:prstGeom prst="rect">
            <a:avLst/>
          </a:prstGeom>
          <a:noFill/>
        </p:spPr>
        <p:txBody>
          <a:bodyPr wrap="square" lIns="0" rIns="0" tIns="0" bIns="0" anchor="ctr"/>
          <a:lstStyle/>
          <a:p>
            <a:pPr algn="l"/>
            <a:r>
              <a:rPr sz="1000" b="0" i="0">
                <a:solidFill>
                  <a:srgbClr val="262626"/>
                </a:solidFill>
                <a:latin typeface="Inter"/>
              </a:rPr>
              <a:t>Pilots &amp; sales</a:t>
            </a:r>
          </a:p>
        </p:txBody>
      </p:sp>
      <p:sp>
        <p:nvSpPr>
          <p:cNvPr id="109" name="Oval 108"/>
          <p:cNvSpPr/>
          <p:nvPr/>
        </p:nvSpPr>
        <p:spPr>
          <a:xfrm>
            <a:off x="7315199" y="3675888"/>
            <a:ext cx="146304" cy="146304"/>
          </a:xfrm>
          <a:prstGeom prst="ellipse">
            <a:avLst/>
          </a:prstGeom>
          <a:solidFill>
            <a:srgbClr val="DB5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7516367" y="3611880"/>
            <a:ext cx="1097280" cy="274320"/>
          </a:xfrm>
          <a:prstGeom prst="rect">
            <a:avLst/>
          </a:prstGeom>
          <a:noFill/>
        </p:spPr>
        <p:txBody>
          <a:bodyPr wrap="square" lIns="0" rIns="0" tIns="0" bIns="0" anchor="ctr"/>
          <a:lstStyle/>
          <a:p>
            <a:pPr algn="l"/>
            <a:r>
              <a:rPr sz="1000" b="0" i="0">
                <a:solidFill>
                  <a:srgbClr val="262626"/>
                </a:solidFill>
                <a:latin typeface="Inter"/>
              </a:rPr>
              <a:t>Infrastructure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971300" y="4808250"/>
            <a:ext cx="5334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rgbClr val="595959"/>
                </a:solidFill>
                <a:latin typeface="Inter"/>
                <a:ea typeface="Inter"/>
                <a:cs typeface="Inter"/>
                <a:sym typeface="Inter"/>
              </a:rPr>
              <a:t>Copyright© Eclipse Foundation AISBL and contributors. Made available under CC-BY-SA 4.0 International.</a:t>
            </a:r>
            <a:endParaRPr sz="700">
              <a:solidFill>
                <a:srgbClr val="595959"/>
              </a:solidFill>
              <a:latin typeface="Inter"/>
              <a:ea typeface="Inter"/>
              <a:cs typeface="Inter"/>
              <a:sym typeface="Inter"/>
            </a:endParaRPr>
          </a:p>
        </p:txBody>
      </p:sp>
      <p:pic>
        <p:nvPicPr>
          <p:cNvPr id="77" name="Google Shape;77;p15" title="SDV_logo-color01 (1).png"/>
          <p:cNvPicPr preferRelativeResize="0"/>
          <p:nvPr/>
        </p:nvPicPr>
        <p:blipFill>
          <a:blip r:embed="rId3">
            <a:alphaModFix/>
          </a:blip>
          <a:stretch>
            <a:fillRect/>
          </a:stretch>
        </p:blipFill>
        <p:spPr>
          <a:xfrm>
            <a:off x="225475" y="4757277"/>
            <a:ext cx="684027" cy="255500"/>
          </a:xfrm>
          <a:prstGeom prst="rect">
            <a:avLst/>
          </a:prstGeom>
          <a:noFill/>
          <a:ln>
            <a:noFill/>
          </a:ln>
        </p:spPr>
      </p:pic>
      <p:sp>
        <p:nvSpPr>
          <p:cNvPr id="79" name="Google Shape;79;p15"/>
          <p:cNvSpPr txBox="1"/>
          <p:nvPr/>
        </p:nvSpPr>
        <p:spPr>
          <a:xfrm>
            <a:off x="712125" y="628750"/>
            <a:ext cx="7360200" cy="46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990"/>
              <a:buFont typeface="Arial"/>
              <a:buNone/>
            </a:pPr>
            <a:r>
              <a:rPr b="1" lang="en" sz="1820">
                <a:solidFill>
                  <a:srgbClr val="701C7F"/>
                </a:solidFill>
                <a:latin typeface="Inter"/>
                <a:ea typeface="Inter"/>
                <a:cs typeface="Inter"/>
                <a:sym typeface="Inter"/>
              </a:rPr>
              <a:t>Team and Contact</a:t>
            </a:r>
            <a:endParaRPr sz="400">
              <a:latin typeface="Inter ExtraBold"/>
              <a:ea typeface="Inter ExtraBold"/>
              <a:cs typeface="Inter ExtraBold"/>
              <a:sym typeface="Inter ExtraBold"/>
            </a:endParaRPr>
          </a:p>
        </p:txBody>
      </p:sp>
      <p:sp>
        <p:nvSpPr>
          <p:cNvPr id="80" name="Rounded Rectangle 79"/>
          <p:cNvSpPr/>
          <p:nvPr/>
        </p:nvSpPr>
        <p:spPr>
          <a:xfrm>
            <a:off x="548640" y="1234440"/>
            <a:ext cx="2560320" cy="896112"/>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713232" y="1408176"/>
            <a:ext cx="548640" cy="54864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J</a:t>
            </a:r>
          </a:p>
        </p:txBody>
      </p:sp>
      <p:sp>
        <p:nvSpPr>
          <p:cNvPr id="82" name="TextBox 81"/>
          <p:cNvSpPr txBox="1"/>
          <p:nvPr/>
        </p:nvSpPr>
        <p:spPr>
          <a:xfrm>
            <a:off x="1417319" y="1362456"/>
            <a:ext cx="1600200" cy="320040"/>
          </a:xfrm>
          <a:prstGeom prst="rect">
            <a:avLst/>
          </a:prstGeom>
          <a:noFill/>
        </p:spPr>
        <p:txBody>
          <a:bodyPr wrap="square" lIns="0" rIns="0" tIns="0" bIns="0" anchor="t"/>
          <a:lstStyle/>
          <a:p>
            <a:pPr algn="l"/>
            <a:r>
              <a:rPr sz="1300" b="1" i="0">
                <a:solidFill>
                  <a:srgbClr val="701C7F"/>
                </a:solidFill>
                <a:latin typeface="Inter"/>
              </a:rPr>
              <a:t>Jens</a:t>
            </a:r>
          </a:p>
        </p:txBody>
      </p:sp>
      <p:sp>
        <p:nvSpPr>
          <p:cNvPr id="83" name="TextBox 82"/>
          <p:cNvSpPr txBox="1"/>
          <p:nvPr/>
        </p:nvSpPr>
        <p:spPr>
          <a:xfrm>
            <a:off x="1417319" y="1691640"/>
            <a:ext cx="1645920" cy="320040"/>
          </a:xfrm>
          <a:prstGeom prst="rect">
            <a:avLst/>
          </a:prstGeom>
          <a:noFill/>
        </p:spPr>
        <p:txBody>
          <a:bodyPr wrap="square" lIns="0" rIns="0" tIns="0" bIns="0" anchor="t"/>
          <a:lstStyle/>
          <a:p>
            <a:pPr algn="l"/>
            <a:r>
              <a:rPr sz="1050" b="0" i="0">
                <a:solidFill>
                  <a:srgbClr val="262626"/>
                </a:solidFill>
                <a:latin typeface="Inter"/>
              </a:rPr>
              <a:t>Lead &amp; Safety</a:t>
            </a:r>
          </a:p>
        </p:txBody>
      </p:sp>
      <p:sp>
        <p:nvSpPr>
          <p:cNvPr id="84" name="Rounded Rectangle 83"/>
          <p:cNvSpPr/>
          <p:nvPr/>
        </p:nvSpPr>
        <p:spPr>
          <a:xfrm>
            <a:off x="3291840" y="1234440"/>
            <a:ext cx="2560320" cy="896112"/>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3456432" y="1408176"/>
            <a:ext cx="548640" cy="548640"/>
          </a:xfrm>
          <a:prstGeom prst="ellipse">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S</a:t>
            </a:r>
          </a:p>
        </p:txBody>
      </p:sp>
      <p:sp>
        <p:nvSpPr>
          <p:cNvPr id="86" name="TextBox 85"/>
          <p:cNvSpPr txBox="1"/>
          <p:nvPr/>
        </p:nvSpPr>
        <p:spPr>
          <a:xfrm>
            <a:off x="4160520" y="1362456"/>
            <a:ext cx="1600200" cy="320040"/>
          </a:xfrm>
          <a:prstGeom prst="rect">
            <a:avLst/>
          </a:prstGeom>
          <a:noFill/>
        </p:spPr>
        <p:txBody>
          <a:bodyPr wrap="square" lIns="0" rIns="0" tIns="0" bIns="0" anchor="t"/>
          <a:lstStyle/>
          <a:p>
            <a:pPr algn="l"/>
            <a:r>
              <a:rPr sz="1300" b="1" i="0">
                <a:solidFill>
                  <a:srgbClr val="701C7F"/>
                </a:solidFill>
                <a:latin typeface="Inter"/>
              </a:rPr>
              <a:t>Sopan</a:t>
            </a:r>
          </a:p>
        </p:txBody>
      </p:sp>
      <p:sp>
        <p:nvSpPr>
          <p:cNvPr id="87" name="TextBox 86"/>
          <p:cNvSpPr txBox="1"/>
          <p:nvPr/>
        </p:nvSpPr>
        <p:spPr>
          <a:xfrm>
            <a:off x="4160520" y="1691640"/>
            <a:ext cx="1645920" cy="320040"/>
          </a:xfrm>
          <a:prstGeom prst="rect">
            <a:avLst/>
          </a:prstGeom>
          <a:noFill/>
        </p:spPr>
        <p:txBody>
          <a:bodyPr wrap="square" lIns="0" rIns="0" tIns="0" bIns="0" anchor="t"/>
          <a:lstStyle/>
          <a:p>
            <a:pPr algn="l"/>
            <a:r>
              <a:rPr sz="1050" b="0" i="0">
                <a:solidFill>
                  <a:srgbClr val="262626"/>
                </a:solidFill>
                <a:latin typeface="Inter"/>
              </a:rPr>
              <a:t>CAN &amp; ThreadX</a:t>
            </a:r>
          </a:p>
        </p:txBody>
      </p:sp>
      <p:sp>
        <p:nvSpPr>
          <p:cNvPr id="88" name="Rounded Rectangle 87"/>
          <p:cNvSpPr/>
          <p:nvPr/>
        </p:nvSpPr>
        <p:spPr>
          <a:xfrm>
            <a:off x="6035040" y="1234440"/>
            <a:ext cx="2560320" cy="896112"/>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6199631" y="1408176"/>
            <a:ext cx="548640" cy="54864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Y</a:t>
            </a:r>
          </a:p>
        </p:txBody>
      </p:sp>
      <p:sp>
        <p:nvSpPr>
          <p:cNvPr id="90" name="TextBox 89"/>
          <p:cNvSpPr txBox="1"/>
          <p:nvPr/>
        </p:nvSpPr>
        <p:spPr>
          <a:xfrm>
            <a:off x="6903720" y="1362456"/>
            <a:ext cx="1600200" cy="320040"/>
          </a:xfrm>
          <a:prstGeom prst="rect">
            <a:avLst/>
          </a:prstGeom>
          <a:noFill/>
        </p:spPr>
        <p:txBody>
          <a:bodyPr wrap="square" lIns="0" rIns="0" tIns="0" bIns="0" anchor="t"/>
          <a:lstStyle/>
          <a:p>
            <a:pPr algn="l"/>
            <a:r>
              <a:rPr sz="1300" b="1" i="0">
                <a:solidFill>
                  <a:srgbClr val="701C7F"/>
                </a:solidFill>
                <a:latin typeface="Inter"/>
              </a:rPr>
              <a:t>Youssef</a:t>
            </a:r>
          </a:p>
        </p:txBody>
      </p:sp>
      <p:sp>
        <p:nvSpPr>
          <p:cNvPr id="91" name="TextBox 90"/>
          <p:cNvSpPr txBox="1"/>
          <p:nvPr/>
        </p:nvSpPr>
        <p:spPr>
          <a:xfrm>
            <a:off x="6903720" y="1691640"/>
            <a:ext cx="1645920" cy="320040"/>
          </a:xfrm>
          <a:prstGeom prst="rect">
            <a:avLst/>
          </a:prstGeom>
          <a:noFill/>
        </p:spPr>
        <p:txBody>
          <a:bodyPr wrap="square" lIns="0" rIns="0" tIns="0" bIns="0" anchor="t"/>
          <a:lstStyle/>
          <a:p>
            <a:pPr algn="l"/>
            <a:r>
              <a:rPr sz="1050" b="0" i="0">
                <a:solidFill>
                  <a:srgbClr val="262626"/>
                </a:solidFill>
                <a:latin typeface="Inter"/>
              </a:rPr>
              <a:t>KUKSA</a:t>
            </a:r>
          </a:p>
        </p:txBody>
      </p:sp>
      <p:sp>
        <p:nvSpPr>
          <p:cNvPr id="92" name="Rounded Rectangle 91"/>
          <p:cNvSpPr/>
          <p:nvPr/>
        </p:nvSpPr>
        <p:spPr>
          <a:xfrm>
            <a:off x="548640" y="2286000"/>
            <a:ext cx="2560320" cy="896112"/>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713232" y="2459736"/>
            <a:ext cx="548640" cy="548640"/>
          </a:xfrm>
          <a:prstGeom prst="ellipse">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A</a:t>
            </a:r>
          </a:p>
        </p:txBody>
      </p:sp>
      <p:sp>
        <p:nvSpPr>
          <p:cNvPr id="94" name="TextBox 93"/>
          <p:cNvSpPr txBox="1"/>
          <p:nvPr/>
        </p:nvSpPr>
        <p:spPr>
          <a:xfrm>
            <a:off x="1417319" y="2414016"/>
            <a:ext cx="1600200" cy="320040"/>
          </a:xfrm>
          <a:prstGeom prst="rect">
            <a:avLst/>
          </a:prstGeom>
          <a:noFill/>
        </p:spPr>
        <p:txBody>
          <a:bodyPr wrap="square" lIns="0" rIns="0" tIns="0" bIns="0" anchor="t"/>
          <a:lstStyle/>
          <a:p>
            <a:pPr algn="l"/>
            <a:r>
              <a:rPr sz="1300" b="1" i="0">
                <a:solidFill>
                  <a:srgbClr val="701C7F"/>
                </a:solidFill>
                <a:latin typeface="Inter"/>
              </a:rPr>
              <a:t>Anukul</a:t>
            </a:r>
          </a:p>
        </p:txBody>
      </p:sp>
      <p:sp>
        <p:nvSpPr>
          <p:cNvPr id="95" name="TextBox 94"/>
          <p:cNvSpPr txBox="1"/>
          <p:nvPr/>
        </p:nvSpPr>
        <p:spPr>
          <a:xfrm>
            <a:off x="1417319" y="2743200"/>
            <a:ext cx="1645920" cy="320040"/>
          </a:xfrm>
          <a:prstGeom prst="rect">
            <a:avLst/>
          </a:prstGeom>
          <a:noFill/>
        </p:spPr>
        <p:txBody>
          <a:bodyPr wrap="square" lIns="0" rIns="0" tIns="0" bIns="0" anchor="t"/>
          <a:lstStyle/>
          <a:p>
            <a:pPr algn="l"/>
            <a:r>
              <a:rPr sz="1050" b="0" i="0">
                <a:solidFill>
                  <a:srgbClr val="262626"/>
                </a:solidFill>
                <a:latin typeface="Inter"/>
              </a:rPr>
              <a:t>OpenSOVD &amp; AutoSD</a:t>
            </a:r>
          </a:p>
        </p:txBody>
      </p:sp>
      <p:sp>
        <p:nvSpPr>
          <p:cNvPr id="96" name="Rounded Rectangle 95"/>
          <p:cNvSpPr/>
          <p:nvPr/>
        </p:nvSpPr>
        <p:spPr>
          <a:xfrm>
            <a:off x="3291840" y="2286000"/>
            <a:ext cx="2560320" cy="896112"/>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3456432" y="2459736"/>
            <a:ext cx="548640" cy="548640"/>
          </a:xfrm>
          <a:prstGeom prst="ellipse">
            <a:avLst/>
          </a:prstGeom>
          <a:solidFill>
            <a:srgbClr val="701C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J</a:t>
            </a:r>
          </a:p>
        </p:txBody>
      </p:sp>
      <p:sp>
        <p:nvSpPr>
          <p:cNvPr id="98" name="TextBox 97"/>
          <p:cNvSpPr txBox="1"/>
          <p:nvPr/>
        </p:nvSpPr>
        <p:spPr>
          <a:xfrm>
            <a:off x="4160520" y="2414016"/>
            <a:ext cx="1600200" cy="320040"/>
          </a:xfrm>
          <a:prstGeom prst="rect">
            <a:avLst/>
          </a:prstGeom>
          <a:noFill/>
        </p:spPr>
        <p:txBody>
          <a:bodyPr wrap="square" lIns="0" rIns="0" tIns="0" bIns="0" anchor="t"/>
          <a:lstStyle/>
          <a:p>
            <a:pPr algn="l"/>
            <a:r>
              <a:rPr sz="1300" b="1" i="0">
                <a:solidFill>
                  <a:srgbClr val="701C7F"/>
                </a:solidFill>
                <a:latin typeface="Inter"/>
              </a:rPr>
              <a:t>Jannis</a:t>
            </a:r>
          </a:p>
        </p:txBody>
      </p:sp>
      <p:sp>
        <p:nvSpPr>
          <p:cNvPr id="99" name="TextBox 98"/>
          <p:cNvSpPr txBox="1"/>
          <p:nvPr/>
        </p:nvSpPr>
        <p:spPr>
          <a:xfrm>
            <a:off x="4160520" y="2743200"/>
            <a:ext cx="1645920" cy="320040"/>
          </a:xfrm>
          <a:prstGeom prst="rect">
            <a:avLst/>
          </a:prstGeom>
          <a:noFill/>
        </p:spPr>
        <p:txBody>
          <a:bodyPr wrap="square" lIns="0" rIns="0" tIns="0" bIns="0" anchor="t"/>
          <a:lstStyle/>
          <a:p>
            <a:pPr algn="l"/>
            <a:r>
              <a:rPr sz="1050" b="0" i="0">
                <a:solidFill>
                  <a:srgbClr val="262626"/>
                </a:solidFill>
                <a:latin typeface="Inter"/>
              </a:rPr>
              <a:t>Guardian</a:t>
            </a:r>
          </a:p>
        </p:txBody>
      </p:sp>
      <p:sp>
        <p:nvSpPr>
          <p:cNvPr id="100" name="Rounded Rectangle 99"/>
          <p:cNvSpPr/>
          <p:nvPr/>
        </p:nvSpPr>
        <p:spPr>
          <a:xfrm>
            <a:off x="6035040" y="2286000"/>
            <a:ext cx="2560320" cy="896112"/>
          </a:xfrm>
          <a:prstGeom prst="roundRect">
            <a:avLst>
              <a:gd name="adj" fmla="val 8000"/>
            </a:avLst>
          </a:prstGeom>
          <a:solidFill>
            <a:srgbClr val="F4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6199631" y="2459736"/>
            <a:ext cx="548640" cy="548640"/>
          </a:xfrm>
          <a:prstGeom prst="ellipse">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Inter"/>
              </a:rPr>
              <a:t>J</a:t>
            </a:r>
          </a:p>
        </p:txBody>
      </p:sp>
      <p:sp>
        <p:nvSpPr>
          <p:cNvPr id="102" name="TextBox 101"/>
          <p:cNvSpPr txBox="1"/>
          <p:nvPr/>
        </p:nvSpPr>
        <p:spPr>
          <a:xfrm>
            <a:off x="6903720" y="2414016"/>
            <a:ext cx="1600200" cy="320040"/>
          </a:xfrm>
          <a:prstGeom prst="rect">
            <a:avLst/>
          </a:prstGeom>
          <a:noFill/>
        </p:spPr>
        <p:txBody>
          <a:bodyPr wrap="square" lIns="0" rIns="0" tIns="0" bIns="0" anchor="t"/>
          <a:lstStyle/>
          <a:p>
            <a:pPr algn="l"/>
            <a:r>
              <a:rPr sz="1300" b="1" i="0">
                <a:solidFill>
                  <a:srgbClr val="701C7F"/>
                </a:solidFill>
                <a:latin typeface="Inter"/>
              </a:rPr>
              <a:t>Julian</a:t>
            </a:r>
          </a:p>
        </p:txBody>
      </p:sp>
      <p:sp>
        <p:nvSpPr>
          <p:cNvPr id="103" name="TextBox 102"/>
          <p:cNvSpPr txBox="1"/>
          <p:nvPr/>
        </p:nvSpPr>
        <p:spPr>
          <a:xfrm>
            <a:off x="6903720" y="2743200"/>
            <a:ext cx="1645920" cy="320040"/>
          </a:xfrm>
          <a:prstGeom prst="rect">
            <a:avLst/>
          </a:prstGeom>
          <a:noFill/>
        </p:spPr>
        <p:txBody>
          <a:bodyPr wrap="square" lIns="0" rIns="0" tIns="0" bIns="0" anchor="t"/>
          <a:lstStyle/>
          <a:p>
            <a:pPr algn="l"/>
            <a:r>
              <a:rPr sz="1050" b="0" i="0">
                <a:solidFill>
                  <a:srgbClr val="262626"/>
                </a:solidFill>
                <a:latin typeface="Inter"/>
              </a:rPr>
              <a:t>uProtocol &amp; Dashboard</a:t>
            </a:r>
          </a:p>
        </p:txBody>
      </p:sp>
      <p:sp>
        <p:nvSpPr>
          <p:cNvPr id="104" name="Rounded Rectangle 103"/>
          <p:cNvSpPr/>
          <p:nvPr/>
        </p:nvSpPr>
        <p:spPr>
          <a:xfrm>
            <a:off x="548640" y="3429000"/>
            <a:ext cx="8046720" cy="914400"/>
          </a:xfrm>
          <a:prstGeom prst="roundRect">
            <a:avLst>
              <a:gd name="adj" fmla="val 8000"/>
            </a:avLst>
          </a:prstGeom>
          <a:solidFill>
            <a:srgbClr val="F1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731520" y="3630168"/>
            <a:ext cx="502920" cy="502920"/>
          </a:xfrm>
          <a:prstGeom prst="ellipse">
            <a:avLst/>
          </a:prstGeom>
          <a:solidFill>
            <a:srgbClr val="2D1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6" name="Picture 105" descr="FaGithub_w.png"/>
          <p:cNvPicPr>
            <a:picLocks noChangeAspect="1"/>
          </p:cNvPicPr>
          <p:nvPr/>
        </p:nvPicPr>
        <p:blipFill>
          <a:blip r:embed="rId2"/>
          <a:stretch>
            <a:fillRect/>
          </a:stretch>
        </p:blipFill>
        <p:spPr>
          <a:xfrm>
            <a:off x="857250" y="3755898"/>
            <a:ext cx="251460" cy="251460"/>
          </a:xfrm>
          <a:prstGeom prst="rect">
            <a:avLst/>
          </a:prstGeom>
        </p:spPr>
      </p:pic>
      <p:sp>
        <p:nvSpPr>
          <p:cNvPr id="107" name="TextBox 106"/>
          <p:cNvSpPr txBox="1"/>
          <p:nvPr/>
        </p:nvSpPr>
        <p:spPr>
          <a:xfrm>
            <a:off x="1417320" y="3429000"/>
            <a:ext cx="4572000" cy="914400"/>
          </a:xfrm>
          <a:prstGeom prst="rect">
            <a:avLst/>
          </a:prstGeom>
          <a:noFill/>
        </p:spPr>
        <p:txBody>
          <a:bodyPr wrap="square" lIns="0" rIns="0" tIns="0" bIns="0" anchor="ctr"/>
          <a:lstStyle/>
          <a:p>
            <a:pPr algn="l"/>
            <a:r>
              <a:rPr sz="1100" b="1" i="0">
                <a:solidFill>
                  <a:srgbClr val="701C7F"/>
                </a:solidFill>
                <a:latin typeface="Inter"/>
              </a:rPr>
              <a:t>github.com/Eclipse-SDV-Hackathon-Chapter-Four/ota-outlaws</a:t>
            </a:r>
          </a:p>
        </p:txBody>
      </p:sp>
      <p:sp>
        <p:nvSpPr>
          <p:cNvPr id="108" name="TextBox 107"/>
          <p:cNvSpPr txBox="1"/>
          <p:nvPr/>
        </p:nvSpPr>
        <p:spPr>
          <a:xfrm>
            <a:off x="6035040" y="3429000"/>
            <a:ext cx="2423160" cy="914400"/>
          </a:xfrm>
          <a:prstGeom prst="rect">
            <a:avLst/>
          </a:prstGeom>
          <a:noFill/>
        </p:spPr>
        <p:txBody>
          <a:bodyPr wrap="square" lIns="0" rIns="0" tIns="0" bIns="0" anchor="ctr"/>
          <a:lstStyle/>
          <a:p>
            <a:pPr algn="r"/>
            <a:r>
              <a:rPr sz="1200" b="1" i="0">
                <a:solidFill>
                  <a:srgbClr val="262626"/>
                </a:solidFill>
                <a:latin typeface="Inter"/>
              </a:rPr>
              <a:t>Looking for: </a:t>
            </a:r>
            <a:r>
              <a:rPr sz="1200" b="1" i="0">
                <a:solidFill>
                  <a:srgbClr val="701C7F"/>
                </a:solidFill>
                <a:latin typeface="Inter"/>
              </a:rPr>
              <a:t>pilot partners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1B4C"/>
            </a:gs>
            <a:gs pos="100000">
              <a:srgbClr val="AB0761"/>
            </a:gs>
          </a:gsLst>
          <a:lin ang="2700006" scaled="0"/>
        </a:gradFill>
      </p:bgPr>
    </p:bg>
    <p:spTree>
      <p:nvGrpSpPr>
        <p:cNvPr id="157" name="Shape 157"/>
        <p:cNvGrpSpPr/>
        <p:nvPr/>
      </p:nvGrpSpPr>
      <p:grpSpPr>
        <a:xfrm>
          <a:off x="0" y="0"/>
          <a:ext cx="0" cy="0"/>
          <a:chOff x="0" y="0"/>
          <a:chExt cx="0" cy="0"/>
        </a:xfrm>
      </p:grpSpPr>
      <p:grpSp>
        <p:nvGrpSpPr>
          <p:cNvPr id="158" name="Google Shape;158;p25"/>
          <p:cNvGrpSpPr/>
          <p:nvPr/>
        </p:nvGrpSpPr>
        <p:grpSpPr>
          <a:xfrm>
            <a:off x="597450" y="4235100"/>
            <a:ext cx="2423155" cy="456311"/>
            <a:chOff x="0" y="-9525"/>
            <a:chExt cx="1344032" cy="415925"/>
          </a:xfrm>
        </p:grpSpPr>
        <p:sp>
          <p:nvSpPr>
            <p:cNvPr id="159" name="Google Shape;159;p25"/>
            <p:cNvSpPr/>
            <p:nvPr/>
          </p:nvSpPr>
          <p:spPr>
            <a:xfrm>
              <a:off x="0" y="0"/>
              <a:ext cx="1344032" cy="406400"/>
            </a:xfrm>
            <a:custGeom>
              <a:rect b="b" l="l" r="r" t="t"/>
              <a:pathLst>
                <a:path extrusionOk="0" h="406400" w="1344032">
                  <a:moveTo>
                    <a:pt x="1140832" y="0"/>
                  </a:moveTo>
                  <a:cubicBezTo>
                    <a:pt x="1253056" y="0"/>
                    <a:pt x="1344032" y="90976"/>
                    <a:pt x="1344032" y="203200"/>
                  </a:cubicBezTo>
                  <a:cubicBezTo>
                    <a:pt x="1344032" y="315424"/>
                    <a:pt x="1253056" y="406400"/>
                    <a:pt x="1140832" y="406400"/>
                  </a:cubicBezTo>
                  <a:lnTo>
                    <a:pt x="203200" y="406400"/>
                  </a:lnTo>
                  <a:cubicBezTo>
                    <a:pt x="90976" y="406400"/>
                    <a:pt x="0" y="315424"/>
                    <a:pt x="0" y="203200"/>
                  </a:cubicBezTo>
                  <a:cubicBezTo>
                    <a:pt x="0" y="90976"/>
                    <a:pt x="90976" y="0"/>
                    <a:pt x="203200" y="0"/>
                  </a:cubicBezTo>
                  <a:close/>
                </a:path>
              </a:pathLst>
            </a:custGeom>
            <a:noFill/>
            <a:ln cap="sq" cmpd="sng" w="13850">
              <a:solidFill>
                <a:srgbClr val="000000"/>
              </a:solidFill>
              <a:prstDash val="solid"/>
              <a:miter lim="8000"/>
              <a:headEnd len="sm" w="sm" type="none"/>
              <a:tailEnd len="sm" w="sm" type="none"/>
            </a:ln>
          </p:spPr>
          <p:txBody>
            <a:bodyPr anchorCtr="0" anchor="ctr" bIns="66450" lIns="66450" spcFirstLastPara="1" rIns="66450" wrap="square" tIns="66450">
              <a:noAutofit/>
            </a:bodyPr>
            <a:lstStyle/>
            <a:p>
              <a:pPr indent="0" lvl="0" marL="0" rtl="0" algn="l">
                <a:spcBef>
                  <a:spcPts val="0"/>
                </a:spcBef>
                <a:spcAft>
                  <a:spcPts val="0"/>
                </a:spcAft>
                <a:buNone/>
              </a:pPr>
              <a:r>
                <a:t/>
              </a:r>
              <a:endParaRPr/>
            </a:p>
          </p:txBody>
        </p:sp>
        <p:sp>
          <p:nvSpPr>
            <p:cNvPr id="160" name="Google Shape;160;p25"/>
            <p:cNvSpPr txBox="1"/>
            <p:nvPr/>
          </p:nvSpPr>
          <p:spPr>
            <a:xfrm>
              <a:off x="0" y="-9525"/>
              <a:ext cx="1344000" cy="415800"/>
            </a:xfrm>
            <a:prstGeom prst="rect">
              <a:avLst/>
            </a:prstGeom>
            <a:noFill/>
            <a:ln>
              <a:noFill/>
            </a:ln>
          </p:spPr>
          <p:txBody>
            <a:bodyPr anchorCtr="0" anchor="ctr" bIns="36900" lIns="36900" spcFirstLastPara="1" rIns="36900" wrap="square" tIns="36900">
              <a:noAutofit/>
            </a:bodyPr>
            <a:lstStyle/>
            <a:p>
              <a:pPr indent="0" lvl="0" marL="0" marR="0" rtl="0" algn="ctr">
                <a:lnSpc>
                  <a:spcPct val="120000"/>
                </a:lnSpc>
                <a:spcBef>
                  <a:spcPts val="0"/>
                </a:spcBef>
                <a:spcAft>
                  <a:spcPts val="0"/>
                </a:spcAft>
                <a:buNone/>
              </a:pPr>
              <a:r>
                <a:t/>
              </a:r>
              <a:endParaRPr b="0" i="0" sz="1308" u="none" cap="none" strike="noStrike">
                <a:solidFill>
                  <a:schemeClr val="dk1"/>
                </a:solidFill>
                <a:latin typeface="Calibri"/>
                <a:ea typeface="Calibri"/>
                <a:cs typeface="Calibri"/>
                <a:sym typeface="Calibri"/>
              </a:endParaRPr>
            </a:p>
          </p:txBody>
        </p:sp>
      </p:grpSp>
      <p:sp>
        <p:nvSpPr>
          <p:cNvPr id="161" name="Google Shape;161;p25"/>
          <p:cNvSpPr txBox="1"/>
          <p:nvPr/>
        </p:nvSpPr>
        <p:spPr>
          <a:xfrm>
            <a:off x="531150" y="1979650"/>
            <a:ext cx="5610600" cy="456300"/>
          </a:xfrm>
          <a:prstGeom prst="rect">
            <a:avLst/>
          </a:prstGeom>
          <a:noFill/>
          <a:ln>
            <a:noFill/>
          </a:ln>
        </p:spPr>
        <p:txBody>
          <a:bodyPr anchorCtr="0" anchor="t" bIns="0" lIns="0" spcFirstLastPara="1" rIns="0" wrap="square" tIns="0">
            <a:spAutoFit/>
          </a:bodyPr>
          <a:lstStyle/>
          <a:p>
            <a:pPr indent="0" lvl="0" marL="0" marR="0" rtl="0" algn="l">
              <a:lnSpc>
                <a:spcPct val="97999"/>
              </a:lnSpc>
              <a:spcBef>
                <a:spcPts val="0"/>
              </a:spcBef>
              <a:spcAft>
                <a:spcPts val="0"/>
              </a:spcAft>
              <a:buNone/>
            </a:pPr>
            <a:r>
              <a:rPr lang="en" sz="2800">
                <a:solidFill>
                  <a:srgbClr val="FFFFFF"/>
                </a:solidFill>
              </a:rPr>
              <a:t>Thank you!</a:t>
            </a:r>
            <a:endParaRPr b="1" sz="2800">
              <a:solidFill>
                <a:srgbClr val="DB521D"/>
              </a:solidFill>
            </a:endParaRPr>
          </a:p>
          <a:p>
            <a:pPr indent="0" lvl="0" marL="0" marR="0" rtl="0" algn="l">
              <a:lnSpc>
                <a:spcPct val="97999"/>
              </a:lnSpc>
              <a:spcBef>
                <a:spcPts val="0"/>
              </a:spcBef>
              <a:spcAft>
                <a:spcPts val="0"/>
              </a:spcAft>
              <a:buNone/>
            </a:pPr>
            <a:r>
              <a:t/>
            </a:r>
            <a:endParaRPr sz="100"/>
          </a:p>
        </p:txBody>
      </p:sp>
      <p:grpSp>
        <p:nvGrpSpPr>
          <p:cNvPr id="162" name="Google Shape;162;p25"/>
          <p:cNvGrpSpPr/>
          <p:nvPr/>
        </p:nvGrpSpPr>
        <p:grpSpPr>
          <a:xfrm>
            <a:off x="560650" y="2571750"/>
            <a:ext cx="4855381" cy="958407"/>
            <a:chOff x="0" y="-9525"/>
            <a:chExt cx="935400" cy="374100"/>
          </a:xfrm>
        </p:grpSpPr>
        <p:sp>
          <p:nvSpPr>
            <p:cNvPr id="163" name="Google Shape;163;p25"/>
            <p:cNvSpPr/>
            <p:nvPr/>
          </p:nvSpPr>
          <p:spPr>
            <a:xfrm>
              <a:off x="0" y="0"/>
              <a:ext cx="935371" cy="364517"/>
            </a:xfrm>
            <a:custGeom>
              <a:rect b="b" l="l" r="r" t="t"/>
              <a:pathLst>
                <a:path extrusionOk="0" h="364517" w="935371">
                  <a:moveTo>
                    <a:pt x="732171" y="0"/>
                  </a:moveTo>
                  <a:cubicBezTo>
                    <a:pt x="844395" y="0"/>
                    <a:pt x="935371" y="81600"/>
                    <a:pt x="935371" y="182258"/>
                  </a:cubicBezTo>
                  <a:cubicBezTo>
                    <a:pt x="935371" y="282917"/>
                    <a:pt x="844395" y="364517"/>
                    <a:pt x="732171" y="364517"/>
                  </a:cubicBezTo>
                  <a:lnTo>
                    <a:pt x="203200" y="364517"/>
                  </a:lnTo>
                  <a:cubicBezTo>
                    <a:pt x="90976" y="364517"/>
                    <a:pt x="0" y="282917"/>
                    <a:pt x="0" y="182258"/>
                  </a:cubicBezTo>
                  <a:cubicBezTo>
                    <a:pt x="0" y="81600"/>
                    <a:pt x="90976" y="0"/>
                    <a:pt x="203200" y="0"/>
                  </a:cubicBezTo>
                  <a:close/>
                </a:path>
              </a:pathLst>
            </a:custGeom>
            <a:noFill/>
            <a:ln cap="sq" cmpd="sng" w="9525">
              <a:solidFill>
                <a:srgbClr val="000000"/>
              </a:solidFill>
              <a:prstDash val="solid"/>
              <a:miter lim="8000"/>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64" name="Google Shape;164;p25"/>
            <p:cNvSpPr txBox="1"/>
            <p:nvPr/>
          </p:nvSpPr>
          <p:spPr>
            <a:xfrm>
              <a:off x="0" y="-9525"/>
              <a:ext cx="935400" cy="374100"/>
            </a:xfrm>
            <a:prstGeom prst="rect">
              <a:avLst/>
            </a:prstGeom>
            <a:noFill/>
            <a:ln>
              <a:noFill/>
            </a:ln>
          </p:spPr>
          <p:txBody>
            <a:bodyPr anchorCtr="0" anchor="ctr" bIns="25400" lIns="25400" spcFirstLastPara="1" rIns="25400" wrap="square" tIns="25400">
              <a:noAutofit/>
            </a:bodyPr>
            <a:lstStyle/>
            <a:p>
              <a:pPr indent="0" lvl="0" marL="0" marR="0" rtl="0" algn="ctr">
                <a:lnSpc>
                  <a:spcPct val="120000"/>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65" name="Google Shape;165;p25"/>
          <p:cNvSpPr txBox="1"/>
          <p:nvPr/>
        </p:nvSpPr>
        <p:spPr>
          <a:xfrm>
            <a:off x="928825" y="4362650"/>
            <a:ext cx="1760400" cy="1692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 sz="1100">
                <a:solidFill>
                  <a:srgbClr val="FFFFFF"/>
                </a:solidFill>
                <a:latin typeface="Sora"/>
                <a:ea typeface="Sora"/>
                <a:cs typeface="Sora"/>
                <a:sym typeface="Sora"/>
              </a:rPr>
              <a:t>October 6-8 </a:t>
            </a:r>
            <a:r>
              <a:rPr b="1" i="0" lang="en" sz="1100" u="none" cap="none" strike="noStrike">
                <a:solidFill>
                  <a:srgbClr val="FFFFFF"/>
                </a:solidFill>
                <a:latin typeface="Sora"/>
                <a:ea typeface="Sora"/>
                <a:cs typeface="Sora"/>
                <a:sym typeface="Sora"/>
              </a:rPr>
              <a:t> 2026</a:t>
            </a:r>
            <a:endParaRPr b="1" sz="700">
              <a:latin typeface="Sora"/>
              <a:ea typeface="Sora"/>
              <a:cs typeface="Sora"/>
              <a:sym typeface="Sora"/>
            </a:endParaRPr>
          </a:p>
        </p:txBody>
      </p:sp>
      <p:cxnSp>
        <p:nvCxnSpPr>
          <p:cNvPr id="166" name="Google Shape;166;p25"/>
          <p:cNvCxnSpPr/>
          <p:nvPr/>
        </p:nvCxnSpPr>
        <p:spPr>
          <a:xfrm>
            <a:off x="656394" y="3946404"/>
            <a:ext cx="2148300" cy="0"/>
          </a:xfrm>
          <a:prstGeom prst="straightConnector1">
            <a:avLst/>
          </a:prstGeom>
          <a:noFill/>
          <a:ln cap="flat" cmpd="sng" w="19050">
            <a:solidFill>
              <a:srgbClr val="000000"/>
            </a:solidFill>
            <a:prstDash val="solid"/>
            <a:round/>
            <a:headEnd len="sm" w="sm" type="none"/>
            <a:tailEnd len="sm" w="sm" type="none"/>
          </a:ln>
        </p:spPr>
      </p:cxnSp>
      <p:sp>
        <p:nvSpPr>
          <p:cNvPr id="167" name="Google Shape;167;p25"/>
          <p:cNvSpPr/>
          <p:nvPr/>
        </p:nvSpPr>
        <p:spPr>
          <a:xfrm>
            <a:off x="2395624" y="512011"/>
            <a:ext cx="1376366" cy="702594"/>
          </a:xfrm>
          <a:custGeom>
            <a:rect b="b" l="l" r="r" t="t"/>
            <a:pathLst>
              <a:path extrusionOk="0" h="2284857" w="4475988">
                <a:moveTo>
                  <a:pt x="0" y="0"/>
                </a:moveTo>
                <a:lnTo>
                  <a:pt x="4475988" y="0"/>
                </a:lnTo>
                <a:lnTo>
                  <a:pt x="4475988" y="2284857"/>
                </a:lnTo>
                <a:lnTo>
                  <a:pt x="0" y="2284857"/>
                </a:lnTo>
                <a:lnTo>
                  <a:pt x="0" y="0"/>
                </a:lnTo>
                <a:close/>
              </a:path>
            </a:pathLst>
          </a:custGeom>
          <a:blipFill rotWithShape="1">
            <a:blip r:embed="rId3">
              <a:alphaModFix/>
            </a:blip>
            <a:stretch>
              <a:fillRect b="-3200" l="-6430" r="-6420" t="0"/>
            </a:stretch>
          </a:blipFill>
          <a:ln>
            <a:noFill/>
          </a:ln>
        </p:spPr>
      </p:sp>
      <p:sp>
        <p:nvSpPr>
          <p:cNvPr id="168" name="Google Shape;168;p25"/>
          <p:cNvSpPr/>
          <p:nvPr/>
        </p:nvSpPr>
        <p:spPr>
          <a:xfrm>
            <a:off x="168246" y="329995"/>
            <a:ext cx="2423160" cy="1066609"/>
          </a:xfrm>
          <a:custGeom>
            <a:rect b="b" l="l" r="r" t="t"/>
            <a:pathLst>
              <a:path extrusionOk="0" h="2844292" w="6461760">
                <a:moveTo>
                  <a:pt x="0" y="0"/>
                </a:moveTo>
                <a:lnTo>
                  <a:pt x="6461760" y="0"/>
                </a:lnTo>
                <a:lnTo>
                  <a:pt x="6461760" y="2844292"/>
                </a:lnTo>
                <a:lnTo>
                  <a:pt x="0" y="2844292"/>
                </a:lnTo>
                <a:lnTo>
                  <a:pt x="0" y="0"/>
                </a:lnTo>
                <a:close/>
              </a:path>
            </a:pathLst>
          </a:custGeom>
          <a:blipFill rotWithShape="1">
            <a:blip r:embed="rId4">
              <a:alphaModFix/>
            </a:blip>
            <a:stretch>
              <a:fillRect b="0" l="0" r="-60" t="0"/>
            </a:stretch>
          </a:blipFill>
          <a:ln>
            <a:noFill/>
          </a:ln>
        </p:spPr>
      </p:sp>
      <p:pic>
        <p:nvPicPr>
          <p:cNvPr id="169" name="Google Shape;169;p25" title="2026_SDV_hackathon_logo_.png"/>
          <p:cNvPicPr preferRelativeResize="0"/>
          <p:nvPr/>
        </p:nvPicPr>
        <p:blipFill>
          <a:blip r:embed="rId5">
            <a:alphaModFix/>
          </a:blip>
          <a:stretch>
            <a:fillRect/>
          </a:stretch>
        </p:blipFill>
        <p:spPr>
          <a:xfrm>
            <a:off x="5632150" y="600425"/>
            <a:ext cx="3375951" cy="3496025"/>
          </a:xfrm>
          <a:prstGeom prst="rect">
            <a:avLst/>
          </a:prstGeom>
          <a:noFill/>
          <a:ln>
            <a:noFill/>
          </a:ln>
        </p:spPr>
      </p:pic>
      <p:sp>
        <p:nvSpPr>
          <p:cNvPr id="170" name="Google Shape;170;p25"/>
          <p:cNvSpPr txBox="1"/>
          <p:nvPr/>
        </p:nvSpPr>
        <p:spPr>
          <a:xfrm>
            <a:off x="3227575" y="4779825"/>
            <a:ext cx="30000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lt1"/>
                </a:solidFill>
                <a:latin typeface="Roboto"/>
                <a:ea typeface="Roboto"/>
                <a:cs typeface="Roboto"/>
                <a:sym typeface="Roboto"/>
              </a:rPr>
              <a:t>COPYRIGHT (C) 2026, ECLIPSE FOUNDATION</a:t>
            </a:r>
            <a:endParaRPr sz="700">
              <a:solidFill>
                <a:schemeClr val="lt1"/>
              </a:solidFill>
              <a:latin typeface="Roboto"/>
              <a:ea typeface="Roboto"/>
              <a:cs typeface="Roboto"/>
              <a:sym typeface="Roboto"/>
            </a:endParaRPr>
          </a:p>
        </p:txBody>
      </p:sp>
      <p:sp>
        <p:nvSpPr>
          <p:cNvPr id="900" name="Subtitle"/>
          <p:cNvSpPr txBox="1"/>
          <p:nvPr/>
        </p:nvSpPr>
        <p:spPr>
          <a:xfrm>
            <a:off x="658368" y="2698224"/>
            <a:ext cx="4663440" cy="70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lt1"/>
                </a:solidFill>
                <a:latin typeface="Inter"/>
                <a:ea typeface="Inter"/>
                <a:cs typeface="Inter"/>
                <a:sym typeface="Inter"/>
              </a:rPr>
              <a:t>Questions?</a:t>
            </a:r>
            <a:endParaRPr b="1" sz="1800">
              <a:solidFill>
                <a:schemeClr val="lt1"/>
              </a:solidFill>
              <a:latin typeface="Inter"/>
              <a:ea typeface="Inter"/>
              <a:cs typeface="Inter"/>
              <a:sym typeface="Inter"/>
            </a:endParaRPr>
          </a:p>
          <a:p>
            <a:pPr indent="0" lvl="0" marL="0" rtl="0" algn="ctr">
              <a:spcBef>
                <a:spcPts val="0"/>
              </a:spcBef>
              <a:spcAft>
                <a:spcPts val="0"/>
              </a:spcAft>
              <a:buNone/>
            </a:pPr>
            <a:r>
              <a:rPr b="0" lang="en" sz="1200">
                <a:solidFill>
                  <a:schemeClr val="lt1"/>
                </a:solidFill>
                <a:latin typeface="Inter"/>
                <a:ea typeface="Inter"/>
                <a:cs typeface="Inter"/>
                <a:sym typeface="Inter"/>
              </a:rPr>
              <a:t>Every fault leaves evidence.</a:t>
            </a:r>
            <a:endParaRPr b="1" sz="1800">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